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sldIdLst>
    <p:sldId id="256" r:id="rId5"/>
    <p:sldId id="257" r:id="rId6"/>
    <p:sldId id="258" r:id="rId7"/>
    <p:sldId id="259" r:id="rId8"/>
    <p:sldId id="260" r:id="rId9"/>
    <p:sldId id="261" r:id="rId10"/>
    <p:sldId id="280" r:id="rId11"/>
    <p:sldId id="281" r:id="rId12"/>
    <p:sldId id="265" r:id="rId13"/>
    <p:sldId id="283" r:id="rId14"/>
    <p:sldId id="282"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8CD5AC-CE2E-46AF-8259-1E04403C5743}" v="1" dt="2026-04-20T03:59:10.9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404" autoAdjust="0"/>
  </p:normalViewPr>
  <p:slideViewPr>
    <p:cSldViewPr snapToGrid="0" snapToObjects="1">
      <p:cViewPr>
        <p:scale>
          <a:sx n="92" d="100"/>
          <a:sy n="92" d="100"/>
        </p:scale>
        <p:origin x="132"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1016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presenting research on one of the most pressing questions at the intersection of digital infrastructure and environmental sustainability — can we use treated wastewater to cool data centers in Houston? This is not a theoretical question. Houston is one of the fastest-growing data center markets in the United States, and water security is an increasingly urgent challenge for the region.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engaging the audience directly. Ask them to raise their hands if they used AI today. Then reveal the water connection — this creates immediate relevance and emotional engagement before we get into technical content.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tension in this research is between two growing demands on the same resource. Data centers need more water to cool their servers. Meanwhile Houston residents and businesses need reliable access to potable water. Our question is whether wastewater — currently treated and discharged — can bridge this gap.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Houston is not just a convenient example — it is arguably the most important US city to study for this question. It combines rapid data center growth with a hot-humid climate that makes water consumption worse, while simultaneously having abundant wastewater that currently goes unused for industrial purposes.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2C3E50"/>
                </a:solidFill>
                <a:latin typeface="Calibri" pitchFamily="34" charset="0"/>
                <a:ea typeface="Calibri" pitchFamily="34" charset="-122"/>
                <a:cs typeface="Calibri" pitchFamily="34" charset="-120"/>
              </a:rPr>
              <a:t>What it means: </a:t>
            </a:r>
            <a:r>
              <a:rPr lang="en-US" sz="1200" dirty="0">
                <a:solidFill>
                  <a:srgbClr val="2C3E50"/>
                </a:solidFill>
                <a:latin typeface="Calibri" pitchFamily="34" charset="0"/>
                <a:ea typeface="Calibri" pitchFamily="34" charset="-122"/>
                <a:cs typeface="Calibri" pitchFamily="34" charset="-120"/>
              </a:rPr>
              <a:t>Measures how efficiently a data center uses electricity. A PUE of 1.58 means for every 1.58 watts entering the building, only 1 watt reaches the servers. The rest powers cooling, lighting, and conversion losses.</a:t>
            </a:r>
          </a:p>
          <a:p>
            <a:r>
              <a:rPr lang="en-US" sz="1200" b="1" dirty="0">
                <a:solidFill>
                  <a:srgbClr val="2C3E50"/>
                </a:solidFill>
                <a:latin typeface="Calibri" pitchFamily="34" charset="0"/>
                <a:ea typeface="Calibri" pitchFamily="34" charset="-122"/>
                <a:cs typeface="Calibri" pitchFamily="34" charset="-120"/>
              </a:rPr>
              <a:t>Why it matters: </a:t>
            </a:r>
            <a:r>
              <a:rPr lang="en-US" sz="1200" dirty="0">
                <a:solidFill>
                  <a:srgbClr val="2C3E50"/>
                </a:solidFill>
                <a:latin typeface="Calibri" pitchFamily="34" charset="0"/>
                <a:ea typeface="Calibri" pitchFamily="34" charset="-122"/>
                <a:cs typeface="Calibri" pitchFamily="34" charset="-120"/>
              </a:rPr>
              <a:t>PUE determines how much heat the cooling system must reject, which directly drives water consumption</a:t>
            </a:r>
          </a:p>
          <a:p>
            <a:r>
              <a:rPr lang="en-US" sz="1200" b="1" dirty="0">
                <a:solidFill>
                  <a:srgbClr val="2C3E50"/>
                </a:solidFill>
                <a:latin typeface="Calibri" pitchFamily="34" charset="0"/>
                <a:ea typeface="Calibri" pitchFamily="34" charset="-122"/>
                <a:cs typeface="Calibri" pitchFamily="34" charset="-120"/>
              </a:rPr>
              <a:t>What it means: </a:t>
            </a:r>
            <a:r>
              <a:rPr lang="en-US" sz="1200" dirty="0">
                <a:solidFill>
                  <a:srgbClr val="2C3E50"/>
                </a:solidFill>
                <a:latin typeface="Calibri" pitchFamily="34" charset="0"/>
                <a:ea typeface="Calibri" pitchFamily="34" charset="-122"/>
                <a:cs typeface="Calibri" pitchFamily="34" charset="-120"/>
              </a:rPr>
              <a:t>Measures how much water a data center uses per unit of IT energy. Lower is better.</a:t>
            </a:r>
          </a:p>
          <a:p>
            <a:r>
              <a:rPr lang="en-US" sz="1200" dirty="0">
                <a:solidFill>
                  <a:srgbClr val="2C3E50"/>
                </a:solidFill>
                <a:latin typeface="Calibri" pitchFamily="34" charset="0"/>
                <a:ea typeface="Calibri" pitchFamily="34" charset="-122"/>
                <a:cs typeface="Calibri" pitchFamily="34" charset="-120"/>
              </a:rPr>
              <a:t>
</a:t>
            </a:r>
            <a:r>
              <a:rPr lang="en-US" sz="1200" b="1" dirty="0">
                <a:solidFill>
                  <a:srgbClr val="2C3E50"/>
                </a:solidFill>
                <a:latin typeface="Calibri" pitchFamily="34" charset="0"/>
                <a:ea typeface="Calibri" pitchFamily="34" charset="-122"/>
                <a:cs typeface="Calibri" pitchFamily="34" charset="-120"/>
              </a:rPr>
              <a:t>Source: </a:t>
            </a:r>
            <a:r>
              <a:rPr lang="en-US" sz="1200" dirty="0">
                <a:solidFill>
                  <a:srgbClr val="2C3E50"/>
                </a:solidFill>
                <a:latin typeface="Calibri" pitchFamily="34" charset="0"/>
                <a:ea typeface="Calibri" pitchFamily="34" charset="-122"/>
                <a:cs typeface="Calibri" pitchFamily="34" charset="-120"/>
              </a:rPr>
              <a:t>The Green Grid (WUE metric inventors) + Microsoft Sustainability Methodology for climate adjustment.
</a:t>
            </a:r>
            <a:r>
              <a:rPr lang="en-US" sz="1200" b="1" dirty="0">
                <a:solidFill>
                  <a:srgbClr val="2C3E50"/>
                </a:solidFill>
                <a:latin typeface="Calibri" pitchFamily="34" charset="0"/>
                <a:ea typeface="Calibri" pitchFamily="34" charset="-122"/>
                <a:cs typeface="Calibri" pitchFamily="34" charset="-120"/>
              </a:rPr>
              <a:t>The Houston penalty: </a:t>
            </a:r>
            <a:r>
              <a:rPr lang="en-US" sz="1200" dirty="0">
                <a:solidFill>
                  <a:srgbClr val="2C3E50"/>
                </a:solidFill>
                <a:latin typeface="Calibri" pitchFamily="34" charset="0"/>
                <a:ea typeface="Calibri" pitchFamily="34" charset="-122"/>
                <a:cs typeface="Calibri" pitchFamily="34" charset="-120"/>
              </a:rPr>
              <a:t>High ambient humidity (wet-bulb temperature avg 74°F) reduces evaporative cooling efficiency, forcing data centers to use 16% more water per kWh than the national average.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in this model is traceable back to a published source. The utilization ranges come from Lawrence Berkeley National Lab. The WUE value is The Green Grid baseline adjusted upward for Houston's climate using NOAA wet-bulb temperature data. This is not back-of-envelope estimation — it is a defensible engineering model.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scenarios represent the full range of options available to Houston data center operators. Scenario 1 is what they do today. Scenario 2 requires no investment but delivers immediate savings. Scenario 3 requires capital but delivers the lowest possible long-run cost. The question our economic model answers is: which scenario is right for which type of facility?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heart of our cost methodology. We did not assume these numbers — we ran the actual EPA engineering model at six different plant sizes and recorded the output. The model accounts for membranes, pumps, piping, buildings, controls, engineering fees, permits, and construction management. It is the most credible source available for water treatment cost estimation.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selected facilities across the full size range specifically to show that there is no single answer. A 0.08 MW edge facility and a 1000 MW hyperscale campus face completely different economics. Our model gives each facility its own cost calculation based on its own water demand.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cost per 1,000 gallons side by side. The municipal rate is flat at $12.45 for every facility. Scenario 2 is flat at $7.50. Scenario 3 operating cost drops from $1.64 for small facilities to $1.05 for large ones — that is the economy of scale effect. But remember Scenario 3 has capital cost we have not shown here. The break-even analysis on the next slides addresses that.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showing the actual charts, take a moment to explain how to read them. The zero line is the key reference. Scenario 2 is always above it. Scenario 3 starts below it but rises. The point where Scenario 3 crosses zero is the break-even — the moment the investment pays for itself.</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small facilities the story is nuanced. Scenario 2 gives immediate savings with no risk. Scenario 3 breaks even at about 28 months — just over 2 years. For a facility with a long-term lease commitment, Scenario 3 is still viable. For a shorter-term facility, Scenario 2 is the clear winner.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story gets compelling. A 10 MW facility breaks even in just 8.3 months — less than a year. By Year 4 the difference between Scenario 2 and Scenario 3 is over $120 million in favor of building your own plant. For a medium-sized data center with any long-term commitment, Scenario 3 is strongly preferred.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hyperscale the numbers become almost incomprehensible. Break-even in under 6 months. Over 4 years Scenario 3 saves $14 billion more than Scenario 2. The capital investment of $5.8 billion sounds enormous but relative to the savings it is recovered in less than half a year. Any hyperscale operator should build their own plant — the economics are overwhelming.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findings are the core message of our research. First — supply is not the issue. Second — there is a zero-risk option that saves money immediately. Third — larger facilities have a compelling case for capital investment that pays back in months, not years.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important points in our research is that we are not proposing something that requires new laws or special permits. Texas already has the regulatory framework in place. Level I authorization under 30 TAC 210 does not even require TCEQ approval — a data center operator could begin planning today.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research is transparent about what it does not cover. Our model is based on publicly available data and published engineering benchmarks. The next step for this research would be to partner with a willing data center operator for a site-specific study — turning our framework into a real facility pilot.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answer to the research question is clear: yes. The supply exists, the technology works, the regulatory framework supports it, and the economics are compelling. Houston does not have to choose between growing its digital economy and protecting its water supply. Treated wastewater can bridge the gap.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sources are publicly available. The EPA WBS model, TCEQ permit records, Houston Public Works rates, and NOAA climate data are all free and accessible. Our methodology is fully reproducible by any researcher.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placeholder names with actual team member names before presenting. Add institutional affiliation and advisor name at the bottom.</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Be prepared to discuss the EPA WBS model methodology in detail, as engineering-minded audience members will likely ask about it. Also be ready to discuss how this framework could apply to other Texas cities like Dallas, San Antonio, or Austin.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mulukuntlarohan/Project-H2O-AI"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a:effectLst/>
      </p:bgPr>
    </p:bg>
    <p:spTree>
      <p:nvGrpSpPr>
        <p:cNvPr id="1" name=""/>
        <p:cNvGrpSpPr/>
        <p:nvPr/>
      </p:nvGrpSpPr>
      <p:grpSpPr>
        <a:xfrm>
          <a:off x="0" y="0"/>
          <a:ext cx="0" cy="0"/>
          <a:chOff x="0" y="0"/>
          <a:chExt cx="0" cy="0"/>
        </a:xfrm>
      </p:grpSpPr>
      <p:sp>
        <p:nvSpPr>
          <p:cNvPr id="2" name="Shape 0"/>
          <p:cNvSpPr/>
          <p:nvPr/>
        </p:nvSpPr>
        <p:spPr>
          <a:xfrm>
            <a:off x="6583680" y="-1097280"/>
            <a:ext cx="4114800" cy="4114800"/>
          </a:xfrm>
          <a:prstGeom prst="ellipse">
            <a:avLst/>
          </a:prstGeom>
          <a:solidFill>
            <a:srgbClr val="1C7293">
              <a:alpha val="40000"/>
            </a:srgbClr>
          </a:solidFill>
          <a:ln w="12700">
            <a:solidFill>
              <a:srgbClr val="1C7293">
                <a:alpha val="40000"/>
              </a:srgbClr>
            </a:solidFill>
            <a:prstDash val="solid"/>
          </a:ln>
        </p:spPr>
        <p:txBody>
          <a:bodyPr/>
          <a:lstStyle/>
          <a:p>
            <a:endParaRPr lang="en-IN"/>
          </a:p>
        </p:txBody>
      </p:sp>
      <p:sp>
        <p:nvSpPr>
          <p:cNvPr id="3" name="Shape 1"/>
          <p:cNvSpPr/>
          <p:nvPr/>
        </p:nvSpPr>
        <p:spPr>
          <a:xfrm>
            <a:off x="7315200" y="3200400"/>
            <a:ext cx="2743200" cy="2743200"/>
          </a:xfrm>
          <a:prstGeom prst="ellipse">
            <a:avLst/>
          </a:prstGeom>
          <a:solidFill>
            <a:srgbClr val="02C39A">
              <a:alpha val="25000"/>
            </a:srgbClr>
          </a:solidFill>
          <a:ln w="12700">
            <a:solidFill>
              <a:srgbClr val="02C39A">
                <a:alpha val="25000"/>
              </a:srgbClr>
            </a:solidFill>
            <a:prstDash val="solid"/>
          </a:ln>
        </p:spPr>
        <p:txBody>
          <a:bodyPr/>
          <a:lstStyle/>
          <a:p>
            <a:endParaRPr lang="en-IN"/>
          </a:p>
        </p:txBody>
      </p:sp>
      <p:sp>
        <p:nvSpPr>
          <p:cNvPr id="4" name="Shape 2"/>
          <p:cNvSpPr/>
          <p:nvPr/>
        </p:nvSpPr>
        <p:spPr>
          <a:xfrm>
            <a:off x="457200" y="1005840"/>
            <a:ext cx="2926080" cy="320040"/>
          </a:xfrm>
          <a:prstGeom prst="rect">
            <a:avLst/>
          </a:prstGeom>
          <a:solidFill>
            <a:srgbClr val="02C39A"/>
          </a:solidFill>
          <a:ln w="12700">
            <a:solidFill>
              <a:srgbClr val="02C39A"/>
            </a:solidFill>
            <a:prstDash val="solid"/>
          </a:ln>
        </p:spPr>
        <p:txBody>
          <a:bodyPr/>
          <a:lstStyle/>
          <a:p>
            <a:endParaRPr lang="en-IN"/>
          </a:p>
        </p:txBody>
      </p:sp>
      <p:sp>
        <p:nvSpPr>
          <p:cNvPr id="5" name="Text 3"/>
          <p:cNvSpPr/>
          <p:nvPr/>
        </p:nvSpPr>
        <p:spPr>
          <a:xfrm>
            <a:off x="457200" y="1005840"/>
            <a:ext cx="2926080" cy="320040"/>
          </a:xfrm>
          <a:prstGeom prst="rect">
            <a:avLst/>
          </a:prstGeom>
          <a:noFill/>
          <a:ln/>
        </p:spPr>
        <p:txBody>
          <a:bodyPr wrap="square"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RESEARCH PRESENTATION</a:t>
            </a:r>
            <a:endParaRPr lang="en-US" sz="1000" dirty="0"/>
          </a:p>
        </p:txBody>
      </p:sp>
      <p:sp>
        <p:nvSpPr>
          <p:cNvPr id="6" name="Text 4"/>
          <p:cNvSpPr/>
          <p:nvPr/>
        </p:nvSpPr>
        <p:spPr>
          <a:xfrm>
            <a:off x="457200" y="1463040"/>
            <a:ext cx="6858000" cy="2194560"/>
          </a:xfrm>
          <a:prstGeom prst="rect">
            <a:avLst/>
          </a:prstGeom>
          <a:noFill/>
          <a:ln/>
        </p:spPr>
        <p:txBody>
          <a:bodyPr wrap="square" rtlCol="0" anchor="ctr"/>
          <a:lstStyle/>
          <a:p>
            <a:pPr marL="0" indent="0" algn="l">
              <a:buNone/>
            </a:pPr>
            <a:r>
              <a:rPr lang="en-US" sz="3800" b="1" dirty="0">
                <a:solidFill>
                  <a:srgbClr val="FFFFFF"/>
                </a:solidFill>
                <a:latin typeface="Calibri" pitchFamily="34" charset="0"/>
                <a:ea typeface="Calibri" pitchFamily="34" charset="-122"/>
                <a:cs typeface="Calibri" pitchFamily="34" charset="-120"/>
              </a:rPr>
              <a:t>Turning Wastewater Into</a:t>
            </a:r>
            <a:endParaRPr lang="en-US" sz="3800" dirty="0"/>
          </a:p>
          <a:p>
            <a:pPr marL="0" indent="0" algn="l">
              <a:buNone/>
            </a:pPr>
            <a:r>
              <a:rPr lang="en-US" sz="3800" b="1" dirty="0">
                <a:solidFill>
                  <a:srgbClr val="FFFFFF"/>
                </a:solidFill>
                <a:latin typeface="Calibri" pitchFamily="34" charset="0"/>
                <a:ea typeface="Calibri" pitchFamily="34" charset="-122"/>
                <a:cs typeface="Calibri" pitchFamily="34" charset="-120"/>
              </a:rPr>
              <a:t>Cooling Water for</a:t>
            </a:r>
            <a:endParaRPr lang="en-US" sz="3800" dirty="0"/>
          </a:p>
          <a:p>
            <a:pPr marL="0" indent="0" algn="l">
              <a:buNone/>
            </a:pPr>
            <a:r>
              <a:rPr lang="en-US" sz="3800" b="1" dirty="0">
                <a:solidFill>
                  <a:srgbClr val="FFFFFF"/>
                </a:solidFill>
                <a:latin typeface="Calibri" pitchFamily="34" charset="0"/>
                <a:ea typeface="Calibri" pitchFamily="34" charset="-122"/>
                <a:cs typeface="Calibri" pitchFamily="34" charset="-120"/>
              </a:rPr>
              <a:t>Houston Data Centers</a:t>
            </a:r>
          </a:p>
        </p:txBody>
      </p:sp>
      <p:sp>
        <p:nvSpPr>
          <p:cNvPr id="7" name="Text 5"/>
          <p:cNvSpPr/>
          <p:nvPr/>
        </p:nvSpPr>
        <p:spPr>
          <a:xfrm>
            <a:off x="457200" y="3703320"/>
            <a:ext cx="6858000" cy="640080"/>
          </a:xfrm>
          <a:prstGeom prst="rect">
            <a:avLst/>
          </a:prstGeom>
          <a:noFill/>
          <a:ln/>
        </p:spPr>
        <p:txBody>
          <a:bodyPr wrap="square" rtlCol="0" anchor="ctr"/>
          <a:lstStyle/>
          <a:p>
            <a:pPr marL="0" indent="0" algn="l">
              <a:buNone/>
            </a:pPr>
            <a:r>
              <a:rPr lang="en-US" dirty="0">
                <a:solidFill>
                  <a:schemeClr val="bg1"/>
                </a:solidFill>
                <a:latin typeface="Calibri "/>
              </a:rPr>
              <a:t>Project H20-AI</a:t>
            </a:r>
          </a:p>
        </p:txBody>
      </p:sp>
      <p:sp>
        <p:nvSpPr>
          <p:cNvPr id="8" name="Shape 6"/>
          <p:cNvSpPr/>
          <p:nvPr/>
        </p:nvSpPr>
        <p:spPr>
          <a:xfrm>
            <a:off x="0" y="4754880"/>
            <a:ext cx="9144000" cy="388620"/>
          </a:xfrm>
          <a:prstGeom prst="rect">
            <a:avLst/>
          </a:prstGeom>
          <a:solidFill>
            <a:srgbClr val="02C39A"/>
          </a:solidFill>
          <a:ln w="12700">
            <a:solidFill>
              <a:srgbClr val="02C39A"/>
            </a:solidFill>
            <a:prstDash val="solid"/>
          </a:ln>
        </p:spPr>
        <p:txBody>
          <a:bodyPr/>
          <a:lstStyle/>
          <a:p>
            <a:endParaRPr lang="en-IN"/>
          </a:p>
        </p:txBody>
      </p:sp>
      <p:sp>
        <p:nvSpPr>
          <p:cNvPr id="9" name="Text 7"/>
          <p:cNvSpPr/>
          <p:nvPr/>
        </p:nvSpPr>
        <p:spPr>
          <a:xfrm>
            <a:off x="457200" y="4754880"/>
            <a:ext cx="8229600" cy="388620"/>
          </a:xfrm>
          <a:prstGeom prst="rect">
            <a:avLst/>
          </a:prstGeom>
          <a:noFill/>
          <a:ln/>
        </p:spPr>
        <p:txBody>
          <a:bodyPr wrap="square" rtlCol="0" anchor="ctr"/>
          <a:lstStyle/>
          <a:p>
            <a:pPr marL="0" indent="0" algn="l">
              <a:buNone/>
            </a:pPr>
            <a:r>
              <a:rPr lang="en-US" sz="1000" dirty="0">
                <a:solidFill>
                  <a:srgbClr val="FFFFFF"/>
                </a:solidFill>
                <a:latin typeface="Calibri" pitchFamily="34" charset="0"/>
                <a:ea typeface="Calibri" pitchFamily="34" charset="-122"/>
                <a:cs typeface="Calibri" pitchFamily="34" charset="-120"/>
              </a:rPr>
              <a:t>Houston, Texas  |  2026  |  Water-Compute Nexus Research  </a:t>
            </a:r>
            <a:r>
              <a:rPr lang="en-US" sz="1000" dirty="0" err="1">
                <a:solidFill>
                  <a:srgbClr val="FFFFFF"/>
                </a:solidFill>
                <a:latin typeface="Calibri" pitchFamily="34" charset="0"/>
                <a:ea typeface="Calibri" pitchFamily="34" charset="-122"/>
                <a:cs typeface="Calibri" pitchFamily="34" charset="-120"/>
              </a:rPr>
              <a:t>Github:</a:t>
            </a:r>
            <a:r>
              <a:rPr lang="en-US" sz="1000" dirty="0" err="1">
                <a:solidFill>
                  <a:srgbClr val="FFFFFF"/>
                </a:solidFill>
                <a:latin typeface="Calibri" pitchFamily="34" charset="0"/>
                <a:ea typeface="Calibri" pitchFamily="34" charset="-122"/>
                <a:cs typeface="Calibri" pitchFamily="34" charset="-120"/>
                <a:hlinkClick r:id="rId3"/>
              </a:rPr>
              <a:t>https</a:t>
            </a:r>
            <a:r>
              <a:rPr lang="en-US" sz="1000" dirty="0">
                <a:solidFill>
                  <a:srgbClr val="FFFFFF"/>
                </a:solidFill>
                <a:latin typeface="Calibri" pitchFamily="34" charset="0"/>
                <a:ea typeface="Calibri" pitchFamily="34" charset="-122"/>
                <a:cs typeface="Calibri" pitchFamily="34" charset="-120"/>
                <a:hlinkClick r:id="rId3"/>
              </a:rPr>
              <a:t>://github.com/</a:t>
            </a:r>
            <a:r>
              <a:rPr lang="en-US" sz="1000" dirty="0" err="1">
                <a:solidFill>
                  <a:srgbClr val="FFFFFF"/>
                </a:solidFill>
                <a:latin typeface="Calibri" pitchFamily="34" charset="0"/>
                <a:ea typeface="Calibri" pitchFamily="34" charset="-122"/>
                <a:cs typeface="Calibri" pitchFamily="34" charset="-120"/>
                <a:hlinkClick r:id="rId3"/>
              </a:rPr>
              <a:t>mulukuntlarohan</a:t>
            </a:r>
            <a:r>
              <a:rPr lang="en-US" sz="1000" dirty="0">
                <a:solidFill>
                  <a:srgbClr val="FFFFFF"/>
                </a:solidFill>
                <a:latin typeface="Calibri" pitchFamily="34" charset="0"/>
                <a:ea typeface="Calibri" pitchFamily="34" charset="-122"/>
                <a:cs typeface="Calibri" pitchFamily="34" charset="-120"/>
                <a:hlinkClick r:id="rId3"/>
              </a:rPr>
              <a:t>/Project-H2O-AI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lgn="l">
              <a:buNone/>
            </a:pPr>
            <a:r>
              <a:rPr lang="en-US" sz="2600" dirty="0">
                <a:solidFill>
                  <a:schemeClr val="bg1"/>
                </a:solidFill>
              </a:rPr>
              <a:t>Do you know how much water does AI use per single chat</a:t>
            </a:r>
          </a:p>
        </p:txBody>
      </p:sp>
      <p:sp>
        <p:nvSpPr>
          <p:cNvPr id="3" name="Shape 1"/>
          <p:cNvSpPr/>
          <p:nvPr/>
        </p:nvSpPr>
        <p:spPr>
          <a:xfrm>
            <a:off x="457200" y="1005840"/>
            <a:ext cx="8229600" cy="36576"/>
          </a:xfrm>
          <a:prstGeom prst="rect">
            <a:avLst/>
          </a:prstGeom>
          <a:solidFill>
            <a:srgbClr val="02C39A"/>
          </a:solidFill>
          <a:ln w="12700">
            <a:solidFill>
              <a:srgbClr val="02C39A"/>
            </a:solidFill>
            <a:prstDash val="solid"/>
          </a:ln>
        </p:spPr>
        <p:txBody>
          <a:bodyPr/>
          <a:lstStyle/>
          <a:p>
            <a:endParaRPr lang="en-IN"/>
          </a:p>
        </p:txBody>
      </p:sp>
      <p:sp>
        <p:nvSpPr>
          <p:cNvPr id="5" name="Text 3"/>
          <p:cNvSpPr/>
          <p:nvPr/>
        </p:nvSpPr>
        <p:spPr>
          <a:xfrm>
            <a:off x="457200" y="1234440"/>
            <a:ext cx="365760" cy="365760"/>
          </a:xfrm>
          <a:prstGeom prst="rect">
            <a:avLst/>
          </a:prstGeom>
          <a:noFill/>
          <a:ln/>
        </p:spPr>
        <p:txBody>
          <a:bodyPr wrap="square" rtlCol="0" anchor="ctr"/>
          <a:lstStyle/>
          <a:p>
            <a:pPr marL="0" indent="0" algn="ctr">
              <a:buNone/>
            </a:pPr>
            <a:endParaRPr lang="en-US" sz="1400" dirty="0"/>
          </a:p>
        </p:txBody>
      </p:sp>
      <p:sp>
        <p:nvSpPr>
          <p:cNvPr id="6" name="Text 4"/>
          <p:cNvSpPr/>
          <p:nvPr/>
        </p:nvSpPr>
        <p:spPr>
          <a:xfrm>
            <a:off x="960120" y="1261872"/>
            <a:ext cx="7680960" cy="347472"/>
          </a:xfrm>
          <a:prstGeom prst="rect">
            <a:avLst/>
          </a:prstGeom>
          <a:noFill/>
          <a:ln/>
        </p:spPr>
        <p:txBody>
          <a:bodyPr wrap="square" rtlCol="0" anchor="ctr"/>
          <a:lstStyle/>
          <a:p>
            <a:pPr marL="0" indent="0" algn="l">
              <a:buNone/>
            </a:pPr>
            <a:endParaRPr lang="en-US" sz="1500" dirty="0"/>
          </a:p>
        </p:txBody>
      </p:sp>
      <p:sp>
        <p:nvSpPr>
          <p:cNvPr id="8" name="Text 6"/>
          <p:cNvSpPr/>
          <p:nvPr/>
        </p:nvSpPr>
        <p:spPr>
          <a:xfrm>
            <a:off x="457200" y="2039112"/>
            <a:ext cx="365760" cy="365760"/>
          </a:xfrm>
          <a:prstGeom prst="rect">
            <a:avLst/>
          </a:prstGeom>
          <a:noFill/>
          <a:ln/>
        </p:spPr>
        <p:txBody>
          <a:bodyPr wrap="square" rtlCol="0" anchor="ctr"/>
          <a:lstStyle/>
          <a:p>
            <a:pPr marL="0" indent="0" algn="ctr">
              <a:buNone/>
            </a:pPr>
            <a:endParaRPr lang="en-US" sz="1400" dirty="0"/>
          </a:p>
        </p:txBody>
      </p:sp>
      <p:sp>
        <p:nvSpPr>
          <p:cNvPr id="11" name="Text 9"/>
          <p:cNvSpPr/>
          <p:nvPr/>
        </p:nvSpPr>
        <p:spPr>
          <a:xfrm>
            <a:off x="457200" y="2843784"/>
            <a:ext cx="365760" cy="365760"/>
          </a:xfrm>
          <a:prstGeom prst="rect">
            <a:avLst/>
          </a:prstGeom>
          <a:noFill/>
          <a:ln/>
        </p:spPr>
        <p:txBody>
          <a:bodyPr wrap="square" rtlCol="0" anchor="ctr"/>
          <a:lstStyle/>
          <a:p>
            <a:pPr marL="0" indent="0" algn="ctr">
              <a:buNone/>
            </a:pPr>
            <a:endParaRPr lang="en-US" sz="1400" dirty="0"/>
          </a:p>
        </p:txBody>
      </p:sp>
      <p:sp>
        <p:nvSpPr>
          <p:cNvPr id="17" name="Text 15"/>
          <p:cNvSpPr/>
          <p:nvPr/>
        </p:nvSpPr>
        <p:spPr>
          <a:xfrm>
            <a:off x="548640" y="4480560"/>
            <a:ext cx="8046720" cy="502920"/>
          </a:xfrm>
          <a:prstGeom prst="rect">
            <a:avLst/>
          </a:prstGeom>
          <a:noFill/>
          <a:ln/>
        </p:spPr>
        <p:txBody>
          <a:bodyPr wrap="square" rtlCol="0" anchor="ctr"/>
          <a:lstStyle/>
          <a:p>
            <a:pPr marL="0" indent="0" algn="l">
              <a:buNone/>
            </a:pPr>
            <a:endParaRPr lang="en-US" sz="1200" dirty="0"/>
          </a:p>
        </p:txBody>
      </p:sp>
      <p:pic>
        <p:nvPicPr>
          <p:cNvPr id="1026" name="Picture 2" descr="Custom 16 Oz. Bottled Water (Q853911) - Bottled Water with Logo | Quality  Imprint Promotional Products">
            <a:extLst>
              <a:ext uri="{FF2B5EF4-FFF2-40B4-BE49-F238E27FC236}">
                <a16:creationId xmlns:a16="http://schemas.microsoft.com/office/drawing/2014/main" id="{7184F770-538D-D24E-3C21-5C6EDF5951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6665" y="1385705"/>
            <a:ext cx="3346315" cy="33463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randombar(horizont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marL="0" indent="0" algn="l">
              <a:buNone/>
            </a:pPr>
            <a:r>
              <a:rPr lang="en-US" sz="3000" b="1" dirty="0">
                <a:solidFill>
                  <a:srgbClr val="065A82"/>
                </a:solidFill>
                <a:latin typeface="Calibri" pitchFamily="34" charset="0"/>
                <a:ea typeface="Calibri" pitchFamily="34" charset="-122"/>
                <a:cs typeface="Calibri" pitchFamily="34" charset="-120"/>
              </a:rPr>
              <a:t>The Problem We Are Solving</a:t>
            </a:r>
            <a:endParaRPr lang="en-US" sz="3000" dirty="0"/>
          </a:p>
        </p:txBody>
      </p:sp>
      <p:sp>
        <p:nvSpPr>
          <p:cNvPr id="3" name="Shape 1"/>
          <p:cNvSpPr/>
          <p:nvPr/>
        </p:nvSpPr>
        <p:spPr>
          <a:xfrm>
            <a:off x="457200" y="1024128"/>
            <a:ext cx="8229600" cy="36576"/>
          </a:xfrm>
          <a:prstGeom prst="rect">
            <a:avLst/>
          </a:prstGeom>
          <a:solidFill>
            <a:srgbClr val="02C39A"/>
          </a:solidFill>
          <a:ln w="12700">
            <a:solidFill>
              <a:srgbClr val="02C39A"/>
            </a:solidFill>
            <a:prstDash val="solid"/>
          </a:ln>
        </p:spPr>
        <p:txBody>
          <a:bodyPr/>
          <a:lstStyle/>
          <a:p>
            <a:endParaRPr lang="en-IN"/>
          </a:p>
        </p:txBody>
      </p:sp>
      <p:sp>
        <p:nvSpPr>
          <p:cNvPr id="4" name="Shape 2"/>
          <p:cNvSpPr/>
          <p:nvPr/>
        </p:nvSpPr>
        <p:spPr>
          <a:xfrm>
            <a:off x="457200" y="1188720"/>
            <a:ext cx="8229600" cy="868680"/>
          </a:xfrm>
          <a:prstGeom prst="rect">
            <a:avLst/>
          </a:prstGeom>
          <a:solidFill>
            <a:srgbClr val="065A82"/>
          </a:solidFill>
          <a:ln w="12700">
            <a:solidFill>
              <a:srgbClr val="065A82"/>
            </a:solidFill>
            <a:prstDash val="solid"/>
          </a:ln>
          <a:effectLst>
            <a:outerShdw blurRad="127000" dist="50800" dir="8100000" algn="bl" rotWithShape="0">
              <a:srgbClr val="000000">
                <a:alpha val="20000"/>
              </a:srgbClr>
            </a:outerShdw>
          </a:effectLst>
        </p:spPr>
        <p:txBody>
          <a:bodyPr/>
          <a:lstStyle/>
          <a:p>
            <a:endParaRPr lang="en-IN"/>
          </a:p>
        </p:txBody>
      </p:sp>
      <p:sp>
        <p:nvSpPr>
          <p:cNvPr id="5" name="Text 3"/>
          <p:cNvSpPr/>
          <p:nvPr/>
        </p:nvSpPr>
        <p:spPr>
          <a:xfrm>
            <a:off x="594360" y="1188720"/>
            <a:ext cx="7955280" cy="86868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Research Question: Can treated household wastewater replace potable water for cooling Houston's data centers?</a:t>
            </a:r>
            <a:endParaRPr lang="en-US" sz="1700" dirty="0"/>
          </a:p>
        </p:txBody>
      </p:sp>
      <p:sp>
        <p:nvSpPr>
          <p:cNvPr id="6" name="Shape 4"/>
          <p:cNvSpPr/>
          <p:nvPr/>
        </p:nvSpPr>
        <p:spPr>
          <a:xfrm>
            <a:off x="457200" y="2240280"/>
            <a:ext cx="2651760" cy="2468880"/>
          </a:xfrm>
          <a:prstGeom prst="rect">
            <a:avLst/>
          </a:prstGeom>
          <a:solidFill>
            <a:srgbClr val="FFFFFF"/>
          </a:solidFill>
          <a:ln w="12700">
            <a:solidFill>
              <a:srgbClr val="D6EAF8"/>
            </a:solidFill>
            <a:prstDash val="solid"/>
          </a:ln>
          <a:effectLst>
            <a:outerShdw blurRad="76200" dist="25400" dir="8100000" algn="bl" rotWithShape="0">
              <a:srgbClr val="000000">
                <a:alpha val="8000"/>
              </a:srgbClr>
            </a:outerShdw>
          </a:effectLst>
        </p:spPr>
        <p:txBody>
          <a:bodyPr/>
          <a:lstStyle/>
          <a:p>
            <a:endParaRPr lang="en-IN"/>
          </a:p>
        </p:txBody>
      </p:sp>
      <p:sp>
        <p:nvSpPr>
          <p:cNvPr id="7" name="Shape 5"/>
          <p:cNvSpPr/>
          <p:nvPr/>
        </p:nvSpPr>
        <p:spPr>
          <a:xfrm>
            <a:off x="457200" y="2240280"/>
            <a:ext cx="2651760" cy="73152"/>
          </a:xfrm>
          <a:prstGeom prst="rect">
            <a:avLst/>
          </a:prstGeom>
          <a:solidFill>
            <a:srgbClr val="E74C3C"/>
          </a:solidFill>
          <a:ln w="12700">
            <a:solidFill>
              <a:srgbClr val="E74C3C"/>
            </a:solidFill>
            <a:prstDash val="solid"/>
          </a:ln>
        </p:spPr>
        <p:txBody>
          <a:bodyPr/>
          <a:lstStyle/>
          <a:p>
            <a:endParaRPr lang="en-IN"/>
          </a:p>
        </p:txBody>
      </p:sp>
      <p:sp>
        <p:nvSpPr>
          <p:cNvPr id="8" name="Text 6"/>
          <p:cNvSpPr/>
          <p:nvPr/>
        </p:nvSpPr>
        <p:spPr>
          <a:xfrm>
            <a:off x="566928" y="2331720"/>
            <a:ext cx="2432304" cy="411480"/>
          </a:xfrm>
          <a:prstGeom prst="rect">
            <a:avLst/>
          </a:prstGeom>
          <a:noFill/>
          <a:ln/>
        </p:spPr>
        <p:txBody>
          <a:bodyPr wrap="square" rtlCol="0" anchor="ctr"/>
          <a:lstStyle/>
          <a:p>
            <a:pPr marL="0" indent="0" algn="l">
              <a:buNone/>
            </a:pPr>
            <a:r>
              <a:rPr lang="en-US" sz="1300" b="1" dirty="0">
                <a:solidFill>
                  <a:srgbClr val="065A82"/>
                </a:solidFill>
                <a:latin typeface="Calibri" pitchFamily="34" charset="0"/>
                <a:ea typeface="Calibri" pitchFamily="34" charset="-122"/>
                <a:cs typeface="Calibri" pitchFamily="34" charset="-120"/>
              </a:rPr>
              <a:t>Data Centers Are Thirsty</a:t>
            </a:r>
            <a:endParaRPr lang="en-US" sz="1300" dirty="0"/>
          </a:p>
        </p:txBody>
      </p:sp>
      <p:sp>
        <p:nvSpPr>
          <p:cNvPr id="9" name="Text 7"/>
          <p:cNvSpPr/>
          <p:nvPr/>
        </p:nvSpPr>
        <p:spPr>
          <a:xfrm>
            <a:off x="566928" y="2788920"/>
            <a:ext cx="2432304" cy="1828800"/>
          </a:xfrm>
          <a:prstGeom prst="rect">
            <a:avLst/>
          </a:prstGeom>
          <a:noFill/>
          <a:ln/>
        </p:spPr>
        <p:txBody>
          <a:bodyPr wrap="square" rtlCol="0" anchor="t"/>
          <a:lstStyle/>
          <a:p>
            <a:pPr marL="0" indent="0" algn="l">
              <a:buNone/>
            </a:pPr>
            <a:r>
              <a:rPr lang="en-US" sz="1100" dirty="0">
                <a:solidFill>
                  <a:srgbClr val="2C3E50"/>
                </a:solidFill>
                <a:latin typeface="Calibri" pitchFamily="34" charset="0"/>
                <a:ea typeface="Calibri" pitchFamily="34" charset="-122"/>
                <a:cs typeface="Calibri" pitchFamily="34" charset="-120"/>
              </a:rPr>
              <a:t>Cooling towers evaporate millions of gallons daily. Houston's data center market is projected to grow significantly by 2030, increasing water demand.</a:t>
            </a:r>
            <a:endParaRPr lang="en-US" sz="1100" dirty="0"/>
          </a:p>
        </p:txBody>
      </p:sp>
      <p:sp>
        <p:nvSpPr>
          <p:cNvPr id="10" name="Shape 8"/>
          <p:cNvSpPr/>
          <p:nvPr/>
        </p:nvSpPr>
        <p:spPr>
          <a:xfrm>
            <a:off x="3273552" y="2240280"/>
            <a:ext cx="2651760" cy="2468880"/>
          </a:xfrm>
          <a:prstGeom prst="rect">
            <a:avLst/>
          </a:prstGeom>
          <a:solidFill>
            <a:srgbClr val="FFFFFF"/>
          </a:solidFill>
          <a:ln w="12700">
            <a:solidFill>
              <a:srgbClr val="D6EAF8"/>
            </a:solidFill>
            <a:prstDash val="solid"/>
          </a:ln>
          <a:effectLst>
            <a:outerShdw blurRad="76200" dist="25400" dir="8100000" algn="bl" rotWithShape="0">
              <a:srgbClr val="000000">
                <a:alpha val="8000"/>
              </a:srgbClr>
            </a:outerShdw>
          </a:effectLst>
        </p:spPr>
        <p:txBody>
          <a:bodyPr/>
          <a:lstStyle/>
          <a:p>
            <a:endParaRPr lang="en-IN"/>
          </a:p>
        </p:txBody>
      </p:sp>
      <p:sp>
        <p:nvSpPr>
          <p:cNvPr id="11" name="Shape 9"/>
          <p:cNvSpPr/>
          <p:nvPr/>
        </p:nvSpPr>
        <p:spPr>
          <a:xfrm>
            <a:off x="3273552" y="2240280"/>
            <a:ext cx="2651760" cy="73152"/>
          </a:xfrm>
          <a:prstGeom prst="rect">
            <a:avLst/>
          </a:prstGeom>
          <a:solidFill>
            <a:srgbClr val="E67E22"/>
          </a:solidFill>
          <a:ln w="12700">
            <a:solidFill>
              <a:srgbClr val="E67E22"/>
            </a:solidFill>
            <a:prstDash val="solid"/>
          </a:ln>
        </p:spPr>
        <p:txBody>
          <a:bodyPr/>
          <a:lstStyle/>
          <a:p>
            <a:endParaRPr lang="en-IN"/>
          </a:p>
        </p:txBody>
      </p:sp>
      <p:sp>
        <p:nvSpPr>
          <p:cNvPr id="12" name="Text 10"/>
          <p:cNvSpPr/>
          <p:nvPr/>
        </p:nvSpPr>
        <p:spPr>
          <a:xfrm>
            <a:off x="3383280" y="2331720"/>
            <a:ext cx="2432304" cy="411480"/>
          </a:xfrm>
          <a:prstGeom prst="rect">
            <a:avLst/>
          </a:prstGeom>
          <a:noFill/>
          <a:ln/>
        </p:spPr>
        <p:txBody>
          <a:bodyPr wrap="square" rtlCol="0" anchor="ctr"/>
          <a:lstStyle/>
          <a:p>
            <a:pPr marL="0" indent="0" algn="l">
              <a:buNone/>
            </a:pPr>
            <a:r>
              <a:rPr lang="en-US" sz="1300" b="1" dirty="0">
                <a:solidFill>
                  <a:srgbClr val="065A82"/>
                </a:solidFill>
                <a:latin typeface="Calibri" pitchFamily="34" charset="0"/>
                <a:ea typeface="Calibri" pitchFamily="34" charset="-122"/>
                <a:cs typeface="Calibri" pitchFamily="34" charset="-120"/>
              </a:rPr>
              <a:t>Houston Faces Water Stress</a:t>
            </a:r>
            <a:endParaRPr lang="en-US" sz="1300" dirty="0"/>
          </a:p>
        </p:txBody>
      </p:sp>
      <p:sp>
        <p:nvSpPr>
          <p:cNvPr id="13" name="Text 11"/>
          <p:cNvSpPr/>
          <p:nvPr/>
        </p:nvSpPr>
        <p:spPr>
          <a:xfrm>
            <a:off x="3383280" y="2788920"/>
            <a:ext cx="2432304" cy="1828800"/>
          </a:xfrm>
          <a:prstGeom prst="rect">
            <a:avLst/>
          </a:prstGeom>
          <a:noFill/>
          <a:ln/>
        </p:spPr>
        <p:txBody>
          <a:bodyPr wrap="square" rtlCol="0" anchor="t"/>
          <a:lstStyle/>
          <a:p>
            <a:pPr marL="0" indent="0" algn="l">
              <a:buNone/>
            </a:pPr>
            <a:r>
              <a:rPr lang="en-US" sz="1100" dirty="0">
                <a:solidFill>
                  <a:srgbClr val="2C3E50"/>
                </a:solidFill>
                <a:latin typeface="Calibri" pitchFamily="34" charset="0"/>
                <a:ea typeface="Calibri" pitchFamily="34" charset="-122"/>
                <a:cs typeface="Calibri" pitchFamily="34" charset="-120"/>
              </a:rPr>
              <a:t>Periodic droughts, Gulf Coast climate patterns, and growing population create pressure on potable water supply for 3 million residents.</a:t>
            </a:r>
            <a:endParaRPr lang="en-US" sz="1100" dirty="0"/>
          </a:p>
        </p:txBody>
      </p:sp>
      <p:sp>
        <p:nvSpPr>
          <p:cNvPr id="14" name="Shape 12"/>
          <p:cNvSpPr/>
          <p:nvPr/>
        </p:nvSpPr>
        <p:spPr>
          <a:xfrm>
            <a:off x="6089904" y="2240280"/>
            <a:ext cx="2651760" cy="2468880"/>
          </a:xfrm>
          <a:prstGeom prst="rect">
            <a:avLst/>
          </a:prstGeom>
          <a:solidFill>
            <a:srgbClr val="FFFFFF"/>
          </a:solidFill>
          <a:ln w="12700">
            <a:solidFill>
              <a:srgbClr val="D6EAF8"/>
            </a:solidFill>
            <a:prstDash val="solid"/>
          </a:ln>
          <a:effectLst>
            <a:outerShdw blurRad="76200" dist="25400" dir="8100000" algn="bl" rotWithShape="0">
              <a:srgbClr val="000000">
                <a:alpha val="8000"/>
              </a:srgbClr>
            </a:outerShdw>
          </a:effectLst>
        </p:spPr>
        <p:txBody>
          <a:bodyPr/>
          <a:lstStyle/>
          <a:p>
            <a:endParaRPr lang="en-IN"/>
          </a:p>
        </p:txBody>
      </p:sp>
      <p:sp>
        <p:nvSpPr>
          <p:cNvPr id="15" name="Shape 13"/>
          <p:cNvSpPr/>
          <p:nvPr/>
        </p:nvSpPr>
        <p:spPr>
          <a:xfrm>
            <a:off x="6089904" y="2240280"/>
            <a:ext cx="2651760" cy="73152"/>
          </a:xfrm>
          <a:prstGeom prst="rect">
            <a:avLst/>
          </a:prstGeom>
          <a:solidFill>
            <a:srgbClr val="02C39A"/>
          </a:solidFill>
          <a:ln w="12700">
            <a:solidFill>
              <a:srgbClr val="02C39A"/>
            </a:solidFill>
            <a:prstDash val="solid"/>
          </a:ln>
        </p:spPr>
        <p:txBody>
          <a:bodyPr/>
          <a:lstStyle/>
          <a:p>
            <a:endParaRPr lang="en-IN"/>
          </a:p>
        </p:txBody>
      </p:sp>
      <p:sp>
        <p:nvSpPr>
          <p:cNvPr id="16" name="Text 14"/>
          <p:cNvSpPr/>
          <p:nvPr/>
        </p:nvSpPr>
        <p:spPr>
          <a:xfrm>
            <a:off x="6199632" y="2331720"/>
            <a:ext cx="2432304" cy="411480"/>
          </a:xfrm>
          <a:prstGeom prst="rect">
            <a:avLst/>
          </a:prstGeom>
          <a:noFill/>
          <a:ln/>
        </p:spPr>
        <p:txBody>
          <a:bodyPr wrap="square" rtlCol="0" anchor="ctr"/>
          <a:lstStyle/>
          <a:p>
            <a:pPr marL="0" indent="0" algn="l">
              <a:buNone/>
            </a:pPr>
            <a:r>
              <a:rPr lang="en-US" sz="1300" b="1" dirty="0">
                <a:solidFill>
                  <a:srgbClr val="065A82"/>
                </a:solidFill>
                <a:latin typeface="Calibri" pitchFamily="34" charset="0"/>
                <a:ea typeface="Calibri" pitchFamily="34" charset="-122"/>
                <a:cs typeface="Calibri" pitchFamily="34" charset="-120"/>
              </a:rPr>
              <a:t>Wastewater is Wasted</a:t>
            </a:r>
            <a:endParaRPr lang="en-US" sz="1300" dirty="0"/>
          </a:p>
        </p:txBody>
      </p:sp>
      <p:sp>
        <p:nvSpPr>
          <p:cNvPr id="17" name="Text 15"/>
          <p:cNvSpPr/>
          <p:nvPr/>
        </p:nvSpPr>
        <p:spPr>
          <a:xfrm>
            <a:off x="6199632" y="2788920"/>
            <a:ext cx="2432304" cy="1828800"/>
          </a:xfrm>
          <a:prstGeom prst="rect">
            <a:avLst/>
          </a:prstGeom>
          <a:noFill/>
          <a:ln/>
        </p:spPr>
        <p:txBody>
          <a:bodyPr wrap="square" rtlCol="0" anchor="t"/>
          <a:lstStyle/>
          <a:p>
            <a:pPr marL="0" indent="0" algn="l">
              <a:buNone/>
            </a:pPr>
            <a:r>
              <a:rPr lang="en-US" sz="1100" dirty="0">
                <a:solidFill>
                  <a:srgbClr val="2C3E50"/>
                </a:solidFill>
                <a:latin typeface="Calibri" pitchFamily="34" charset="0"/>
                <a:ea typeface="Calibri" pitchFamily="34" charset="-122"/>
                <a:cs typeface="Calibri" pitchFamily="34" charset="-120"/>
              </a:rPr>
              <a:t>Houston’s 4 treatment plants discharge 160 MGD of treated secondary effluent. This water could be purified and reused instead of being discharged.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marL="0" indent="0" algn="l">
              <a:buNone/>
            </a:pPr>
            <a:r>
              <a:rPr lang="en-US" sz="3000" b="1" dirty="0">
                <a:solidFill>
                  <a:srgbClr val="065A82"/>
                </a:solidFill>
                <a:latin typeface="Calibri" pitchFamily="34" charset="0"/>
                <a:ea typeface="Calibri" pitchFamily="34" charset="-122"/>
                <a:cs typeface="Calibri" pitchFamily="34" charset="-120"/>
              </a:rPr>
              <a:t>Why Houston? The Perfect Case Study</a:t>
            </a:r>
            <a:endParaRPr lang="en-US" sz="3000" dirty="0"/>
          </a:p>
        </p:txBody>
      </p:sp>
      <p:sp>
        <p:nvSpPr>
          <p:cNvPr id="3" name="Shape 1"/>
          <p:cNvSpPr/>
          <p:nvPr/>
        </p:nvSpPr>
        <p:spPr>
          <a:xfrm>
            <a:off x="457200" y="1024128"/>
            <a:ext cx="8229600" cy="36576"/>
          </a:xfrm>
          <a:prstGeom prst="rect">
            <a:avLst/>
          </a:prstGeom>
          <a:solidFill>
            <a:srgbClr val="02C39A"/>
          </a:solidFill>
          <a:ln w="12700">
            <a:solidFill>
              <a:srgbClr val="02C39A"/>
            </a:solidFill>
            <a:prstDash val="solid"/>
          </a:ln>
        </p:spPr>
        <p:txBody>
          <a:bodyPr/>
          <a:lstStyle/>
          <a:p>
            <a:endParaRPr lang="en-IN"/>
          </a:p>
        </p:txBody>
      </p:sp>
      <p:sp>
        <p:nvSpPr>
          <p:cNvPr id="4" name="Shape 2"/>
          <p:cNvSpPr/>
          <p:nvPr/>
        </p:nvSpPr>
        <p:spPr>
          <a:xfrm>
            <a:off x="457200" y="1188720"/>
            <a:ext cx="1920240" cy="1188720"/>
          </a:xfrm>
          <a:prstGeom prst="roundRect">
            <a:avLst/>
          </a:prstGeom>
          <a:solidFill>
            <a:srgbClr val="065A82"/>
          </a:solidFill>
          <a:ln/>
          <a:effectLst>
            <a:outerShdw blurRad="101600" dist="38100" dir="8100000" algn="bl" rotWithShape="0">
              <a:srgbClr val="000000">
                <a:alpha val="12000"/>
              </a:srgbClr>
            </a:outerShdw>
          </a:effectLst>
        </p:spPr>
        <p:txBody>
          <a:bodyPr/>
          <a:lstStyle/>
          <a:p>
            <a:endParaRPr lang="en-IN"/>
          </a:p>
        </p:txBody>
      </p:sp>
      <p:sp>
        <p:nvSpPr>
          <p:cNvPr id="5" name="Text 3"/>
          <p:cNvSpPr/>
          <p:nvPr/>
        </p:nvSpPr>
        <p:spPr>
          <a:xfrm>
            <a:off x="457200" y="1261872"/>
            <a:ext cx="1920240" cy="653796"/>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52</a:t>
            </a:r>
            <a:endParaRPr lang="en-US" sz="3200" dirty="0"/>
          </a:p>
        </p:txBody>
      </p:sp>
      <p:sp>
        <p:nvSpPr>
          <p:cNvPr id="6" name="Text 4"/>
          <p:cNvSpPr/>
          <p:nvPr/>
        </p:nvSpPr>
        <p:spPr>
          <a:xfrm>
            <a:off x="457200" y="1842516"/>
            <a:ext cx="1920240" cy="499262"/>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Data Centers</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Analyzed</a:t>
            </a:r>
            <a:endParaRPr lang="en-US" sz="1100" dirty="0"/>
          </a:p>
        </p:txBody>
      </p:sp>
      <p:sp>
        <p:nvSpPr>
          <p:cNvPr id="7" name="Shape 5"/>
          <p:cNvSpPr/>
          <p:nvPr/>
        </p:nvSpPr>
        <p:spPr>
          <a:xfrm>
            <a:off x="2560320" y="1188720"/>
            <a:ext cx="1920240" cy="1188720"/>
          </a:xfrm>
          <a:prstGeom prst="roundRect">
            <a:avLst/>
          </a:prstGeom>
          <a:solidFill>
            <a:srgbClr val="1C7293"/>
          </a:solidFill>
          <a:ln/>
          <a:effectLst>
            <a:outerShdw blurRad="101600" dist="38100" dir="8100000" algn="bl" rotWithShape="0">
              <a:srgbClr val="000000">
                <a:alpha val="12000"/>
              </a:srgbClr>
            </a:outerShdw>
          </a:effectLst>
        </p:spPr>
        <p:txBody>
          <a:bodyPr/>
          <a:lstStyle/>
          <a:p>
            <a:endParaRPr lang="en-IN"/>
          </a:p>
        </p:txBody>
      </p:sp>
      <p:sp>
        <p:nvSpPr>
          <p:cNvPr id="8" name="Text 6"/>
          <p:cNvSpPr/>
          <p:nvPr/>
        </p:nvSpPr>
        <p:spPr>
          <a:xfrm>
            <a:off x="2560320" y="1261872"/>
            <a:ext cx="1920240" cy="653796"/>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90B GL</a:t>
            </a:r>
            <a:endParaRPr lang="en-US" sz="3200" dirty="0"/>
          </a:p>
        </p:txBody>
      </p:sp>
      <p:sp>
        <p:nvSpPr>
          <p:cNvPr id="9" name="Text 7"/>
          <p:cNvSpPr/>
          <p:nvPr/>
        </p:nvSpPr>
        <p:spPr>
          <a:xfrm>
            <a:off x="2560320" y="1842516"/>
            <a:ext cx="1920240" cy="499262"/>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Wastewater</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Produced Yearly</a:t>
            </a:r>
            <a:endParaRPr lang="en-US" sz="1100" dirty="0"/>
          </a:p>
        </p:txBody>
      </p:sp>
      <p:sp>
        <p:nvSpPr>
          <p:cNvPr id="10" name="Shape 8"/>
          <p:cNvSpPr/>
          <p:nvPr/>
        </p:nvSpPr>
        <p:spPr>
          <a:xfrm>
            <a:off x="4663440" y="1188720"/>
            <a:ext cx="1920240" cy="1188720"/>
          </a:xfrm>
          <a:prstGeom prst="roundRect">
            <a:avLst/>
          </a:prstGeom>
          <a:solidFill>
            <a:srgbClr val="065A82"/>
          </a:solidFill>
          <a:ln/>
          <a:effectLst>
            <a:outerShdw blurRad="101600" dist="38100" dir="8100000" algn="bl" rotWithShape="0">
              <a:srgbClr val="000000">
                <a:alpha val="12000"/>
              </a:srgbClr>
            </a:outerShdw>
          </a:effectLst>
        </p:spPr>
        <p:txBody>
          <a:bodyPr/>
          <a:lstStyle/>
          <a:p>
            <a:endParaRPr lang="en-IN" dirty="0"/>
          </a:p>
        </p:txBody>
      </p:sp>
      <p:sp>
        <p:nvSpPr>
          <p:cNvPr id="11" name="Text 9"/>
          <p:cNvSpPr/>
          <p:nvPr/>
        </p:nvSpPr>
        <p:spPr>
          <a:xfrm>
            <a:off x="4663440" y="1261872"/>
            <a:ext cx="1920240" cy="653796"/>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4</a:t>
            </a:r>
            <a:endParaRPr lang="en-US" sz="3200" dirty="0"/>
          </a:p>
        </p:txBody>
      </p:sp>
      <p:sp>
        <p:nvSpPr>
          <p:cNvPr id="12" name="Text 10"/>
          <p:cNvSpPr/>
          <p:nvPr/>
        </p:nvSpPr>
        <p:spPr>
          <a:xfrm>
            <a:off x="4663440" y="1842516"/>
            <a:ext cx="1920240" cy="499262"/>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Treatment</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Plants</a:t>
            </a:r>
            <a:endParaRPr lang="en-US" sz="1100" dirty="0"/>
          </a:p>
        </p:txBody>
      </p:sp>
      <p:sp>
        <p:nvSpPr>
          <p:cNvPr id="14" name="Text 12"/>
          <p:cNvSpPr/>
          <p:nvPr/>
        </p:nvSpPr>
        <p:spPr>
          <a:xfrm>
            <a:off x="6766560" y="1261872"/>
            <a:ext cx="1920240" cy="653796"/>
          </a:xfrm>
          <a:prstGeom prst="rect">
            <a:avLst/>
          </a:prstGeom>
          <a:noFill/>
          <a:ln/>
        </p:spPr>
        <p:txBody>
          <a:bodyPr wrap="square" rtlCol="0" anchor="ctr"/>
          <a:lstStyle/>
          <a:p>
            <a:pPr marL="0" indent="0" algn="ctr">
              <a:buNone/>
            </a:pPr>
            <a:endParaRPr lang="en-US" sz="3200" dirty="0"/>
          </a:p>
        </p:txBody>
      </p:sp>
      <p:sp>
        <p:nvSpPr>
          <p:cNvPr id="15" name="Text 13"/>
          <p:cNvSpPr/>
          <p:nvPr/>
        </p:nvSpPr>
        <p:spPr>
          <a:xfrm>
            <a:off x="6766560" y="1842516"/>
            <a:ext cx="1920240" cy="499262"/>
          </a:xfrm>
          <a:prstGeom prst="rect">
            <a:avLst/>
          </a:prstGeom>
          <a:noFill/>
          <a:ln/>
        </p:spPr>
        <p:txBody>
          <a:bodyPr wrap="square" rtlCol="0" anchor="t"/>
          <a:lstStyle/>
          <a:p>
            <a:pPr marL="0" indent="0" algn="ctr">
              <a:buNone/>
            </a:pPr>
            <a:endParaRPr lang="en-US" sz="1100" dirty="0"/>
          </a:p>
        </p:txBody>
      </p:sp>
      <p:sp>
        <p:nvSpPr>
          <p:cNvPr id="16" name="Text 14"/>
          <p:cNvSpPr/>
          <p:nvPr/>
        </p:nvSpPr>
        <p:spPr>
          <a:xfrm>
            <a:off x="457200" y="2606040"/>
            <a:ext cx="8229600" cy="347472"/>
          </a:xfrm>
          <a:prstGeom prst="rect">
            <a:avLst/>
          </a:prstGeom>
          <a:noFill/>
          <a:ln/>
        </p:spPr>
        <p:txBody>
          <a:bodyPr wrap="square" rtlCol="0" anchor="ctr"/>
          <a:lstStyle/>
          <a:p>
            <a:pPr marL="0" indent="0" algn="l">
              <a:buNone/>
            </a:pPr>
            <a:r>
              <a:rPr lang="en-US" sz="1600" b="1" dirty="0">
                <a:solidFill>
                  <a:srgbClr val="065A82"/>
                </a:solidFill>
                <a:latin typeface="Calibri" pitchFamily="34" charset="0"/>
                <a:ea typeface="Calibri" pitchFamily="34" charset="-122"/>
                <a:cs typeface="Calibri" pitchFamily="34" charset="-120"/>
              </a:rPr>
              <a:t>Why Houston Specifically?</a:t>
            </a:r>
            <a:endParaRPr lang="en-US" sz="1600" dirty="0"/>
          </a:p>
        </p:txBody>
      </p:sp>
      <p:sp>
        <p:nvSpPr>
          <p:cNvPr id="18" name="Text 16"/>
          <p:cNvSpPr/>
          <p:nvPr/>
        </p:nvSpPr>
        <p:spPr>
          <a:xfrm>
            <a:off x="804672" y="2999232"/>
            <a:ext cx="7863840" cy="347472"/>
          </a:xfrm>
          <a:prstGeom prst="rect">
            <a:avLst/>
          </a:prstGeom>
          <a:noFill/>
          <a:ln/>
        </p:spPr>
        <p:txBody>
          <a:bodyPr wrap="square" rtlCol="0" anchor="ctr"/>
          <a:lstStyle/>
          <a:p>
            <a:pPr marL="0" indent="0" algn="l">
              <a:buNone/>
            </a:pPr>
            <a:r>
              <a:rPr lang="en-US" sz="1100" dirty="0">
                <a:solidFill>
                  <a:srgbClr val="2C3E50"/>
                </a:solidFill>
                <a:latin typeface="Calibri" pitchFamily="34" charset="0"/>
                <a:ea typeface="Calibri" pitchFamily="34" charset="-122"/>
                <a:cs typeface="Calibri" pitchFamily="34" charset="-120"/>
              </a:rPr>
              <a:t>One of Texas's fastest-growing data center markets — significant MW expansion projected through 2030</a:t>
            </a:r>
            <a:endParaRPr lang="en-US" sz="1100" dirty="0"/>
          </a:p>
        </p:txBody>
      </p:sp>
      <p:sp>
        <p:nvSpPr>
          <p:cNvPr id="20" name="Text 18"/>
          <p:cNvSpPr/>
          <p:nvPr/>
        </p:nvSpPr>
        <p:spPr>
          <a:xfrm>
            <a:off x="804672" y="3401568"/>
            <a:ext cx="7863840" cy="347472"/>
          </a:xfrm>
          <a:prstGeom prst="rect">
            <a:avLst/>
          </a:prstGeom>
          <a:noFill/>
          <a:ln/>
        </p:spPr>
        <p:txBody>
          <a:bodyPr wrap="square" rtlCol="0" anchor="ctr"/>
          <a:lstStyle/>
          <a:p>
            <a:pPr marL="0" indent="0" algn="l">
              <a:buNone/>
            </a:pPr>
            <a:r>
              <a:rPr lang="en-US" sz="1100" dirty="0">
                <a:solidFill>
                  <a:srgbClr val="2C3E50"/>
                </a:solidFill>
                <a:latin typeface="Calibri" pitchFamily="34" charset="0"/>
                <a:ea typeface="Calibri" pitchFamily="34" charset="-122"/>
                <a:cs typeface="Calibri" pitchFamily="34" charset="-120"/>
              </a:rPr>
              <a:t>Located in ASHRAE Climate Zone 2A (Hot-Humid) — evaporative cooling is less efficient, driving higher water consumption per kWh of IT load</a:t>
            </a:r>
            <a:endParaRPr lang="en-US" sz="1100" dirty="0"/>
          </a:p>
        </p:txBody>
      </p:sp>
      <p:sp>
        <p:nvSpPr>
          <p:cNvPr id="22" name="Text 20"/>
          <p:cNvSpPr/>
          <p:nvPr/>
        </p:nvSpPr>
        <p:spPr>
          <a:xfrm>
            <a:off x="804672" y="3803904"/>
            <a:ext cx="7863840" cy="347472"/>
          </a:xfrm>
          <a:prstGeom prst="rect">
            <a:avLst/>
          </a:prstGeom>
          <a:noFill/>
          <a:ln/>
        </p:spPr>
        <p:txBody>
          <a:bodyPr wrap="square" rtlCol="0" anchor="ctr"/>
          <a:lstStyle/>
          <a:p>
            <a:pPr marL="0" indent="0" algn="l">
              <a:buNone/>
            </a:pPr>
            <a:r>
              <a:rPr lang="en-US" sz="1100" dirty="0">
                <a:solidFill>
                  <a:srgbClr val="2C3E50"/>
                </a:solidFill>
                <a:latin typeface="Calibri" pitchFamily="34" charset="0"/>
                <a:ea typeface="Calibri" pitchFamily="34" charset="-122"/>
                <a:cs typeface="Calibri" pitchFamily="34" charset="-120"/>
              </a:rPr>
              <a:t>Four major wastewater treatment plants (69th Street, Almeda Sims, Buffalo Bayou, Settegast) with combined 284 MGD permitted capacity</a:t>
            </a:r>
            <a:endParaRPr lang="en-US" sz="1100" dirty="0"/>
          </a:p>
        </p:txBody>
      </p:sp>
      <p:sp>
        <p:nvSpPr>
          <p:cNvPr id="24" name="Text 22"/>
          <p:cNvSpPr/>
          <p:nvPr/>
        </p:nvSpPr>
        <p:spPr>
          <a:xfrm>
            <a:off x="804672" y="4206240"/>
            <a:ext cx="7863840" cy="347472"/>
          </a:xfrm>
          <a:prstGeom prst="rect">
            <a:avLst/>
          </a:prstGeom>
          <a:noFill/>
          <a:ln/>
        </p:spPr>
        <p:txBody>
          <a:bodyPr wrap="square" rtlCol="0" anchor="ctr"/>
          <a:lstStyle/>
          <a:p>
            <a:pPr marL="0" indent="0" algn="l">
              <a:buNone/>
            </a:pPr>
            <a:r>
              <a:rPr lang="en-US" sz="1100" dirty="0">
                <a:solidFill>
                  <a:srgbClr val="2C3E50"/>
                </a:solidFill>
                <a:latin typeface="Calibri" pitchFamily="34" charset="0"/>
                <a:ea typeface="Calibri" pitchFamily="34" charset="-122"/>
                <a:cs typeface="Calibri" pitchFamily="34" charset="-120"/>
              </a:rPr>
              <a:t>Texas regulatory framework actively supports industrial water reuse — 30 TAC §210.51-60 authorizes cooling tower makeup water from reclaimed sources</a:t>
            </a:r>
            <a:endParaRPr lang="en-US" sz="1100" dirty="0"/>
          </a:p>
        </p:txBody>
      </p:sp>
      <p:sp>
        <p:nvSpPr>
          <p:cNvPr id="26" name="Text 24"/>
          <p:cNvSpPr/>
          <p:nvPr/>
        </p:nvSpPr>
        <p:spPr>
          <a:xfrm>
            <a:off x="804672" y="4608576"/>
            <a:ext cx="7863840" cy="347472"/>
          </a:xfrm>
          <a:prstGeom prst="rect">
            <a:avLst/>
          </a:prstGeom>
          <a:noFill/>
          <a:ln/>
        </p:spPr>
        <p:txBody>
          <a:bodyPr wrap="square" rtlCol="0" anchor="ctr"/>
          <a:lstStyle/>
          <a:p>
            <a:pPr marL="0" indent="0" algn="l">
              <a:buNone/>
            </a:pPr>
            <a:r>
              <a:rPr lang="en-US" sz="1100" dirty="0">
                <a:solidFill>
                  <a:srgbClr val="2C3E50"/>
                </a:solidFill>
                <a:latin typeface="Calibri" pitchFamily="34" charset="0"/>
                <a:ea typeface="Calibri" pitchFamily="34" charset="-122"/>
                <a:cs typeface="Calibri" pitchFamily="34" charset="-120"/>
              </a:rPr>
              <a:t>Senate Bill 28 created the New Water Supply for Texas Fund — our research directly aligns with this state policy goal</a:t>
            </a:r>
            <a:endParaRPr lang="en-US" sz="1100" dirty="0"/>
          </a:p>
        </p:txBody>
      </p:sp>
      <p:sp>
        <p:nvSpPr>
          <p:cNvPr id="27" name="Text 25"/>
          <p:cNvSpPr/>
          <p:nvPr/>
        </p:nvSpPr>
        <p:spPr>
          <a:xfrm>
            <a:off x="457200" y="4846320"/>
            <a:ext cx="8229600" cy="228600"/>
          </a:xfrm>
          <a:prstGeom prst="rect">
            <a:avLst/>
          </a:prstGeom>
          <a:noFill/>
          <a:ln/>
        </p:spPr>
        <p:txBody>
          <a:bodyPr wrap="square" rtlCol="0" anchor="ctr"/>
          <a:lstStyle/>
          <a:p>
            <a:pPr marL="0" indent="0" algn="l">
              <a:buNone/>
            </a:pPr>
            <a:r>
              <a:rPr lang="en-US" sz="800" i="1" dirty="0">
                <a:solidFill>
                  <a:srgbClr val="5D6D7E"/>
                </a:solidFill>
                <a:latin typeface="Calibri" pitchFamily="34" charset="0"/>
                <a:ea typeface="Calibri" pitchFamily="34" charset="-122"/>
                <a:cs typeface="Calibri" pitchFamily="34" charset="-120"/>
              </a:rPr>
              <a:t>Sources: datacentermap.com | TCEQ Permit Registry TX0024546, TX0024589, TX0024449, TX0024341 | Houston Public Works Wastewater Operations | Texas Senate Bill 28</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0" grpId="0" animBg="1"/>
      <p:bldP spid="16" grpId="0" animBg="1"/>
      <p:bldP spid="18" grpId="0" animBg="1"/>
      <p:bldP spid="20" grpId="0" animBg="1"/>
      <p:bldP spid="22" grpId="0" animBg="1"/>
      <p:bldP spid="24" grpId="0" animBg="1"/>
      <p:bldP spid="2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marL="0" indent="0" algn="l">
              <a:buNone/>
            </a:pPr>
            <a:r>
              <a:rPr lang="en-US" sz="3000" b="1" dirty="0">
                <a:solidFill>
                  <a:srgbClr val="065A82"/>
                </a:solidFill>
                <a:latin typeface="Calibri" pitchFamily="34" charset="0"/>
                <a:ea typeface="Calibri" pitchFamily="34" charset="-122"/>
                <a:cs typeface="Calibri" pitchFamily="34" charset="-120"/>
              </a:rPr>
              <a:t>Technical Background — Key Metrics</a:t>
            </a:r>
            <a:endParaRPr lang="en-US" sz="3000" dirty="0"/>
          </a:p>
        </p:txBody>
      </p:sp>
      <p:sp>
        <p:nvSpPr>
          <p:cNvPr id="3" name="Shape 1"/>
          <p:cNvSpPr/>
          <p:nvPr/>
        </p:nvSpPr>
        <p:spPr>
          <a:xfrm>
            <a:off x="457200" y="1024128"/>
            <a:ext cx="8229600" cy="36576"/>
          </a:xfrm>
          <a:prstGeom prst="rect">
            <a:avLst/>
          </a:prstGeom>
          <a:solidFill>
            <a:srgbClr val="02C39A"/>
          </a:solidFill>
          <a:ln w="12700">
            <a:solidFill>
              <a:srgbClr val="02C39A"/>
            </a:solidFill>
            <a:prstDash val="solid"/>
          </a:ln>
        </p:spPr>
        <p:txBody>
          <a:bodyPr/>
          <a:lstStyle/>
          <a:p>
            <a:endParaRPr lang="en-IN"/>
          </a:p>
        </p:txBody>
      </p:sp>
      <p:sp>
        <p:nvSpPr>
          <p:cNvPr id="4" name="Shape 2"/>
          <p:cNvSpPr/>
          <p:nvPr/>
        </p:nvSpPr>
        <p:spPr>
          <a:xfrm>
            <a:off x="457200" y="1485901"/>
            <a:ext cx="3931920" cy="1419428"/>
          </a:xfrm>
          <a:prstGeom prst="rect">
            <a:avLst/>
          </a:prstGeom>
          <a:solidFill>
            <a:srgbClr val="FFFFFF"/>
          </a:solidFill>
          <a:ln w="12700">
            <a:solidFill>
              <a:srgbClr val="D6EAF8"/>
            </a:solidFill>
            <a:prstDash val="solid"/>
          </a:ln>
          <a:effectLst>
            <a:outerShdw blurRad="101600" dist="38100" dir="8100000" algn="bl" rotWithShape="0">
              <a:srgbClr val="000000">
                <a:alpha val="10000"/>
              </a:srgbClr>
            </a:outerShdw>
          </a:effectLst>
        </p:spPr>
        <p:txBody>
          <a:bodyPr/>
          <a:lstStyle/>
          <a:p>
            <a:endParaRPr lang="en-IN"/>
          </a:p>
        </p:txBody>
      </p:sp>
      <p:sp>
        <p:nvSpPr>
          <p:cNvPr id="5" name="Shape 3"/>
          <p:cNvSpPr/>
          <p:nvPr/>
        </p:nvSpPr>
        <p:spPr>
          <a:xfrm>
            <a:off x="457200" y="1188720"/>
            <a:ext cx="3931920" cy="457200"/>
          </a:xfrm>
          <a:prstGeom prst="rect">
            <a:avLst/>
          </a:prstGeom>
          <a:solidFill>
            <a:srgbClr val="065A82"/>
          </a:solidFill>
          <a:ln w="12700">
            <a:solidFill>
              <a:srgbClr val="065A82"/>
            </a:solidFill>
            <a:prstDash val="solid"/>
          </a:ln>
        </p:spPr>
        <p:txBody>
          <a:bodyPr/>
          <a:lstStyle/>
          <a:p>
            <a:endParaRPr lang="en-IN"/>
          </a:p>
        </p:txBody>
      </p:sp>
      <p:sp>
        <p:nvSpPr>
          <p:cNvPr id="6" name="Text 4"/>
          <p:cNvSpPr/>
          <p:nvPr/>
        </p:nvSpPr>
        <p:spPr>
          <a:xfrm>
            <a:off x="548640" y="1188720"/>
            <a:ext cx="3749040" cy="457200"/>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PUE — Power Usage Effectiveness</a:t>
            </a:r>
            <a:endParaRPr lang="en-US" sz="1300" dirty="0"/>
          </a:p>
        </p:txBody>
      </p:sp>
      <p:sp>
        <p:nvSpPr>
          <p:cNvPr id="7" name="Text 5"/>
          <p:cNvSpPr/>
          <p:nvPr/>
        </p:nvSpPr>
        <p:spPr>
          <a:xfrm>
            <a:off x="548640" y="1737360"/>
            <a:ext cx="3749040" cy="365760"/>
          </a:xfrm>
          <a:prstGeom prst="rect">
            <a:avLst/>
          </a:prstGeom>
          <a:noFill/>
          <a:ln/>
        </p:spPr>
        <p:txBody>
          <a:bodyPr wrap="square" rtlCol="0" anchor="ctr"/>
          <a:lstStyle/>
          <a:p>
            <a:pPr marL="0" indent="0" algn="l">
              <a:buNone/>
            </a:pPr>
            <a:r>
              <a:rPr lang="en-US" sz="1200" b="1" dirty="0">
                <a:solidFill>
                  <a:srgbClr val="02C39A"/>
                </a:solidFill>
                <a:latin typeface="Calibri" pitchFamily="34" charset="0"/>
                <a:ea typeface="Calibri" pitchFamily="34" charset="-122"/>
                <a:cs typeface="Calibri" pitchFamily="34" charset="-120"/>
              </a:rPr>
              <a:t>PUE = Total Facility Power ÷ IT Load Power</a:t>
            </a:r>
            <a:endParaRPr lang="en-US" sz="1200" dirty="0"/>
          </a:p>
        </p:txBody>
      </p:sp>
      <p:sp>
        <p:nvSpPr>
          <p:cNvPr id="8" name="Text 6"/>
          <p:cNvSpPr/>
          <p:nvPr/>
        </p:nvSpPr>
        <p:spPr>
          <a:xfrm>
            <a:off x="566928" y="2148840"/>
            <a:ext cx="3712464" cy="2423160"/>
          </a:xfrm>
          <a:prstGeom prst="rect">
            <a:avLst/>
          </a:prstGeom>
          <a:noFill/>
          <a:ln/>
        </p:spPr>
        <p:txBody>
          <a:bodyPr wrap="square" rtlCol="0" anchor="t"/>
          <a:lstStyle/>
          <a:p>
            <a:pPr marL="0" indent="0" algn="l">
              <a:buNone/>
            </a:pPr>
            <a:r>
              <a:rPr lang="en-US" sz="1050" b="1" dirty="0">
                <a:solidFill>
                  <a:srgbClr val="2C3E50"/>
                </a:solidFill>
                <a:latin typeface="Calibri" pitchFamily="34" charset="0"/>
                <a:ea typeface="Calibri" pitchFamily="34" charset="-122"/>
                <a:cs typeface="Calibri" pitchFamily="34" charset="-120"/>
              </a:rPr>
              <a:t>Our value: </a:t>
            </a:r>
            <a:r>
              <a:rPr lang="en-US" sz="1050" dirty="0">
                <a:solidFill>
                  <a:srgbClr val="2C3E50"/>
                </a:solidFill>
                <a:latin typeface="Calibri" pitchFamily="34" charset="0"/>
                <a:ea typeface="Calibri" pitchFamily="34" charset="-122"/>
                <a:cs typeface="Calibri" pitchFamily="34" charset="-120"/>
              </a:rPr>
              <a:t>PUE = 1.58
</a:t>
            </a:r>
            <a:r>
              <a:rPr lang="en-US" sz="1050" b="1" dirty="0">
                <a:solidFill>
                  <a:srgbClr val="2C3E50"/>
                </a:solidFill>
                <a:latin typeface="Calibri" pitchFamily="34" charset="0"/>
                <a:ea typeface="Calibri" pitchFamily="34" charset="-122"/>
                <a:cs typeface="Calibri" pitchFamily="34" charset="-120"/>
              </a:rPr>
              <a:t>Source: </a:t>
            </a:r>
            <a:r>
              <a:rPr lang="en-US" sz="1050" dirty="0">
                <a:solidFill>
                  <a:srgbClr val="2C3E50"/>
                </a:solidFill>
                <a:latin typeface="Calibri" pitchFamily="34" charset="0"/>
                <a:ea typeface="Calibri" pitchFamily="34" charset="-122"/>
                <a:cs typeface="Calibri" pitchFamily="34" charset="-120"/>
              </a:rPr>
              <a:t>Uptime Institute 2023 Global Data Center Survey — industry average for hot-humid climate zone facilities.
</a:t>
            </a:r>
            <a:endParaRPr lang="en-US" sz="1050" dirty="0"/>
          </a:p>
        </p:txBody>
      </p:sp>
      <p:sp>
        <p:nvSpPr>
          <p:cNvPr id="9" name="Shape 7"/>
          <p:cNvSpPr/>
          <p:nvPr/>
        </p:nvSpPr>
        <p:spPr>
          <a:xfrm>
            <a:off x="4754880" y="1188720"/>
            <a:ext cx="3931920" cy="1716609"/>
          </a:xfrm>
          <a:prstGeom prst="rect">
            <a:avLst/>
          </a:prstGeom>
          <a:solidFill>
            <a:srgbClr val="FFFFFF"/>
          </a:solidFill>
          <a:ln w="12700">
            <a:solidFill>
              <a:srgbClr val="D6EAF8"/>
            </a:solidFill>
            <a:prstDash val="solid"/>
          </a:ln>
          <a:effectLst>
            <a:outerShdw blurRad="101600" dist="38100" dir="8100000" algn="bl" rotWithShape="0">
              <a:srgbClr val="000000">
                <a:alpha val="10000"/>
              </a:srgbClr>
            </a:outerShdw>
          </a:effectLst>
        </p:spPr>
        <p:txBody>
          <a:bodyPr/>
          <a:lstStyle/>
          <a:p>
            <a:endParaRPr lang="en-IN"/>
          </a:p>
        </p:txBody>
      </p:sp>
      <p:sp>
        <p:nvSpPr>
          <p:cNvPr id="10" name="Shape 8"/>
          <p:cNvSpPr/>
          <p:nvPr/>
        </p:nvSpPr>
        <p:spPr>
          <a:xfrm>
            <a:off x="4754880" y="1188720"/>
            <a:ext cx="3931920" cy="457200"/>
          </a:xfrm>
          <a:prstGeom prst="rect">
            <a:avLst/>
          </a:prstGeom>
          <a:solidFill>
            <a:srgbClr val="028090"/>
          </a:solidFill>
          <a:ln w="12700">
            <a:solidFill>
              <a:srgbClr val="028090"/>
            </a:solidFill>
            <a:prstDash val="solid"/>
          </a:ln>
        </p:spPr>
        <p:txBody>
          <a:bodyPr/>
          <a:lstStyle/>
          <a:p>
            <a:endParaRPr lang="en-IN"/>
          </a:p>
        </p:txBody>
      </p:sp>
      <p:sp>
        <p:nvSpPr>
          <p:cNvPr id="11" name="Text 9"/>
          <p:cNvSpPr/>
          <p:nvPr/>
        </p:nvSpPr>
        <p:spPr>
          <a:xfrm>
            <a:off x="4846320" y="1188720"/>
            <a:ext cx="3749040" cy="457200"/>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WUE — Water Usage Effectiveness</a:t>
            </a:r>
            <a:endParaRPr lang="en-US" sz="1300" dirty="0"/>
          </a:p>
        </p:txBody>
      </p:sp>
      <p:sp>
        <p:nvSpPr>
          <p:cNvPr id="12" name="Text 10"/>
          <p:cNvSpPr/>
          <p:nvPr/>
        </p:nvSpPr>
        <p:spPr>
          <a:xfrm>
            <a:off x="4846320" y="1737360"/>
            <a:ext cx="3749040" cy="365760"/>
          </a:xfrm>
          <a:prstGeom prst="rect">
            <a:avLst/>
          </a:prstGeom>
          <a:noFill/>
          <a:ln/>
        </p:spPr>
        <p:txBody>
          <a:bodyPr wrap="square" rtlCol="0" anchor="ctr"/>
          <a:lstStyle/>
          <a:p>
            <a:pPr marL="0" indent="0" algn="l">
              <a:buNone/>
            </a:pPr>
            <a:r>
              <a:rPr lang="en-US" sz="1200" b="1" dirty="0">
                <a:solidFill>
                  <a:srgbClr val="02C39A"/>
                </a:solidFill>
                <a:latin typeface="Calibri" pitchFamily="34" charset="0"/>
                <a:ea typeface="Calibri" pitchFamily="34" charset="-122"/>
                <a:cs typeface="Calibri" pitchFamily="34" charset="-120"/>
              </a:rPr>
              <a:t>WUE = Water Consumed (L) ÷ IT Energy (kWh)</a:t>
            </a:r>
            <a:endParaRPr lang="en-US" sz="1200" dirty="0"/>
          </a:p>
        </p:txBody>
      </p:sp>
      <p:sp>
        <p:nvSpPr>
          <p:cNvPr id="13" name="Text 11"/>
          <p:cNvSpPr/>
          <p:nvPr/>
        </p:nvSpPr>
        <p:spPr>
          <a:xfrm>
            <a:off x="4864608" y="2148840"/>
            <a:ext cx="3712464" cy="2423160"/>
          </a:xfrm>
          <a:prstGeom prst="rect">
            <a:avLst/>
          </a:prstGeom>
          <a:noFill/>
          <a:ln/>
        </p:spPr>
        <p:txBody>
          <a:bodyPr wrap="square" rtlCol="0" anchor="t"/>
          <a:lstStyle/>
          <a:p>
            <a:pPr marL="0" indent="0" algn="l">
              <a:buNone/>
            </a:pPr>
            <a:r>
              <a:rPr lang="en-US" sz="1050" b="1" dirty="0">
                <a:solidFill>
                  <a:srgbClr val="2C3E50"/>
                </a:solidFill>
                <a:latin typeface="Calibri" pitchFamily="34" charset="0"/>
                <a:ea typeface="Calibri" pitchFamily="34" charset="-122"/>
                <a:cs typeface="Calibri" pitchFamily="34" charset="-120"/>
              </a:rPr>
              <a:t>Our values:
</a:t>
            </a:r>
            <a:r>
              <a:rPr lang="en-US" sz="1050" dirty="0">
                <a:solidFill>
                  <a:srgbClr val="2C3E50"/>
                </a:solidFill>
                <a:latin typeface="Calibri" pitchFamily="34" charset="0"/>
                <a:ea typeface="Calibri" pitchFamily="34" charset="-122"/>
                <a:cs typeface="Calibri" pitchFamily="34" charset="-120"/>
              </a:rPr>
              <a:t>• Global baseline: 1.9 L/kWh
• Houston adjusted: 2.2 L/kWh
</a:t>
            </a:r>
            <a:endParaRPr lang="en-US" sz="1050" dirty="0"/>
          </a:p>
        </p:txBody>
      </p:sp>
      <p:sp>
        <p:nvSpPr>
          <p:cNvPr id="14" name="Text 12"/>
          <p:cNvSpPr/>
          <p:nvPr/>
        </p:nvSpPr>
        <p:spPr>
          <a:xfrm>
            <a:off x="457200" y="4846320"/>
            <a:ext cx="8229600" cy="228600"/>
          </a:xfrm>
          <a:prstGeom prst="rect">
            <a:avLst/>
          </a:prstGeom>
          <a:noFill/>
          <a:ln/>
        </p:spPr>
        <p:txBody>
          <a:bodyPr wrap="square" rtlCol="0" anchor="ctr"/>
          <a:lstStyle/>
          <a:p>
            <a:pPr marL="0" indent="0" algn="l">
              <a:buNone/>
            </a:pPr>
            <a:r>
              <a:rPr lang="en-US" sz="800" i="1" dirty="0">
                <a:solidFill>
                  <a:srgbClr val="5D6D7E"/>
                </a:solidFill>
                <a:latin typeface="Calibri" pitchFamily="34" charset="0"/>
                <a:ea typeface="Calibri" pitchFamily="34" charset="-122"/>
                <a:cs typeface="Calibri" pitchFamily="34" charset="-120"/>
              </a:rPr>
              <a:t>Sources: Uptime Institute Global Data Center Survey 2023 (PUE 1.58) | The Green Grid — WUE Metric Definition 2011 | Microsoft Datacenter Sustainability Report 2024</a:t>
            </a:r>
            <a:endParaRPr lang="en-US" sz="800" dirty="0"/>
          </a:p>
        </p:txBody>
      </p:sp>
      <p:pic>
        <p:nvPicPr>
          <p:cNvPr id="16" name="Picture 15">
            <a:extLst>
              <a:ext uri="{FF2B5EF4-FFF2-40B4-BE49-F238E27FC236}">
                <a16:creationId xmlns:a16="http://schemas.microsoft.com/office/drawing/2014/main" id="{247848B5-1B36-71FA-9861-24E6D251B3AC}"/>
              </a:ext>
            </a:extLst>
          </p:cNvPr>
          <p:cNvPicPr>
            <a:picLocks noChangeAspect="1"/>
          </p:cNvPicPr>
          <p:nvPr/>
        </p:nvPicPr>
        <p:blipFill>
          <a:blip r:embed="rId3"/>
          <a:stretch>
            <a:fillRect/>
          </a:stretch>
        </p:blipFill>
        <p:spPr>
          <a:xfrm>
            <a:off x="2395987" y="2957468"/>
            <a:ext cx="4461754" cy="18888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marL="0" indent="0" algn="l">
              <a:buNone/>
            </a:pPr>
            <a:r>
              <a:rPr lang="en-US" sz="3000" b="1" dirty="0">
                <a:solidFill>
                  <a:srgbClr val="065A82"/>
                </a:solidFill>
                <a:latin typeface="Calibri" pitchFamily="34" charset="0"/>
                <a:ea typeface="Calibri" pitchFamily="34" charset="-122"/>
                <a:cs typeface="Calibri" pitchFamily="34" charset="-120"/>
              </a:rPr>
              <a:t>How We Calculated Water Consumption</a:t>
            </a:r>
            <a:endParaRPr lang="en-US" sz="3000" dirty="0"/>
          </a:p>
        </p:txBody>
      </p:sp>
      <p:sp>
        <p:nvSpPr>
          <p:cNvPr id="3" name="Shape 1"/>
          <p:cNvSpPr/>
          <p:nvPr/>
        </p:nvSpPr>
        <p:spPr>
          <a:xfrm>
            <a:off x="457200" y="1024128"/>
            <a:ext cx="8229600" cy="36576"/>
          </a:xfrm>
          <a:prstGeom prst="rect">
            <a:avLst/>
          </a:prstGeom>
          <a:solidFill>
            <a:srgbClr val="02C39A"/>
          </a:solidFill>
          <a:ln w="12700">
            <a:solidFill>
              <a:srgbClr val="02C39A"/>
            </a:solidFill>
            <a:prstDash val="solid"/>
          </a:ln>
        </p:spPr>
        <p:txBody>
          <a:bodyPr/>
          <a:lstStyle/>
          <a:p>
            <a:endParaRPr lang="en-IN"/>
          </a:p>
        </p:txBody>
      </p:sp>
      <p:sp>
        <p:nvSpPr>
          <p:cNvPr id="4" name="Text 2"/>
          <p:cNvSpPr/>
          <p:nvPr/>
        </p:nvSpPr>
        <p:spPr>
          <a:xfrm>
            <a:off x="457200" y="1143000"/>
            <a:ext cx="8229600" cy="320040"/>
          </a:xfrm>
          <a:prstGeom prst="rect">
            <a:avLst/>
          </a:prstGeom>
          <a:noFill/>
          <a:ln/>
        </p:spPr>
        <p:txBody>
          <a:bodyPr wrap="square" rtlCol="0" anchor="ctr"/>
          <a:lstStyle/>
          <a:p>
            <a:pPr marL="0" indent="0" algn="l">
              <a:buNone/>
            </a:pPr>
            <a:r>
              <a:rPr lang="en-US" sz="1400" b="1" dirty="0">
                <a:solidFill>
                  <a:srgbClr val="065A82"/>
                </a:solidFill>
                <a:latin typeface="Calibri" pitchFamily="34" charset="0"/>
                <a:ea typeface="Calibri" pitchFamily="34" charset="-122"/>
                <a:cs typeface="Calibri" pitchFamily="34" charset="-120"/>
              </a:rPr>
              <a:t>The Formula Chain — From Electricity to Water</a:t>
            </a:r>
            <a:endParaRPr lang="en-US" sz="1400" dirty="0"/>
          </a:p>
        </p:txBody>
      </p:sp>
      <p:sp>
        <p:nvSpPr>
          <p:cNvPr id="5" name="Shape 3"/>
          <p:cNvSpPr/>
          <p:nvPr/>
        </p:nvSpPr>
        <p:spPr>
          <a:xfrm>
            <a:off x="457200" y="1618488"/>
            <a:ext cx="457200" cy="457200"/>
          </a:xfrm>
          <a:prstGeom prst="ellipse">
            <a:avLst/>
          </a:prstGeom>
          <a:solidFill>
            <a:srgbClr val="065A82"/>
          </a:solidFill>
          <a:ln w="12700">
            <a:solidFill>
              <a:srgbClr val="065A82"/>
            </a:solidFill>
            <a:prstDash val="solid"/>
          </a:ln>
        </p:spPr>
        <p:txBody>
          <a:bodyPr/>
          <a:lstStyle/>
          <a:p>
            <a:endParaRPr lang="en-IN"/>
          </a:p>
        </p:txBody>
      </p:sp>
      <p:sp>
        <p:nvSpPr>
          <p:cNvPr id="6" name="Text 4"/>
          <p:cNvSpPr/>
          <p:nvPr/>
        </p:nvSpPr>
        <p:spPr>
          <a:xfrm>
            <a:off x="457200" y="1618488"/>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Shape 5"/>
          <p:cNvSpPr/>
          <p:nvPr/>
        </p:nvSpPr>
        <p:spPr>
          <a:xfrm>
            <a:off x="1051560" y="1572768"/>
            <a:ext cx="7635240" cy="566928"/>
          </a:xfrm>
          <a:prstGeom prst="rect">
            <a:avLst/>
          </a:prstGeom>
          <a:solidFill>
            <a:srgbClr val="EBF5FB"/>
          </a:solidFill>
          <a:ln w="6350">
            <a:solidFill>
              <a:srgbClr val="D6EAF8"/>
            </a:solidFill>
            <a:prstDash val="solid"/>
          </a:ln>
        </p:spPr>
        <p:txBody>
          <a:bodyPr/>
          <a:lstStyle/>
          <a:p>
            <a:endParaRPr lang="en-IN"/>
          </a:p>
        </p:txBody>
      </p:sp>
      <p:sp>
        <p:nvSpPr>
          <p:cNvPr id="8" name="Text 6"/>
          <p:cNvSpPr/>
          <p:nvPr/>
        </p:nvSpPr>
        <p:spPr>
          <a:xfrm>
            <a:off x="1143000" y="1609344"/>
            <a:ext cx="5029200" cy="256032"/>
          </a:xfrm>
          <a:prstGeom prst="rect">
            <a:avLst/>
          </a:prstGeom>
          <a:noFill/>
          <a:ln/>
        </p:spPr>
        <p:txBody>
          <a:bodyPr wrap="square" rtlCol="0" anchor="ctr"/>
          <a:lstStyle/>
          <a:p>
            <a:pPr marL="0" indent="0" algn="l">
              <a:buNone/>
            </a:pPr>
            <a:r>
              <a:rPr lang="en-US" sz="1100" b="1" dirty="0">
                <a:solidFill>
                  <a:srgbClr val="065A82"/>
                </a:solidFill>
                <a:latin typeface="Calibri" pitchFamily="34" charset="0"/>
                <a:ea typeface="Calibri" pitchFamily="34" charset="-122"/>
                <a:cs typeface="Calibri" pitchFamily="34" charset="-120"/>
              </a:rPr>
              <a:t>IT Load — IT Load (kW) = Facility Power (kW) ÷ PUE (1.58)</a:t>
            </a:r>
            <a:endParaRPr lang="en-US" sz="1100" dirty="0"/>
          </a:p>
        </p:txBody>
      </p:sp>
      <p:sp>
        <p:nvSpPr>
          <p:cNvPr id="9" name="Text 7"/>
          <p:cNvSpPr/>
          <p:nvPr/>
        </p:nvSpPr>
        <p:spPr>
          <a:xfrm>
            <a:off x="1143000" y="1865376"/>
            <a:ext cx="7406640" cy="228600"/>
          </a:xfrm>
          <a:prstGeom prst="rect">
            <a:avLst/>
          </a:prstGeom>
          <a:noFill/>
          <a:ln/>
        </p:spPr>
        <p:txBody>
          <a:bodyPr wrap="square" rtlCol="0" anchor="ctr"/>
          <a:lstStyle/>
          <a:p>
            <a:pPr marL="0" indent="0" algn="l">
              <a:buNone/>
            </a:pPr>
            <a:r>
              <a:rPr lang="en-US" sz="1000" i="1" dirty="0">
                <a:solidFill>
                  <a:srgbClr val="5D6D7E"/>
                </a:solidFill>
                <a:latin typeface="Calibri" pitchFamily="34" charset="0"/>
                <a:ea typeface="Calibri" pitchFamily="34" charset="-122"/>
                <a:cs typeface="Calibri" pitchFamily="34" charset="-120"/>
              </a:rPr>
              <a:t>→  Strips out overhead. Only server heat needs cooling.</a:t>
            </a:r>
            <a:endParaRPr lang="en-US" sz="1000" dirty="0"/>
          </a:p>
        </p:txBody>
      </p:sp>
      <p:sp>
        <p:nvSpPr>
          <p:cNvPr id="10" name="Shape 8"/>
          <p:cNvSpPr/>
          <p:nvPr/>
        </p:nvSpPr>
        <p:spPr>
          <a:xfrm>
            <a:off x="457200" y="2276856"/>
            <a:ext cx="457200" cy="457200"/>
          </a:xfrm>
          <a:prstGeom prst="ellipse">
            <a:avLst/>
          </a:prstGeom>
          <a:solidFill>
            <a:srgbClr val="065A82"/>
          </a:solidFill>
          <a:ln w="12700">
            <a:solidFill>
              <a:srgbClr val="065A82"/>
            </a:solidFill>
            <a:prstDash val="solid"/>
          </a:ln>
        </p:spPr>
        <p:txBody>
          <a:bodyPr/>
          <a:lstStyle/>
          <a:p>
            <a:endParaRPr lang="en-IN"/>
          </a:p>
        </p:txBody>
      </p:sp>
      <p:sp>
        <p:nvSpPr>
          <p:cNvPr id="11" name="Text 9"/>
          <p:cNvSpPr/>
          <p:nvPr/>
        </p:nvSpPr>
        <p:spPr>
          <a:xfrm>
            <a:off x="457200" y="2276856"/>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Shape 10"/>
          <p:cNvSpPr/>
          <p:nvPr/>
        </p:nvSpPr>
        <p:spPr>
          <a:xfrm>
            <a:off x="1051560" y="2231136"/>
            <a:ext cx="7635240" cy="566928"/>
          </a:xfrm>
          <a:prstGeom prst="rect">
            <a:avLst/>
          </a:prstGeom>
          <a:solidFill>
            <a:srgbClr val="FFFFFF"/>
          </a:solidFill>
          <a:ln w="6350">
            <a:solidFill>
              <a:srgbClr val="D6EAF8"/>
            </a:solidFill>
            <a:prstDash val="solid"/>
          </a:ln>
        </p:spPr>
        <p:txBody>
          <a:bodyPr/>
          <a:lstStyle/>
          <a:p>
            <a:endParaRPr lang="en-IN"/>
          </a:p>
        </p:txBody>
      </p:sp>
      <p:sp>
        <p:nvSpPr>
          <p:cNvPr id="13" name="Text 11"/>
          <p:cNvSpPr/>
          <p:nvPr/>
        </p:nvSpPr>
        <p:spPr>
          <a:xfrm>
            <a:off x="1143000" y="2267712"/>
            <a:ext cx="5029200" cy="256032"/>
          </a:xfrm>
          <a:prstGeom prst="rect">
            <a:avLst/>
          </a:prstGeom>
          <a:noFill/>
          <a:ln/>
        </p:spPr>
        <p:txBody>
          <a:bodyPr wrap="square" rtlCol="0" anchor="ctr"/>
          <a:lstStyle/>
          <a:p>
            <a:pPr marL="0" indent="0" algn="l">
              <a:buNone/>
            </a:pPr>
            <a:r>
              <a:rPr lang="en-US" sz="1100" b="1" dirty="0">
                <a:solidFill>
                  <a:srgbClr val="065A82"/>
                </a:solidFill>
                <a:latin typeface="Calibri" pitchFamily="34" charset="0"/>
                <a:ea typeface="Calibri" pitchFamily="34" charset="-122"/>
                <a:cs typeface="Calibri" pitchFamily="34" charset="-120"/>
              </a:rPr>
              <a:t>Running Load — Running Load = IT Load × Utilization (45% / 60% / 75%)</a:t>
            </a:r>
            <a:endParaRPr lang="en-US" sz="1100" dirty="0"/>
          </a:p>
        </p:txBody>
      </p:sp>
      <p:sp>
        <p:nvSpPr>
          <p:cNvPr id="14" name="Text 12"/>
          <p:cNvSpPr/>
          <p:nvPr/>
        </p:nvSpPr>
        <p:spPr>
          <a:xfrm>
            <a:off x="1143000" y="2523744"/>
            <a:ext cx="7406640" cy="228600"/>
          </a:xfrm>
          <a:prstGeom prst="rect">
            <a:avLst/>
          </a:prstGeom>
          <a:noFill/>
          <a:ln/>
        </p:spPr>
        <p:txBody>
          <a:bodyPr wrap="square" rtlCol="0" anchor="ctr"/>
          <a:lstStyle/>
          <a:p>
            <a:pPr marL="0" indent="0" algn="l">
              <a:buNone/>
            </a:pPr>
            <a:r>
              <a:rPr lang="en-US" sz="1000" i="1" dirty="0">
                <a:solidFill>
                  <a:srgbClr val="5D6D7E"/>
                </a:solidFill>
                <a:latin typeface="Calibri" pitchFamily="34" charset="0"/>
                <a:ea typeface="Calibri" pitchFamily="34" charset="-122"/>
                <a:cs typeface="Calibri" pitchFamily="34" charset="-120"/>
              </a:rPr>
              <a:t>→  Fully built-out ≠ fully loaded. Three scenarios bracket reality.</a:t>
            </a:r>
            <a:endParaRPr lang="en-US" sz="1000" dirty="0"/>
          </a:p>
        </p:txBody>
      </p:sp>
      <p:sp>
        <p:nvSpPr>
          <p:cNvPr id="15" name="Shape 13"/>
          <p:cNvSpPr/>
          <p:nvPr/>
        </p:nvSpPr>
        <p:spPr>
          <a:xfrm>
            <a:off x="457200" y="2935224"/>
            <a:ext cx="457200" cy="457200"/>
          </a:xfrm>
          <a:prstGeom prst="ellipse">
            <a:avLst/>
          </a:prstGeom>
          <a:solidFill>
            <a:srgbClr val="065A82"/>
          </a:solidFill>
          <a:ln w="12700">
            <a:solidFill>
              <a:srgbClr val="065A82"/>
            </a:solidFill>
            <a:prstDash val="solid"/>
          </a:ln>
        </p:spPr>
        <p:txBody>
          <a:bodyPr/>
          <a:lstStyle/>
          <a:p>
            <a:endParaRPr lang="en-IN"/>
          </a:p>
        </p:txBody>
      </p:sp>
      <p:sp>
        <p:nvSpPr>
          <p:cNvPr id="16" name="Text 14"/>
          <p:cNvSpPr/>
          <p:nvPr/>
        </p:nvSpPr>
        <p:spPr>
          <a:xfrm>
            <a:off x="457200" y="2935224"/>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Shape 15"/>
          <p:cNvSpPr/>
          <p:nvPr/>
        </p:nvSpPr>
        <p:spPr>
          <a:xfrm>
            <a:off x="1051560" y="2889504"/>
            <a:ext cx="7635240" cy="566928"/>
          </a:xfrm>
          <a:prstGeom prst="rect">
            <a:avLst/>
          </a:prstGeom>
          <a:solidFill>
            <a:srgbClr val="EBF5FB"/>
          </a:solidFill>
          <a:ln w="6350">
            <a:solidFill>
              <a:srgbClr val="D6EAF8"/>
            </a:solidFill>
            <a:prstDash val="solid"/>
          </a:ln>
        </p:spPr>
        <p:txBody>
          <a:bodyPr/>
          <a:lstStyle/>
          <a:p>
            <a:endParaRPr lang="en-IN"/>
          </a:p>
        </p:txBody>
      </p:sp>
      <p:sp>
        <p:nvSpPr>
          <p:cNvPr id="18" name="Text 16"/>
          <p:cNvSpPr/>
          <p:nvPr/>
        </p:nvSpPr>
        <p:spPr>
          <a:xfrm>
            <a:off x="1143000" y="2926080"/>
            <a:ext cx="5029200" cy="256032"/>
          </a:xfrm>
          <a:prstGeom prst="rect">
            <a:avLst/>
          </a:prstGeom>
          <a:noFill/>
          <a:ln/>
        </p:spPr>
        <p:txBody>
          <a:bodyPr wrap="square" rtlCol="0" anchor="ctr"/>
          <a:lstStyle/>
          <a:p>
            <a:pPr marL="0" indent="0" algn="l">
              <a:buNone/>
            </a:pPr>
            <a:r>
              <a:rPr lang="en-US" sz="1100" b="1" dirty="0">
                <a:solidFill>
                  <a:srgbClr val="065A82"/>
                </a:solidFill>
                <a:latin typeface="Calibri" pitchFamily="34" charset="0"/>
                <a:ea typeface="Calibri" pitchFamily="34" charset="-122"/>
                <a:cs typeface="Calibri" pitchFamily="34" charset="-120"/>
              </a:rPr>
              <a:t>Annual Energy — Annual Energy (kWh) = Running Load × 8,760 hrs/year</a:t>
            </a:r>
            <a:endParaRPr lang="en-US" sz="1100" dirty="0"/>
          </a:p>
        </p:txBody>
      </p:sp>
      <p:sp>
        <p:nvSpPr>
          <p:cNvPr id="19" name="Text 17"/>
          <p:cNvSpPr/>
          <p:nvPr/>
        </p:nvSpPr>
        <p:spPr>
          <a:xfrm>
            <a:off x="1143000" y="3182112"/>
            <a:ext cx="7406640" cy="228600"/>
          </a:xfrm>
          <a:prstGeom prst="rect">
            <a:avLst/>
          </a:prstGeom>
          <a:noFill/>
          <a:ln/>
        </p:spPr>
        <p:txBody>
          <a:bodyPr wrap="square" rtlCol="0" anchor="ctr"/>
          <a:lstStyle/>
          <a:p>
            <a:pPr marL="0" indent="0" algn="l">
              <a:buNone/>
            </a:pPr>
            <a:r>
              <a:rPr lang="en-US" sz="1000" i="1" dirty="0">
                <a:solidFill>
                  <a:srgbClr val="5D6D7E"/>
                </a:solidFill>
                <a:latin typeface="Calibri" pitchFamily="34" charset="0"/>
                <a:ea typeface="Calibri" pitchFamily="34" charset="-122"/>
                <a:cs typeface="Calibri" pitchFamily="34" charset="-120"/>
              </a:rPr>
              <a:t>→  Data centers never shut down — 24 hrs × 365 days.</a:t>
            </a:r>
            <a:endParaRPr lang="en-US" sz="1000" dirty="0"/>
          </a:p>
        </p:txBody>
      </p:sp>
      <p:sp>
        <p:nvSpPr>
          <p:cNvPr id="20" name="Shape 18"/>
          <p:cNvSpPr/>
          <p:nvPr/>
        </p:nvSpPr>
        <p:spPr>
          <a:xfrm>
            <a:off x="457200" y="3593592"/>
            <a:ext cx="457200" cy="457200"/>
          </a:xfrm>
          <a:prstGeom prst="ellipse">
            <a:avLst/>
          </a:prstGeom>
          <a:solidFill>
            <a:srgbClr val="065A82"/>
          </a:solidFill>
          <a:ln w="12700">
            <a:solidFill>
              <a:srgbClr val="065A82"/>
            </a:solidFill>
            <a:prstDash val="solid"/>
          </a:ln>
        </p:spPr>
        <p:txBody>
          <a:bodyPr/>
          <a:lstStyle/>
          <a:p>
            <a:endParaRPr lang="en-IN"/>
          </a:p>
        </p:txBody>
      </p:sp>
      <p:sp>
        <p:nvSpPr>
          <p:cNvPr id="21" name="Text 19"/>
          <p:cNvSpPr/>
          <p:nvPr/>
        </p:nvSpPr>
        <p:spPr>
          <a:xfrm>
            <a:off x="457200" y="3593592"/>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Shape 20"/>
          <p:cNvSpPr/>
          <p:nvPr/>
        </p:nvSpPr>
        <p:spPr>
          <a:xfrm>
            <a:off x="1051560" y="3547872"/>
            <a:ext cx="7635240" cy="566928"/>
          </a:xfrm>
          <a:prstGeom prst="rect">
            <a:avLst/>
          </a:prstGeom>
          <a:solidFill>
            <a:srgbClr val="FFFFFF"/>
          </a:solidFill>
          <a:ln w="6350">
            <a:solidFill>
              <a:srgbClr val="D6EAF8"/>
            </a:solidFill>
            <a:prstDash val="solid"/>
          </a:ln>
        </p:spPr>
        <p:txBody>
          <a:bodyPr/>
          <a:lstStyle/>
          <a:p>
            <a:endParaRPr lang="en-IN"/>
          </a:p>
        </p:txBody>
      </p:sp>
      <p:sp>
        <p:nvSpPr>
          <p:cNvPr id="23" name="Text 21"/>
          <p:cNvSpPr/>
          <p:nvPr/>
        </p:nvSpPr>
        <p:spPr>
          <a:xfrm>
            <a:off x="1143000" y="3584448"/>
            <a:ext cx="5029200" cy="256032"/>
          </a:xfrm>
          <a:prstGeom prst="rect">
            <a:avLst/>
          </a:prstGeom>
          <a:noFill/>
          <a:ln/>
        </p:spPr>
        <p:txBody>
          <a:bodyPr wrap="square" rtlCol="0" anchor="ctr"/>
          <a:lstStyle/>
          <a:p>
            <a:pPr marL="0" indent="0" algn="l">
              <a:buNone/>
            </a:pPr>
            <a:r>
              <a:rPr lang="en-US" sz="1100" b="1" dirty="0">
                <a:solidFill>
                  <a:srgbClr val="065A82"/>
                </a:solidFill>
                <a:latin typeface="Calibri" pitchFamily="34" charset="0"/>
                <a:ea typeface="Calibri" pitchFamily="34" charset="-122"/>
                <a:cs typeface="Calibri" pitchFamily="34" charset="-120"/>
              </a:rPr>
              <a:t>Water Volume — Water (L/year) = Annual Energy × WUE (2.2 L/kWh)</a:t>
            </a:r>
            <a:endParaRPr lang="en-US" sz="1100" dirty="0"/>
          </a:p>
        </p:txBody>
      </p:sp>
      <p:sp>
        <p:nvSpPr>
          <p:cNvPr id="24" name="Text 22"/>
          <p:cNvSpPr/>
          <p:nvPr/>
        </p:nvSpPr>
        <p:spPr>
          <a:xfrm>
            <a:off x="1143000" y="3840480"/>
            <a:ext cx="7406640" cy="228600"/>
          </a:xfrm>
          <a:prstGeom prst="rect">
            <a:avLst/>
          </a:prstGeom>
          <a:noFill/>
          <a:ln/>
        </p:spPr>
        <p:txBody>
          <a:bodyPr wrap="square" rtlCol="0" anchor="ctr"/>
          <a:lstStyle/>
          <a:p>
            <a:pPr marL="0" indent="0" algn="l">
              <a:buNone/>
            </a:pPr>
            <a:r>
              <a:rPr lang="en-US" sz="1000" i="1" dirty="0">
                <a:solidFill>
                  <a:srgbClr val="5D6D7E"/>
                </a:solidFill>
                <a:latin typeface="Calibri" pitchFamily="34" charset="0"/>
                <a:ea typeface="Calibri" pitchFamily="34" charset="-122"/>
                <a:cs typeface="Calibri" pitchFamily="34" charset="-120"/>
              </a:rPr>
              <a:t>→  WUE converts energy to water. Houston-adjusted for humidity.</a:t>
            </a:r>
            <a:endParaRPr lang="en-US" sz="1000" dirty="0"/>
          </a:p>
        </p:txBody>
      </p:sp>
      <p:sp>
        <p:nvSpPr>
          <p:cNvPr id="25" name="Shape 23"/>
          <p:cNvSpPr/>
          <p:nvPr/>
        </p:nvSpPr>
        <p:spPr>
          <a:xfrm>
            <a:off x="457200" y="4251960"/>
            <a:ext cx="457200" cy="457200"/>
          </a:xfrm>
          <a:prstGeom prst="ellipse">
            <a:avLst/>
          </a:prstGeom>
          <a:solidFill>
            <a:srgbClr val="065A82"/>
          </a:solidFill>
          <a:ln w="12700">
            <a:solidFill>
              <a:srgbClr val="065A82"/>
            </a:solidFill>
            <a:prstDash val="solid"/>
          </a:ln>
        </p:spPr>
        <p:txBody>
          <a:bodyPr/>
          <a:lstStyle/>
          <a:p>
            <a:endParaRPr lang="en-IN"/>
          </a:p>
        </p:txBody>
      </p:sp>
      <p:sp>
        <p:nvSpPr>
          <p:cNvPr id="26" name="Text 24"/>
          <p:cNvSpPr/>
          <p:nvPr/>
        </p:nvSpPr>
        <p:spPr>
          <a:xfrm>
            <a:off x="457200" y="425196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Shape 25"/>
          <p:cNvSpPr/>
          <p:nvPr/>
        </p:nvSpPr>
        <p:spPr>
          <a:xfrm>
            <a:off x="1051560" y="4206240"/>
            <a:ext cx="7635240" cy="566928"/>
          </a:xfrm>
          <a:prstGeom prst="rect">
            <a:avLst/>
          </a:prstGeom>
          <a:solidFill>
            <a:srgbClr val="EBF5FB"/>
          </a:solidFill>
          <a:ln w="6350">
            <a:solidFill>
              <a:srgbClr val="D6EAF8"/>
            </a:solidFill>
            <a:prstDash val="solid"/>
          </a:ln>
        </p:spPr>
        <p:txBody>
          <a:bodyPr/>
          <a:lstStyle/>
          <a:p>
            <a:endParaRPr lang="en-IN"/>
          </a:p>
        </p:txBody>
      </p:sp>
      <p:sp>
        <p:nvSpPr>
          <p:cNvPr id="28" name="Text 26"/>
          <p:cNvSpPr/>
          <p:nvPr/>
        </p:nvSpPr>
        <p:spPr>
          <a:xfrm>
            <a:off x="1143000" y="4242816"/>
            <a:ext cx="5029200" cy="256032"/>
          </a:xfrm>
          <a:prstGeom prst="rect">
            <a:avLst/>
          </a:prstGeom>
          <a:noFill/>
          <a:ln/>
        </p:spPr>
        <p:txBody>
          <a:bodyPr wrap="square" rtlCol="0" anchor="ctr"/>
          <a:lstStyle/>
          <a:p>
            <a:pPr marL="0" indent="0" algn="l">
              <a:buNone/>
            </a:pPr>
            <a:r>
              <a:rPr lang="en-US" sz="1100" b="1" dirty="0">
                <a:solidFill>
                  <a:srgbClr val="065A82"/>
                </a:solidFill>
                <a:latin typeface="Calibri" pitchFamily="34" charset="0"/>
                <a:ea typeface="Calibri" pitchFamily="34" charset="-122"/>
                <a:cs typeface="Calibri" pitchFamily="34" charset="-120"/>
              </a:rPr>
              <a:t>Daily Gallons — Gallons/day = Water (L/year) ÷ 3.785 ÷ 365</a:t>
            </a:r>
            <a:endParaRPr lang="en-US" sz="1100" dirty="0"/>
          </a:p>
        </p:txBody>
      </p:sp>
      <p:sp>
        <p:nvSpPr>
          <p:cNvPr id="29" name="Text 27"/>
          <p:cNvSpPr/>
          <p:nvPr/>
        </p:nvSpPr>
        <p:spPr>
          <a:xfrm>
            <a:off x="1143000" y="4498848"/>
            <a:ext cx="7406640" cy="228600"/>
          </a:xfrm>
          <a:prstGeom prst="rect">
            <a:avLst/>
          </a:prstGeom>
          <a:noFill/>
          <a:ln/>
        </p:spPr>
        <p:txBody>
          <a:bodyPr wrap="square" rtlCol="0" anchor="ctr"/>
          <a:lstStyle/>
          <a:p>
            <a:pPr marL="0" indent="0" algn="l">
              <a:buNone/>
            </a:pPr>
            <a:r>
              <a:rPr lang="en-US" sz="1000" i="1" dirty="0">
                <a:solidFill>
                  <a:srgbClr val="5D6D7E"/>
                </a:solidFill>
                <a:latin typeface="Calibri" pitchFamily="34" charset="0"/>
                <a:ea typeface="Calibri" pitchFamily="34" charset="-122"/>
                <a:cs typeface="Calibri" pitchFamily="34" charset="-120"/>
              </a:rPr>
              <a:t>→  Unit conversion to gallons/day for practical comparison.</a:t>
            </a:r>
            <a:endParaRPr lang="en-US" sz="1000" dirty="0"/>
          </a:p>
        </p:txBody>
      </p:sp>
      <p:sp>
        <p:nvSpPr>
          <p:cNvPr id="30" name="Text 28"/>
          <p:cNvSpPr/>
          <p:nvPr/>
        </p:nvSpPr>
        <p:spPr>
          <a:xfrm>
            <a:off x="457200" y="4846320"/>
            <a:ext cx="8229600" cy="228600"/>
          </a:xfrm>
          <a:prstGeom prst="rect">
            <a:avLst/>
          </a:prstGeom>
          <a:noFill/>
          <a:ln/>
        </p:spPr>
        <p:txBody>
          <a:bodyPr wrap="square" rtlCol="0" anchor="ctr"/>
          <a:lstStyle/>
          <a:p>
            <a:pPr marL="0" indent="0" algn="l">
              <a:buNone/>
            </a:pPr>
            <a:r>
              <a:rPr lang="en-US" sz="800" i="1" dirty="0">
                <a:solidFill>
                  <a:srgbClr val="5D6D7E"/>
                </a:solidFill>
                <a:latin typeface="Calibri" pitchFamily="34" charset="0"/>
                <a:ea typeface="Calibri" pitchFamily="34" charset="-122"/>
                <a:cs typeface="Calibri" pitchFamily="34" charset="-120"/>
              </a:rPr>
              <a:t>Sources: Lawrence Berkeley National Lab — Data Center Utilization (40-60%) | The Green Grid — WUE 1.9 L/kWh baseline | NOAA IAH Houston wet-bulb data — Houston WUE adjusted to 2.2 L/kWh</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310A84CE-847B-980F-998C-A96663434DA2}"/>
              </a:ext>
            </a:extLst>
          </p:cNvPr>
          <p:cNvPicPr>
            <a:picLocks noChangeAspect="1"/>
          </p:cNvPicPr>
          <p:nvPr/>
        </p:nvPicPr>
        <p:blipFill>
          <a:blip r:embed="rId2"/>
          <a:srcRect l="522" r="9240" b="1"/>
          <a:stretch>
            <a:fillRect/>
          </a:stretch>
        </p:blipFill>
        <p:spPr>
          <a:xfrm>
            <a:off x="20" y="961"/>
            <a:ext cx="9143980" cy="5142539"/>
          </a:xfrm>
          <a:prstGeom prst="rect">
            <a:avLst/>
          </a:prstGeom>
        </p:spPr>
      </p:pic>
    </p:spTree>
    <p:extLst>
      <p:ext uri="{BB962C8B-B14F-4D97-AF65-F5344CB8AC3E}">
        <p14:creationId xmlns:p14="http://schemas.microsoft.com/office/powerpoint/2010/main" val="2772042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084A9B1-BD6E-BFF2-D17C-F9742E14A6B1}"/>
              </a:ext>
            </a:extLst>
          </p:cNvPr>
          <p:cNvSpPr/>
          <p:nvPr/>
        </p:nvSpPr>
        <p:spPr>
          <a:xfrm>
            <a:off x="457200" y="320040"/>
            <a:ext cx="8229600" cy="594360"/>
          </a:xfrm>
          <a:prstGeom prst="rect">
            <a:avLst/>
          </a:prstGeom>
          <a:noFill/>
          <a:ln/>
        </p:spPr>
        <p:txBody>
          <a:bodyPr wrap="square" rtlCol="0" anchor="ctr"/>
          <a:lstStyle/>
          <a:p>
            <a:pPr marL="0" indent="0" algn="l">
              <a:buNone/>
            </a:pPr>
            <a:r>
              <a:rPr lang="en-US" sz="3000" b="1" dirty="0">
                <a:solidFill>
                  <a:srgbClr val="065A82"/>
                </a:solidFill>
                <a:latin typeface="Calibri" pitchFamily="34" charset="0"/>
                <a:ea typeface="Calibri" pitchFamily="34" charset="-122"/>
                <a:cs typeface="Calibri" pitchFamily="34" charset="-120"/>
              </a:rPr>
              <a:t>Supply vs Demand — The Key Finding</a:t>
            </a:r>
            <a:endParaRPr lang="en-US" sz="3000" dirty="0"/>
          </a:p>
        </p:txBody>
      </p:sp>
      <p:sp>
        <p:nvSpPr>
          <p:cNvPr id="3" name="Shape 1">
            <a:extLst>
              <a:ext uri="{FF2B5EF4-FFF2-40B4-BE49-F238E27FC236}">
                <a16:creationId xmlns:a16="http://schemas.microsoft.com/office/drawing/2014/main" id="{146B1AFC-B8A6-F8B9-2C9F-16EC76EB81EF}"/>
              </a:ext>
            </a:extLst>
          </p:cNvPr>
          <p:cNvSpPr/>
          <p:nvPr/>
        </p:nvSpPr>
        <p:spPr>
          <a:xfrm>
            <a:off x="457200" y="1024128"/>
            <a:ext cx="8229600" cy="36576"/>
          </a:xfrm>
          <a:prstGeom prst="rect">
            <a:avLst/>
          </a:prstGeom>
          <a:solidFill>
            <a:srgbClr val="02C39A"/>
          </a:solidFill>
          <a:ln w="12700">
            <a:solidFill>
              <a:srgbClr val="02C39A"/>
            </a:solidFill>
            <a:prstDash val="solid"/>
          </a:ln>
        </p:spPr>
        <p:txBody>
          <a:bodyPr/>
          <a:lstStyle/>
          <a:p>
            <a:endParaRPr lang="en-IN"/>
          </a:p>
        </p:txBody>
      </p:sp>
      <p:pic>
        <p:nvPicPr>
          <p:cNvPr id="8" name="Picture 7">
            <a:extLst>
              <a:ext uri="{FF2B5EF4-FFF2-40B4-BE49-F238E27FC236}">
                <a16:creationId xmlns:a16="http://schemas.microsoft.com/office/drawing/2014/main" id="{749D2162-47FD-57C0-D79E-6A597BE24F10}"/>
              </a:ext>
            </a:extLst>
          </p:cNvPr>
          <p:cNvPicPr>
            <a:picLocks noChangeAspect="1"/>
          </p:cNvPicPr>
          <p:nvPr/>
        </p:nvPicPr>
        <p:blipFill>
          <a:blip r:embed="rId2"/>
          <a:stretch>
            <a:fillRect/>
          </a:stretch>
        </p:blipFill>
        <p:spPr>
          <a:xfrm>
            <a:off x="291830" y="1084607"/>
            <a:ext cx="8852170" cy="3954049"/>
          </a:xfrm>
          <a:prstGeom prst="rect">
            <a:avLst/>
          </a:prstGeom>
        </p:spPr>
      </p:pic>
    </p:spTree>
    <p:extLst>
      <p:ext uri="{BB962C8B-B14F-4D97-AF65-F5344CB8AC3E}">
        <p14:creationId xmlns:p14="http://schemas.microsoft.com/office/powerpoint/2010/main" val="1253057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marL="0" indent="0" algn="l">
              <a:buNone/>
            </a:pPr>
            <a:r>
              <a:rPr lang="en-US" sz="3000" b="1" dirty="0">
                <a:solidFill>
                  <a:srgbClr val="065A82"/>
                </a:solidFill>
                <a:latin typeface="Calibri" pitchFamily="34" charset="0"/>
                <a:ea typeface="Calibri" pitchFamily="34" charset="-122"/>
                <a:cs typeface="Calibri" pitchFamily="34" charset="-120"/>
              </a:rPr>
              <a:t>Three Water Supply Scenarios Compared</a:t>
            </a:r>
            <a:endParaRPr lang="en-US" sz="3000" dirty="0"/>
          </a:p>
        </p:txBody>
      </p:sp>
      <p:sp>
        <p:nvSpPr>
          <p:cNvPr id="3" name="Shape 1"/>
          <p:cNvSpPr/>
          <p:nvPr/>
        </p:nvSpPr>
        <p:spPr>
          <a:xfrm>
            <a:off x="457200" y="1024128"/>
            <a:ext cx="8229600" cy="36576"/>
          </a:xfrm>
          <a:prstGeom prst="rect">
            <a:avLst/>
          </a:prstGeom>
          <a:solidFill>
            <a:srgbClr val="02C39A"/>
          </a:solidFill>
          <a:ln w="12700">
            <a:solidFill>
              <a:srgbClr val="02C39A"/>
            </a:solidFill>
            <a:prstDash val="solid"/>
          </a:ln>
        </p:spPr>
        <p:txBody>
          <a:bodyPr/>
          <a:lstStyle/>
          <a:p>
            <a:endParaRPr lang="en-IN"/>
          </a:p>
        </p:txBody>
      </p:sp>
      <p:sp>
        <p:nvSpPr>
          <p:cNvPr id="4" name="Shape 2"/>
          <p:cNvSpPr/>
          <p:nvPr/>
        </p:nvSpPr>
        <p:spPr>
          <a:xfrm>
            <a:off x="457200" y="1188720"/>
            <a:ext cx="2651760" cy="3703320"/>
          </a:xfrm>
          <a:prstGeom prst="rect">
            <a:avLst/>
          </a:prstGeom>
          <a:solidFill>
            <a:srgbClr val="FFFFFF"/>
          </a:solidFill>
          <a:ln w="12700">
            <a:solidFill>
              <a:srgbClr val="D6EAF8"/>
            </a:solidFill>
            <a:prstDash val="solid"/>
          </a:ln>
          <a:effectLst>
            <a:outerShdw blurRad="101600" dist="38100" dir="8100000" algn="bl" rotWithShape="0">
              <a:srgbClr val="000000">
                <a:alpha val="10000"/>
              </a:srgbClr>
            </a:outerShdw>
          </a:effectLst>
        </p:spPr>
        <p:txBody>
          <a:bodyPr/>
          <a:lstStyle/>
          <a:p>
            <a:endParaRPr lang="en-IN"/>
          </a:p>
        </p:txBody>
      </p:sp>
      <p:sp>
        <p:nvSpPr>
          <p:cNvPr id="5" name="Shape 3"/>
          <p:cNvSpPr/>
          <p:nvPr/>
        </p:nvSpPr>
        <p:spPr>
          <a:xfrm>
            <a:off x="457200" y="1188720"/>
            <a:ext cx="2651760" cy="777240"/>
          </a:xfrm>
          <a:prstGeom prst="rect">
            <a:avLst/>
          </a:prstGeom>
          <a:solidFill>
            <a:srgbClr val="E74C3C"/>
          </a:solidFill>
          <a:ln w="12700">
            <a:solidFill>
              <a:srgbClr val="E74C3C"/>
            </a:solidFill>
            <a:prstDash val="solid"/>
          </a:ln>
        </p:spPr>
        <p:txBody>
          <a:bodyPr/>
          <a:lstStyle/>
          <a:p>
            <a:endParaRPr lang="en-IN"/>
          </a:p>
        </p:txBody>
      </p:sp>
      <p:sp>
        <p:nvSpPr>
          <p:cNvPr id="6" name="Text 4"/>
          <p:cNvSpPr/>
          <p:nvPr/>
        </p:nvSpPr>
        <p:spPr>
          <a:xfrm>
            <a:off x="457200" y="1188720"/>
            <a:ext cx="502920" cy="77724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7" name="Text 5"/>
          <p:cNvSpPr/>
          <p:nvPr/>
        </p:nvSpPr>
        <p:spPr>
          <a:xfrm>
            <a:off x="987552" y="1207008"/>
            <a:ext cx="2084832" cy="749808"/>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Municipal Potable Water</a:t>
            </a:r>
            <a:endParaRPr lang="en-US" sz="1100" dirty="0"/>
          </a:p>
          <a:p>
            <a:pPr marL="0" indent="0" algn="l">
              <a:buNone/>
            </a:pPr>
            <a:r>
              <a:rPr lang="en-US" sz="1100" b="1" dirty="0">
                <a:solidFill>
                  <a:srgbClr val="FFFFFF"/>
                </a:solidFill>
                <a:latin typeface="Calibri" pitchFamily="34" charset="0"/>
                <a:ea typeface="Calibri" pitchFamily="34" charset="-122"/>
                <a:cs typeface="Calibri" pitchFamily="34" charset="-120"/>
              </a:rPr>
              <a:t>Status Quo — Baseline</a:t>
            </a:r>
            <a:endParaRPr lang="en-US" sz="1100" dirty="0"/>
          </a:p>
        </p:txBody>
      </p:sp>
      <p:sp>
        <p:nvSpPr>
          <p:cNvPr id="8" name="Shape 6"/>
          <p:cNvSpPr/>
          <p:nvPr/>
        </p:nvSpPr>
        <p:spPr>
          <a:xfrm>
            <a:off x="548640" y="2029968"/>
            <a:ext cx="2468880" cy="384048"/>
          </a:xfrm>
          <a:prstGeom prst="rect">
            <a:avLst/>
          </a:prstGeom>
          <a:solidFill>
            <a:srgbClr val="E74C3C">
              <a:alpha val="15000"/>
            </a:srgbClr>
          </a:solidFill>
          <a:ln w="12700">
            <a:solidFill>
              <a:srgbClr val="E74C3C"/>
            </a:solidFill>
            <a:prstDash val="solid"/>
          </a:ln>
        </p:spPr>
        <p:txBody>
          <a:bodyPr/>
          <a:lstStyle/>
          <a:p>
            <a:endParaRPr lang="en-IN"/>
          </a:p>
        </p:txBody>
      </p:sp>
      <p:sp>
        <p:nvSpPr>
          <p:cNvPr id="9" name="Text 7"/>
          <p:cNvSpPr/>
          <p:nvPr/>
        </p:nvSpPr>
        <p:spPr>
          <a:xfrm>
            <a:off x="548640" y="2029968"/>
            <a:ext cx="2468880" cy="384048"/>
          </a:xfrm>
          <a:prstGeom prst="rect">
            <a:avLst/>
          </a:prstGeom>
          <a:noFill/>
          <a:ln/>
        </p:spPr>
        <p:txBody>
          <a:bodyPr wrap="square" rtlCol="0" anchor="ctr"/>
          <a:lstStyle/>
          <a:p>
            <a:pPr marL="0" indent="0" algn="ctr">
              <a:buNone/>
            </a:pPr>
            <a:r>
              <a:rPr lang="en-US" sz="1300" b="1" dirty="0">
                <a:solidFill>
                  <a:srgbClr val="E74C3C"/>
                </a:solidFill>
                <a:latin typeface="Calibri" pitchFamily="34" charset="0"/>
                <a:ea typeface="Calibri" pitchFamily="34" charset="-122"/>
                <a:cs typeface="Calibri" pitchFamily="34" charset="-120"/>
              </a:rPr>
              <a:t>$12.45 / 1,000 gal</a:t>
            </a:r>
            <a:endParaRPr lang="en-US" sz="1300" dirty="0"/>
          </a:p>
        </p:txBody>
      </p:sp>
      <p:sp>
        <p:nvSpPr>
          <p:cNvPr id="11" name="Text 9"/>
          <p:cNvSpPr/>
          <p:nvPr/>
        </p:nvSpPr>
        <p:spPr>
          <a:xfrm>
            <a:off x="786384" y="2505456"/>
            <a:ext cx="2231136" cy="420624"/>
          </a:xfrm>
          <a:prstGeom prst="rect">
            <a:avLst/>
          </a:prstGeom>
          <a:noFill/>
          <a:ln/>
        </p:spPr>
        <p:txBody>
          <a:bodyPr wrap="square" rtlCol="0" anchor="ctr"/>
          <a:lstStyle/>
          <a:p>
            <a:pPr marL="0" indent="0" algn="l">
              <a:buNone/>
            </a:pPr>
            <a:r>
              <a:rPr lang="en-US" sz="1000" dirty="0">
                <a:solidFill>
                  <a:srgbClr val="2C3E50"/>
                </a:solidFill>
                <a:latin typeface="Calibri" pitchFamily="34" charset="0"/>
                <a:ea typeface="Calibri" pitchFamily="34" charset="-122"/>
                <a:cs typeface="Calibri" pitchFamily="34" charset="-120"/>
              </a:rPr>
              <a:t>Continue buying city potable water</a:t>
            </a:r>
            <a:endParaRPr lang="en-US" sz="1000" dirty="0"/>
          </a:p>
        </p:txBody>
      </p:sp>
      <p:sp>
        <p:nvSpPr>
          <p:cNvPr id="13" name="Text 11"/>
          <p:cNvSpPr/>
          <p:nvPr/>
        </p:nvSpPr>
        <p:spPr>
          <a:xfrm>
            <a:off x="786384" y="2980944"/>
            <a:ext cx="2231136" cy="420624"/>
          </a:xfrm>
          <a:prstGeom prst="rect">
            <a:avLst/>
          </a:prstGeom>
          <a:noFill/>
          <a:ln/>
        </p:spPr>
        <p:txBody>
          <a:bodyPr wrap="square" rtlCol="0" anchor="ctr"/>
          <a:lstStyle/>
          <a:p>
            <a:pPr marL="0" indent="0" algn="l">
              <a:buNone/>
            </a:pPr>
            <a:r>
              <a:rPr lang="en-US" sz="1000" dirty="0">
                <a:solidFill>
                  <a:srgbClr val="2C3E50"/>
                </a:solidFill>
                <a:latin typeface="Calibri" pitchFamily="34" charset="0"/>
                <a:ea typeface="Calibri" pitchFamily="34" charset="-122"/>
                <a:cs typeface="Calibri" pitchFamily="34" charset="-120"/>
              </a:rPr>
              <a:t>No capital investment required</a:t>
            </a:r>
            <a:endParaRPr lang="en-US" sz="1000" dirty="0"/>
          </a:p>
        </p:txBody>
      </p:sp>
      <p:sp>
        <p:nvSpPr>
          <p:cNvPr id="15" name="Text 13"/>
          <p:cNvSpPr/>
          <p:nvPr/>
        </p:nvSpPr>
        <p:spPr>
          <a:xfrm>
            <a:off x="786384" y="3456432"/>
            <a:ext cx="2231136" cy="420624"/>
          </a:xfrm>
          <a:prstGeom prst="rect">
            <a:avLst/>
          </a:prstGeom>
          <a:noFill/>
          <a:ln/>
        </p:spPr>
        <p:txBody>
          <a:bodyPr wrap="square" rtlCol="0" anchor="ctr"/>
          <a:lstStyle/>
          <a:p>
            <a:pPr marL="0" indent="0" algn="l">
              <a:buNone/>
            </a:pPr>
            <a:r>
              <a:rPr lang="en-US" sz="1000" dirty="0">
                <a:solidFill>
                  <a:srgbClr val="2C3E50"/>
                </a:solidFill>
                <a:latin typeface="Calibri" pitchFamily="34" charset="0"/>
                <a:ea typeface="Calibri" pitchFamily="34" charset="-122"/>
                <a:cs typeface="Calibri" pitchFamily="34" charset="-120"/>
              </a:rPr>
              <a:t>Commercial/Industrial rate — Houston Public Works 2024</a:t>
            </a:r>
            <a:endParaRPr lang="en-US" sz="1000" dirty="0"/>
          </a:p>
        </p:txBody>
      </p:sp>
      <p:sp>
        <p:nvSpPr>
          <p:cNvPr id="17" name="Text 15"/>
          <p:cNvSpPr/>
          <p:nvPr/>
        </p:nvSpPr>
        <p:spPr>
          <a:xfrm>
            <a:off x="786384" y="3931920"/>
            <a:ext cx="2231136" cy="420624"/>
          </a:xfrm>
          <a:prstGeom prst="rect">
            <a:avLst/>
          </a:prstGeom>
          <a:noFill/>
          <a:ln/>
        </p:spPr>
        <p:txBody>
          <a:bodyPr wrap="square" rtlCol="0" anchor="ctr"/>
          <a:lstStyle/>
          <a:p>
            <a:pPr marL="0" indent="0" algn="l">
              <a:buNone/>
            </a:pPr>
            <a:r>
              <a:rPr lang="en-US" sz="1000" dirty="0">
                <a:solidFill>
                  <a:srgbClr val="2C3E50"/>
                </a:solidFill>
                <a:latin typeface="Calibri" pitchFamily="34" charset="0"/>
                <a:ea typeface="Calibri" pitchFamily="34" charset="-122"/>
                <a:cs typeface="Calibri" pitchFamily="34" charset="-120"/>
              </a:rPr>
              <a:t>This is what data centers pay TODAY</a:t>
            </a:r>
            <a:endParaRPr lang="en-US" sz="1000" dirty="0"/>
          </a:p>
        </p:txBody>
      </p:sp>
      <p:sp>
        <p:nvSpPr>
          <p:cNvPr id="19" name="Text 17"/>
          <p:cNvSpPr/>
          <p:nvPr/>
        </p:nvSpPr>
        <p:spPr>
          <a:xfrm>
            <a:off x="786384" y="4407408"/>
            <a:ext cx="2231136" cy="420624"/>
          </a:xfrm>
          <a:prstGeom prst="rect">
            <a:avLst/>
          </a:prstGeom>
          <a:noFill/>
          <a:ln/>
        </p:spPr>
        <p:txBody>
          <a:bodyPr wrap="square" rtlCol="0" anchor="ctr"/>
          <a:lstStyle/>
          <a:p>
            <a:pPr marL="0" indent="0" algn="l">
              <a:buNone/>
            </a:pPr>
            <a:r>
              <a:rPr lang="en-US" sz="1000" dirty="0">
                <a:solidFill>
                  <a:srgbClr val="2C3E50"/>
                </a:solidFill>
                <a:latin typeface="Calibri" pitchFamily="34" charset="0"/>
                <a:ea typeface="Calibri" pitchFamily="34" charset="-122"/>
                <a:cs typeface="Calibri" pitchFamily="34" charset="-120"/>
              </a:rPr>
              <a:t>Subject to drought restrictions and price increases</a:t>
            </a:r>
            <a:endParaRPr lang="en-US" sz="1000" dirty="0"/>
          </a:p>
        </p:txBody>
      </p:sp>
      <p:sp>
        <p:nvSpPr>
          <p:cNvPr id="20" name="Shape 18"/>
          <p:cNvSpPr/>
          <p:nvPr/>
        </p:nvSpPr>
        <p:spPr>
          <a:xfrm>
            <a:off x="3264408" y="1188720"/>
            <a:ext cx="2651760" cy="3703320"/>
          </a:xfrm>
          <a:prstGeom prst="rect">
            <a:avLst/>
          </a:prstGeom>
          <a:solidFill>
            <a:srgbClr val="FFFFFF"/>
          </a:solidFill>
          <a:ln w="12700">
            <a:solidFill>
              <a:srgbClr val="D6EAF8"/>
            </a:solidFill>
            <a:prstDash val="solid"/>
          </a:ln>
          <a:effectLst>
            <a:outerShdw blurRad="101600" dist="38100" dir="8100000" algn="bl" rotWithShape="0">
              <a:srgbClr val="000000">
                <a:alpha val="10000"/>
              </a:srgbClr>
            </a:outerShdw>
          </a:effectLst>
        </p:spPr>
        <p:txBody>
          <a:bodyPr/>
          <a:lstStyle/>
          <a:p>
            <a:endParaRPr lang="en-IN"/>
          </a:p>
        </p:txBody>
      </p:sp>
      <p:sp>
        <p:nvSpPr>
          <p:cNvPr id="21" name="Shape 19"/>
          <p:cNvSpPr/>
          <p:nvPr/>
        </p:nvSpPr>
        <p:spPr>
          <a:xfrm>
            <a:off x="3264408" y="1188720"/>
            <a:ext cx="2651760" cy="777240"/>
          </a:xfrm>
          <a:prstGeom prst="rect">
            <a:avLst/>
          </a:prstGeom>
          <a:solidFill>
            <a:srgbClr val="E67E22"/>
          </a:solidFill>
          <a:ln w="12700">
            <a:solidFill>
              <a:srgbClr val="E67E22"/>
            </a:solidFill>
            <a:prstDash val="solid"/>
          </a:ln>
        </p:spPr>
        <p:txBody>
          <a:bodyPr/>
          <a:lstStyle/>
          <a:p>
            <a:endParaRPr lang="en-IN"/>
          </a:p>
        </p:txBody>
      </p:sp>
      <p:sp>
        <p:nvSpPr>
          <p:cNvPr id="22" name="Text 20"/>
          <p:cNvSpPr/>
          <p:nvPr/>
        </p:nvSpPr>
        <p:spPr>
          <a:xfrm>
            <a:off x="3264408" y="1188720"/>
            <a:ext cx="502920" cy="77724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23" name="Text 21"/>
          <p:cNvSpPr/>
          <p:nvPr/>
        </p:nvSpPr>
        <p:spPr>
          <a:xfrm>
            <a:off x="3794760" y="1207008"/>
            <a:ext cx="2084832" cy="749808"/>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Existing Reclamation Facility</a:t>
            </a:r>
            <a:endParaRPr lang="en-US" sz="1100" dirty="0"/>
          </a:p>
          <a:p>
            <a:pPr marL="0" indent="0" algn="l">
              <a:buNone/>
            </a:pPr>
            <a:r>
              <a:rPr lang="en-US" sz="1100" b="1" dirty="0">
                <a:solidFill>
                  <a:srgbClr val="FFFFFF"/>
                </a:solidFill>
                <a:latin typeface="Calibri" pitchFamily="34" charset="0"/>
                <a:ea typeface="Calibri" pitchFamily="34" charset="-122"/>
                <a:cs typeface="Calibri" pitchFamily="34" charset="-120"/>
              </a:rPr>
              <a:t>Use City Infrastructure</a:t>
            </a:r>
            <a:endParaRPr lang="en-US" sz="1100" dirty="0"/>
          </a:p>
        </p:txBody>
      </p:sp>
      <p:sp>
        <p:nvSpPr>
          <p:cNvPr id="24" name="Shape 22"/>
          <p:cNvSpPr/>
          <p:nvPr/>
        </p:nvSpPr>
        <p:spPr>
          <a:xfrm>
            <a:off x="3355848" y="2029968"/>
            <a:ext cx="2468880" cy="384048"/>
          </a:xfrm>
          <a:prstGeom prst="rect">
            <a:avLst/>
          </a:prstGeom>
          <a:solidFill>
            <a:srgbClr val="E67E22">
              <a:alpha val="15000"/>
            </a:srgbClr>
          </a:solidFill>
          <a:ln w="12700">
            <a:solidFill>
              <a:srgbClr val="E67E22"/>
            </a:solidFill>
            <a:prstDash val="solid"/>
          </a:ln>
        </p:spPr>
        <p:txBody>
          <a:bodyPr/>
          <a:lstStyle/>
          <a:p>
            <a:endParaRPr lang="en-IN"/>
          </a:p>
        </p:txBody>
      </p:sp>
      <p:sp>
        <p:nvSpPr>
          <p:cNvPr id="25" name="Text 23"/>
          <p:cNvSpPr/>
          <p:nvPr/>
        </p:nvSpPr>
        <p:spPr>
          <a:xfrm>
            <a:off x="3355848" y="2029968"/>
            <a:ext cx="2468880" cy="384048"/>
          </a:xfrm>
          <a:prstGeom prst="rect">
            <a:avLst/>
          </a:prstGeom>
          <a:noFill/>
          <a:ln/>
        </p:spPr>
        <p:txBody>
          <a:bodyPr wrap="square" rtlCol="0" anchor="ctr"/>
          <a:lstStyle/>
          <a:p>
            <a:pPr marL="0" indent="0" algn="ctr">
              <a:buNone/>
            </a:pPr>
            <a:r>
              <a:rPr lang="en-US" sz="1300" b="1" dirty="0">
                <a:solidFill>
                  <a:srgbClr val="E67E22"/>
                </a:solidFill>
                <a:latin typeface="Calibri" pitchFamily="34" charset="0"/>
                <a:ea typeface="Calibri" pitchFamily="34" charset="-122"/>
                <a:cs typeface="Calibri" pitchFamily="34" charset="-120"/>
              </a:rPr>
              <a:t>$7.50 / 1,000 gal</a:t>
            </a:r>
            <a:endParaRPr lang="en-US" sz="1300" dirty="0"/>
          </a:p>
        </p:txBody>
      </p:sp>
      <p:sp>
        <p:nvSpPr>
          <p:cNvPr id="27" name="Text 25"/>
          <p:cNvSpPr/>
          <p:nvPr/>
        </p:nvSpPr>
        <p:spPr>
          <a:xfrm>
            <a:off x="3593592" y="2505456"/>
            <a:ext cx="2231136" cy="420624"/>
          </a:xfrm>
          <a:prstGeom prst="rect">
            <a:avLst/>
          </a:prstGeom>
          <a:noFill/>
          <a:ln/>
        </p:spPr>
        <p:txBody>
          <a:bodyPr wrap="square" rtlCol="0" anchor="ctr"/>
          <a:lstStyle/>
          <a:p>
            <a:pPr marL="0" indent="0" algn="l">
              <a:buNone/>
            </a:pPr>
            <a:r>
              <a:rPr lang="en-US" sz="1000" dirty="0">
                <a:solidFill>
                  <a:srgbClr val="2C3E50"/>
                </a:solidFill>
                <a:latin typeface="Calibri" pitchFamily="34" charset="0"/>
                <a:ea typeface="Calibri" pitchFamily="34" charset="-122"/>
                <a:cs typeface="Calibri" pitchFamily="34" charset="-120"/>
              </a:rPr>
              <a:t>Contract with 69th Street or Almeda Sims plant</a:t>
            </a:r>
            <a:endParaRPr lang="en-US" sz="1000" dirty="0"/>
          </a:p>
        </p:txBody>
      </p:sp>
      <p:sp>
        <p:nvSpPr>
          <p:cNvPr id="29" name="Text 27"/>
          <p:cNvSpPr/>
          <p:nvPr/>
        </p:nvSpPr>
        <p:spPr>
          <a:xfrm>
            <a:off x="3593592" y="2980944"/>
            <a:ext cx="2231136" cy="420624"/>
          </a:xfrm>
          <a:prstGeom prst="rect">
            <a:avLst/>
          </a:prstGeom>
          <a:noFill/>
          <a:ln/>
        </p:spPr>
        <p:txBody>
          <a:bodyPr wrap="square" rtlCol="0" anchor="ctr"/>
          <a:lstStyle/>
          <a:p>
            <a:pPr marL="0" indent="0" algn="l">
              <a:buNone/>
            </a:pPr>
            <a:r>
              <a:rPr lang="en-US" sz="1000" dirty="0">
                <a:solidFill>
                  <a:srgbClr val="2C3E50"/>
                </a:solidFill>
                <a:latin typeface="Calibri" pitchFamily="34" charset="0"/>
                <a:ea typeface="Calibri" pitchFamily="34" charset="-122"/>
                <a:cs typeface="Calibri" pitchFamily="34" charset="-120"/>
              </a:rPr>
              <a:t>No capital investment needed</a:t>
            </a:r>
            <a:endParaRPr lang="en-US" sz="1000" dirty="0"/>
          </a:p>
        </p:txBody>
      </p:sp>
      <p:sp>
        <p:nvSpPr>
          <p:cNvPr id="31" name="Text 29"/>
          <p:cNvSpPr/>
          <p:nvPr/>
        </p:nvSpPr>
        <p:spPr>
          <a:xfrm>
            <a:off x="3593592" y="3456432"/>
            <a:ext cx="2231136" cy="420624"/>
          </a:xfrm>
          <a:prstGeom prst="rect">
            <a:avLst/>
          </a:prstGeom>
          <a:noFill/>
          <a:ln/>
        </p:spPr>
        <p:txBody>
          <a:bodyPr wrap="square" rtlCol="0" anchor="ctr"/>
          <a:lstStyle/>
          <a:p>
            <a:pPr marL="0" indent="0" algn="l">
              <a:buNone/>
            </a:pPr>
            <a:r>
              <a:rPr lang="en-US" sz="1000" dirty="0">
                <a:solidFill>
                  <a:srgbClr val="2C3E50"/>
                </a:solidFill>
                <a:latin typeface="Calibri" pitchFamily="34" charset="0"/>
                <a:ea typeface="Calibri" pitchFamily="34" charset="-122"/>
                <a:cs typeface="Calibri" pitchFamily="34" charset="-120"/>
              </a:rPr>
              <a:t>Reclaimed access: $5.50 + UF/RO treatment: $2.00</a:t>
            </a:r>
            <a:endParaRPr lang="en-US" sz="1000" dirty="0"/>
          </a:p>
        </p:txBody>
      </p:sp>
      <p:sp>
        <p:nvSpPr>
          <p:cNvPr id="33" name="Text 31"/>
          <p:cNvSpPr/>
          <p:nvPr/>
        </p:nvSpPr>
        <p:spPr>
          <a:xfrm>
            <a:off x="3593592" y="3931920"/>
            <a:ext cx="2231136" cy="420624"/>
          </a:xfrm>
          <a:prstGeom prst="rect">
            <a:avLst/>
          </a:prstGeom>
          <a:noFill/>
          <a:ln/>
        </p:spPr>
        <p:txBody>
          <a:bodyPr wrap="square" rtlCol="0" anchor="ctr"/>
          <a:lstStyle/>
          <a:p>
            <a:pPr marL="0" indent="0" algn="l">
              <a:buNone/>
            </a:pPr>
            <a:r>
              <a:rPr lang="en-US" sz="1000" dirty="0">
                <a:solidFill>
                  <a:srgbClr val="2C3E50"/>
                </a:solidFill>
                <a:latin typeface="Calibri" pitchFamily="34" charset="0"/>
                <a:ea typeface="Calibri" pitchFamily="34" charset="-122"/>
                <a:cs typeface="Calibri" pitchFamily="34" charset="-120"/>
              </a:rPr>
              <a:t>Water ready for cooling from Day 1</a:t>
            </a:r>
            <a:endParaRPr lang="en-US" sz="1000" dirty="0"/>
          </a:p>
        </p:txBody>
      </p:sp>
      <p:sp>
        <p:nvSpPr>
          <p:cNvPr id="35" name="Text 33"/>
          <p:cNvSpPr/>
          <p:nvPr/>
        </p:nvSpPr>
        <p:spPr>
          <a:xfrm>
            <a:off x="3593592" y="4407408"/>
            <a:ext cx="2231136" cy="420624"/>
          </a:xfrm>
          <a:prstGeom prst="rect">
            <a:avLst/>
          </a:prstGeom>
          <a:noFill/>
          <a:ln/>
        </p:spPr>
        <p:txBody>
          <a:bodyPr wrap="square" rtlCol="0" anchor="ctr"/>
          <a:lstStyle/>
          <a:p>
            <a:pPr marL="0" indent="0" algn="l">
              <a:buNone/>
            </a:pPr>
            <a:r>
              <a:rPr lang="en-US" sz="1000" dirty="0">
                <a:solidFill>
                  <a:srgbClr val="2C3E50"/>
                </a:solidFill>
                <a:latin typeface="Calibri" pitchFamily="34" charset="0"/>
                <a:ea typeface="Calibri" pitchFamily="34" charset="-122"/>
                <a:cs typeface="Calibri" pitchFamily="34" charset="-120"/>
              </a:rPr>
              <a:t>40% cheaper than municipal immediately</a:t>
            </a:r>
            <a:endParaRPr lang="en-US" sz="1000" dirty="0"/>
          </a:p>
        </p:txBody>
      </p:sp>
      <p:sp>
        <p:nvSpPr>
          <p:cNvPr id="36" name="Shape 34"/>
          <p:cNvSpPr/>
          <p:nvPr/>
        </p:nvSpPr>
        <p:spPr>
          <a:xfrm>
            <a:off x="6071616" y="1188720"/>
            <a:ext cx="2651760" cy="3703320"/>
          </a:xfrm>
          <a:prstGeom prst="rect">
            <a:avLst/>
          </a:prstGeom>
          <a:solidFill>
            <a:srgbClr val="FFFFFF"/>
          </a:solidFill>
          <a:ln w="12700">
            <a:solidFill>
              <a:srgbClr val="D6EAF8"/>
            </a:solidFill>
            <a:prstDash val="solid"/>
          </a:ln>
          <a:effectLst>
            <a:outerShdw blurRad="101600" dist="38100" dir="8100000" algn="bl" rotWithShape="0">
              <a:srgbClr val="000000">
                <a:alpha val="10000"/>
              </a:srgbClr>
            </a:outerShdw>
          </a:effectLst>
        </p:spPr>
        <p:txBody>
          <a:bodyPr/>
          <a:lstStyle/>
          <a:p>
            <a:endParaRPr lang="en-IN"/>
          </a:p>
        </p:txBody>
      </p:sp>
      <p:sp>
        <p:nvSpPr>
          <p:cNvPr id="37" name="Shape 35"/>
          <p:cNvSpPr/>
          <p:nvPr/>
        </p:nvSpPr>
        <p:spPr>
          <a:xfrm>
            <a:off x="6071616" y="1188720"/>
            <a:ext cx="2651760" cy="777240"/>
          </a:xfrm>
          <a:prstGeom prst="rect">
            <a:avLst/>
          </a:prstGeom>
          <a:solidFill>
            <a:srgbClr val="02C39A"/>
          </a:solidFill>
          <a:ln w="12700">
            <a:solidFill>
              <a:srgbClr val="02C39A"/>
            </a:solidFill>
            <a:prstDash val="solid"/>
          </a:ln>
        </p:spPr>
        <p:txBody>
          <a:bodyPr/>
          <a:lstStyle/>
          <a:p>
            <a:endParaRPr lang="en-IN"/>
          </a:p>
        </p:txBody>
      </p:sp>
      <p:sp>
        <p:nvSpPr>
          <p:cNvPr id="38" name="Text 36"/>
          <p:cNvSpPr/>
          <p:nvPr/>
        </p:nvSpPr>
        <p:spPr>
          <a:xfrm>
            <a:off x="6071616" y="1188720"/>
            <a:ext cx="502920" cy="77724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39" name="Text 37"/>
          <p:cNvSpPr/>
          <p:nvPr/>
        </p:nvSpPr>
        <p:spPr>
          <a:xfrm>
            <a:off x="6601968" y="1207008"/>
            <a:ext cx="2084832" cy="749808"/>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Build Onsite UF+RO Plant</a:t>
            </a:r>
            <a:endParaRPr lang="en-US" sz="1100" dirty="0"/>
          </a:p>
          <a:p>
            <a:pPr marL="0" indent="0" algn="l">
              <a:buNone/>
            </a:pPr>
            <a:r>
              <a:rPr lang="en-US" sz="1100" b="1" dirty="0">
                <a:solidFill>
                  <a:srgbClr val="FFFFFF"/>
                </a:solidFill>
                <a:latin typeface="Calibri" pitchFamily="34" charset="0"/>
                <a:ea typeface="Calibri" pitchFamily="34" charset="-122"/>
                <a:cs typeface="Calibri" pitchFamily="34" charset="-120"/>
              </a:rPr>
              <a:t>Own Infrastructure</a:t>
            </a:r>
            <a:endParaRPr lang="en-US" sz="1100" dirty="0"/>
          </a:p>
        </p:txBody>
      </p:sp>
      <p:sp>
        <p:nvSpPr>
          <p:cNvPr id="40" name="Shape 38"/>
          <p:cNvSpPr/>
          <p:nvPr/>
        </p:nvSpPr>
        <p:spPr>
          <a:xfrm>
            <a:off x="6163056" y="2029968"/>
            <a:ext cx="2468880" cy="384048"/>
          </a:xfrm>
          <a:prstGeom prst="rect">
            <a:avLst/>
          </a:prstGeom>
          <a:solidFill>
            <a:srgbClr val="02C39A">
              <a:alpha val="15000"/>
            </a:srgbClr>
          </a:solidFill>
          <a:ln w="12700">
            <a:solidFill>
              <a:srgbClr val="02C39A"/>
            </a:solidFill>
            <a:prstDash val="solid"/>
          </a:ln>
        </p:spPr>
        <p:txBody>
          <a:bodyPr/>
          <a:lstStyle/>
          <a:p>
            <a:endParaRPr lang="en-IN"/>
          </a:p>
        </p:txBody>
      </p:sp>
      <p:sp>
        <p:nvSpPr>
          <p:cNvPr id="41" name="Text 39"/>
          <p:cNvSpPr/>
          <p:nvPr/>
        </p:nvSpPr>
        <p:spPr>
          <a:xfrm>
            <a:off x="6163056" y="2029968"/>
            <a:ext cx="2468880" cy="384048"/>
          </a:xfrm>
          <a:prstGeom prst="rect">
            <a:avLst/>
          </a:prstGeom>
          <a:noFill/>
          <a:ln/>
        </p:spPr>
        <p:txBody>
          <a:bodyPr wrap="square"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$1.05–$1.64 / 1,000 gal</a:t>
            </a:r>
            <a:endParaRPr lang="en-US" sz="1300" dirty="0"/>
          </a:p>
        </p:txBody>
      </p:sp>
      <p:sp>
        <p:nvSpPr>
          <p:cNvPr id="43" name="Text 41"/>
          <p:cNvSpPr/>
          <p:nvPr/>
        </p:nvSpPr>
        <p:spPr>
          <a:xfrm>
            <a:off x="6400800" y="2505456"/>
            <a:ext cx="2231136" cy="420624"/>
          </a:xfrm>
          <a:prstGeom prst="rect">
            <a:avLst/>
          </a:prstGeom>
          <a:noFill/>
          <a:ln/>
        </p:spPr>
        <p:txBody>
          <a:bodyPr wrap="square" rtlCol="0" anchor="ctr"/>
          <a:lstStyle/>
          <a:p>
            <a:pPr marL="0" indent="0" algn="l">
              <a:buNone/>
            </a:pPr>
            <a:r>
              <a:rPr lang="en-US" sz="1000" dirty="0">
                <a:solidFill>
                  <a:srgbClr val="2C3E50"/>
                </a:solidFill>
                <a:latin typeface="Calibri" pitchFamily="34" charset="0"/>
                <a:ea typeface="Calibri" pitchFamily="34" charset="-122"/>
                <a:cs typeface="Calibri" pitchFamily="34" charset="-120"/>
              </a:rPr>
              <a:t>Data center builds its own treatment system</a:t>
            </a:r>
            <a:endParaRPr lang="en-US" sz="1000" dirty="0"/>
          </a:p>
        </p:txBody>
      </p:sp>
      <p:sp>
        <p:nvSpPr>
          <p:cNvPr id="45" name="Text 43"/>
          <p:cNvSpPr/>
          <p:nvPr/>
        </p:nvSpPr>
        <p:spPr>
          <a:xfrm>
            <a:off x="6400800" y="2980944"/>
            <a:ext cx="2231136" cy="420624"/>
          </a:xfrm>
          <a:prstGeom prst="rect">
            <a:avLst/>
          </a:prstGeom>
          <a:noFill/>
          <a:ln/>
        </p:spPr>
        <p:txBody>
          <a:bodyPr wrap="square" rtlCol="0" anchor="ctr"/>
          <a:lstStyle/>
          <a:p>
            <a:pPr marL="0" indent="0" algn="l">
              <a:buNone/>
            </a:pPr>
            <a:r>
              <a:rPr lang="en-US" sz="1000" dirty="0">
                <a:solidFill>
                  <a:srgbClr val="2C3E50"/>
                </a:solidFill>
                <a:latin typeface="Calibri" pitchFamily="34" charset="0"/>
                <a:ea typeface="Calibri" pitchFamily="34" charset="-122"/>
                <a:cs typeface="Calibri" pitchFamily="34" charset="-120"/>
              </a:rPr>
              <a:t>Large upfront capital investment required</a:t>
            </a:r>
            <a:endParaRPr lang="en-US" sz="1000" dirty="0"/>
          </a:p>
        </p:txBody>
      </p:sp>
      <p:sp>
        <p:nvSpPr>
          <p:cNvPr id="47" name="Text 45"/>
          <p:cNvSpPr/>
          <p:nvPr/>
        </p:nvSpPr>
        <p:spPr>
          <a:xfrm>
            <a:off x="6400800" y="3456432"/>
            <a:ext cx="2231136" cy="420624"/>
          </a:xfrm>
          <a:prstGeom prst="rect">
            <a:avLst/>
          </a:prstGeom>
          <a:noFill/>
          <a:ln/>
        </p:spPr>
        <p:txBody>
          <a:bodyPr wrap="square" rtlCol="0" anchor="ctr"/>
          <a:lstStyle/>
          <a:p>
            <a:pPr marL="0" indent="0" algn="l">
              <a:buNone/>
            </a:pPr>
            <a:r>
              <a:rPr lang="en-US" sz="1000" dirty="0">
                <a:solidFill>
                  <a:srgbClr val="2C3E50"/>
                </a:solidFill>
                <a:latin typeface="Calibri" pitchFamily="34" charset="0"/>
                <a:ea typeface="Calibri" pitchFamily="34" charset="-122"/>
                <a:cs typeface="Calibri" pitchFamily="34" charset="-120"/>
              </a:rPr>
              <a:t>Plant sized to HIGH demand (worst case)</a:t>
            </a:r>
            <a:endParaRPr lang="en-US" sz="1000" dirty="0"/>
          </a:p>
        </p:txBody>
      </p:sp>
      <p:sp>
        <p:nvSpPr>
          <p:cNvPr id="49" name="Text 47"/>
          <p:cNvSpPr/>
          <p:nvPr/>
        </p:nvSpPr>
        <p:spPr>
          <a:xfrm>
            <a:off x="6400800" y="3931920"/>
            <a:ext cx="2231136" cy="420624"/>
          </a:xfrm>
          <a:prstGeom prst="rect">
            <a:avLst/>
          </a:prstGeom>
          <a:noFill/>
          <a:ln/>
        </p:spPr>
        <p:txBody>
          <a:bodyPr wrap="square" rtlCol="0" anchor="ctr"/>
          <a:lstStyle/>
          <a:p>
            <a:pPr marL="0" indent="0" algn="l">
              <a:buNone/>
            </a:pPr>
            <a:r>
              <a:rPr lang="en-US" sz="1000" dirty="0">
                <a:solidFill>
                  <a:srgbClr val="2C3E50"/>
                </a:solidFill>
                <a:latin typeface="Calibri" pitchFamily="34" charset="0"/>
                <a:ea typeface="Calibri" pitchFamily="34" charset="-122"/>
                <a:cs typeface="Calibri" pitchFamily="34" charset="-120"/>
              </a:rPr>
              <a:t>Operating costs only after construction</a:t>
            </a:r>
            <a:endParaRPr lang="en-US" sz="1000" dirty="0"/>
          </a:p>
        </p:txBody>
      </p:sp>
      <p:sp>
        <p:nvSpPr>
          <p:cNvPr id="51" name="Text 49"/>
          <p:cNvSpPr/>
          <p:nvPr/>
        </p:nvSpPr>
        <p:spPr>
          <a:xfrm>
            <a:off x="6400800" y="4407408"/>
            <a:ext cx="2231136" cy="420624"/>
          </a:xfrm>
          <a:prstGeom prst="rect">
            <a:avLst/>
          </a:prstGeom>
          <a:noFill/>
          <a:ln/>
        </p:spPr>
        <p:txBody>
          <a:bodyPr wrap="square" rtlCol="0" anchor="ctr"/>
          <a:lstStyle/>
          <a:p>
            <a:pPr marL="0" indent="0" algn="l">
              <a:buNone/>
            </a:pPr>
            <a:r>
              <a:rPr lang="en-US" sz="1000" dirty="0">
                <a:solidFill>
                  <a:srgbClr val="2C3E50"/>
                </a:solidFill>
                <a:latin typeface="Calibri" pitchFamily="34" charset="0"/>
                <a:ea typeface="Calibri" pitchFamily="34" charset="-122"/>
                <a:cs typeface="Calibri" pitchFamily="34" charset="-120"/>
              </a:rPr>
              <a:t>Lowest long-run cost — break-even within years</a:t>
            </a:r>
            <a:endParaRPr lang="en-US" sz="1000" dirty="0"/>
          </a:p>
        </p:txBody>
      </p:sp>
      <p:sp>
        <p:nvSpPr>
          <p:cNvPr id="52" name="Text 50"/>
          <p:cNvSpPr/>
          <p:nvPr/>
        </p:nvSpPr>
        <p:spPr>
          <a:xfrm>
            <a:off x="457200" y="4846320"/>
            <a:ext cx="8229600" cy="228600"/>
          </a:xfrm>
          <a:prstGeom prst="rect">
            <a:avLst/>
          </a:prstGeom>
          <a:noFill/>
          <a:ln/>
        </p:spPr>
        <p:txBody>
          <a:bodyPr wrap="square" rtlCol="0" anchor="ctr"/>
          <a:lstStyle/>
          <a:p>
            <a:pPr marL="0" indent="0" algn="l">
              <a:buNone/>
            </a:pPr>
            <a:r>
              <a:rPr lang="en-US" sz="800" i="1" dirty="0">
                <a:solidFill>
                  <a:srgbClr val="5D6D7E"/>
                </a:solidFill>
                <a:latin typeface="Calibri" pitchFamily="34" charset="0"/>
                <a:ea typeface="Calibri" pitchFamily="34" charset="-122"/>
                <a:cs typeface="Calibri" pitchFamily="34" charset="-120"/>
              </a:rPr>
              <a:t>Sources: Houston Public Works Rate Schedule 2024 ($12.45/kGal commercial) | Texas Water Development Board ($5.50/kGal bulk reclaimed) | EPA WBS RO/NF Model 2023 + ENR CCI ×1.18 inflation 2021→2024</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500"/>
                                        <p:tgtEl>
                                          <p:spTgt spid="2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500"/>
                                        <p:tgtEl>
                                          <p:spTgt spid="3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500"/>
                                        <p:tgtEl>
                                          <p:spTgt spid="3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500"/>
                                        <p:tgtEl>
                                          <p:spTgt spid="35"/>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500"/>
                                        <p:tgtEl>
                                          <p:spTgt spid="3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500"/>
                                        <p:tgtEl>
                                          <p:spTgt spid="3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500"/>
                                        <p:tgtEl>
                                          <p:spTgt spid="3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500"/>
                                        <p:tgtEl>
                                          <p:spTgt spid="3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500"/>
                                        <p:tgtEl>
                                          <p:spTgt spid="4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500"/>
                                        <p:tgtEl>
                                          <p:spTgt spid="4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3"/>
                                        </p:tgtEl>
                                        <p:attrNameLst>
                                          <p:attrName>style.visibility</p:attrName>
                                        </p:attrNameLst>
                                      </p:cBhvr>
                                      <p:to>
                                        <p:strVal val="visible"/>
                                      </p:to>
                                    </p:set>
                                    <p:animEffect transition="in" filter="fade">
                                      <p:cBhvr>
                                        <p:cTn id="92" dur="500"/>
                                        <p:tgtEl>
                                          <p:spTgt spid="4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5"/>
                                        </p:tgtEl>
                                        <p:attrNameLst>
                                          <p:attrName>style.visibility</p:attrName>
                                        </p:attrNameLst>
                                      </p:cBhvr>
                                      <p:to>
                                        <p:strVal val="visible"/>
                                      </p:to>
                                    </p:set>
                                    <p:animEffect transition="in" filter="fade">
                                      <p:cBhvr>
                                        <p:cTn id="95" dur="500"/>
                                        <p:tgtEl>
                                          <p:spTgt spid="45"/>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7"/>
                                        </p:tgtEl>
                                        <p:attrNameLst>
                                          <p:attrName>style.visibility</p:attrName>
                                        </p:attrNameLst>
                                      </p:cBhvr>
                                      <p:to>
                                        <p:strVal val="visible"/>
                                      </p:to>
                                    </p:set>
                                    <p:animEffect transition="in" filter="fade">
                                      <p:cBhvr>
                                        <p:cTn id="98" dur="500"/>
                                        <p:tgtEl>
                                          <p:spTgt spid="4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9"/>
                                        </p:tgtEl>
                                        <p:attrNameLst>
                                          <p:attrName>style.visibility</p:attrName>
                                        </p:attrNameLst>
                                      </p:cBhvr>
                                      <p:to>
                                        <p:strVal val="visible"/>
                                      </p:to>
                                    </p:set>
                                    <p:animEffect transition="in" filter="fade">
                                      <p:cBhvr>
                                        <p:cTn id="101" dur="500"/>
                                        <p:tgtEl>
                                          <p:spTgt spid="4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1"/>
                                        </p:tgtEl>
                                        <p:attrNameLst>
                                          <p:attrName>style.visibility</p:attrName>
                                        </p:attrNameLst>
                                      </p:cBhvr>
                                      <p:to>
                                        <p:strVal val="visible"/>
                                      </p:to>
                                    </p:set>
                                    <p:animEffect transition="in" filter="fade">
                                      <p:cBhvr>
                                        <p:cTn id="104"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3" grpId="0" animBg="1"/>
      <p:bldP spid="15" grpId="0" animBg="1"/>
      <p:bldP spid="17" grpId="0" animBg="1"/>
      <p:bldP spid="19" grpId="0" animBg="1"/>
      <p:bldP spid="20" grpId="0" animBg="1"/>
      <p:bldP spid="21" grpId="0" animBg="1"/>
      <p:bldP spid="22" grpId="0" animBg="1"/>
      <p:bldP spid="23" grpId="0" animBg="1"/>
      <p:bldP spid="24" grpId="0" animBg="1"/>
      <p:bldP spid="25" grpId="0" animBg="1"/>
      <p:bldP spid="27" grpId="0" animBg="1"/>
      <p:bldP spid="29" grpId="0" animBg="1"/>
      <p:bldP spid="31" grpId="0" animBg="1"/>
      <p:bldP spid="33" grpId="0" animBg="1"/>
      <p:bldP spid="35" grpId="0" animBg="1"/>
      <p:bldP spid="36" grpId="0" animBg="1"/>
      <p:bldP spid="37" grpId="0" animBg="1"/>
      <p:bldP spid="38" grpId="0" animBg="1"/>
      <p:bldP spid="39" grpId="0" animBg="1"/>
      <p:bldP spid="40" grpId="0" animBg="1"/>
      <p:bldP spid="41" grpId="0" animBg="1"/>
      <p:bldP spid="43" grpId="0" animBg="1"/>
      <p:bldP spid="45" grpId="0" animBg="1"/>
      <p:bldP spid="47" grpId="0" animBg="1"/>
      <p:bldP spid="49" grpId="0" animBg="1"/>
      <p:bldP spid="5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2" name="Rectangle 3081">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Freeform: Shape 3080">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05369"/>
            <a:ext cx="9144000" cy="1443249"/>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E779CDA-E6D4-1F12-C7D8-157031F05FBD}"/>
              </a:ext>
            </a:extLst>
          </p:cNvPr>
          <p:cNvSpPr txBox="1"/>
          <p:nvPr/>
        </p:nvSpPr>
        <p:spPr>
          <a:xfrm>
            <a:off x="941295" y="3959633"/>
            <a:ext cx="7261411" cy="554910"/>
          </a:xfrm>
          <a:prstGeom prst="rect">
            <a:avLst/>
          </a:prstGeom>
        </p:spPr>
        <p:txBody>
          <a:bodyPr vert="horz" lIns="91440" tIns="45720" rIns="91440" bIns="45720" rtlCol="0" anchor="b">
            <a:normAutofit/>
          </a:bodyPr>
          <a:lstStyle/>
          <a:p>
            <a:pPr marL="0" indent="0" algn="ctr">
              <a:lnSpc>
                <a:spcPct val="90000"/>
              </a:lnSpc>
              <a:spcBef>
                <a:spcPct val="0"/>
              </a:spcBef>
              <a:spcAft>
                <a:spcPts val="600"/>
              </a:spcAft>
            </a:pPr>
            <a:r>
              <a:rPr lang="en-US" sz="2700" kern="1200" dirty="0">
                <a:solidFill>
                  <a:schemeClr val="accent1"/>
                </a:solidFill>
                <a:latin typeface="+mj-lt"/>
                <a:ea typeface="+mj-ea"/>
                <a:cs typeface="+mj-cs"/>
              </a:rPr>
              <a:t>Composition in Household Waste Water</a:t>
            </a:r>
          </a:p>
        </p:txBody>
      </p:sp>
      <p:pic>
        <p:nvPicPr>
          <p:cNvPr id="3074" name="Picture 2">
            <a:extLst>
              <a:ext uri="{FF2B5EF4-FFF2-40B4-BE49-F238E27FC236}">
                <a16:creationId xmlns:a16="http://schemas.microsoft.com/office/drawing/2014/main" id="{7E1D8439-5C63-EF6B-3AC7-4D0D2F30B57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7315" y="910524"/>
            <a:ext cx="8209369" cy="2216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983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Freeform: Shape 2056">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05369"/>
            <a:ext cx="9144000" cy="1443249"/>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547BD43-DEF1-0307-22AA-0C48578ED815}"/>
              </a:ext>
            </a:extLst>
          </p:cNvPr>
          <p:cNvSpPr txBox="1"/>
          <p:nvPr/>
        </p:nvSpPr>
        <p:spPr>
          <a:xfrm>
            <a:off x="941295" y="3959633"/>
            <a:ext cx="7261411" cy="554910"/>
          </a:xfrm>
          <a:prstGeom prst="rect">
            <a:avLst/>
          </a:prstGeom>
        </p:spPr>
        <p:txBody>
          <a:bodyPr vert="horz" lIns="91440" tIns="45720" rIns="91440" bIns="45720" rtlCol="0" anchor="b">
            <a:normAutofit/>
          </a:bodyPr>
          <a:lstStyle/>
          <a:p>
            <a:pPr marL="0" indent="0" algn="ctr">
              <a:lnSpc>
                <a:spcPct val="90000"/>
              </a:lnSpc>
              <a:spcBef>
                <a:spcPct val="0"/>
              </a:spcBef>
              <a:spcAft>
                <a:spcPts val="600"/>
              </a:spcAft>
            </a:pPr>
            <a:r>
              <a:rPr lang="en-US" sz="2700" kern="1200" dirty="0">
                <a:solidFill>
                  <a:schemeClr val="accent1"/>
                </a:solidFill>
                <a:latin typeface="+mj-lt"/>
                <a:ea typeface="+mj-ea"/>
                <a:cs typeface="+mj-cs"/>
              </a:rPr>
              <a:t>Data Center Cooling Requirement </a:t>
            </a:r>
          </a:p>
        </p:txBody>
      </p:sp>
      <p:pic>
        <p:nvPicPr>
          <p:cNvPr id="2050" name="Picture 2">
            <a:extLst>
              <a:ext uri="{FF2B5EF4-FFF2-40B4-BE49-F238E27FC236}">
                <a16:creationId xmlns:a16="http://schemas.microsoft.com/office/drawing/2014/main" id="{760F8C20-6255-D4EA-38AE-5D877D79FCA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7315" y="818168"/>
            <a:ext cx="8209369" cy="2401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9346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marL="0" indent="0" algn="l">
              <a:buNone/>
            </a:pPr>
            <a:r>
              <a:rPr lang="en-US" sz="3000" b="1" dirty="0">
                <a:solidFill>
                  <a:srgbClr val="065A82"/>
                </a:solidFill>
                <a:latin typeface="Calibri" pitchFamily="34" charset="0"/>
                <a:ea typeface="Calibri" pitchFamily="34" charset="-122"/>
                <a:cs typeface="Calibri" pitchFamily="34" charset="-120"/>
              </a:rPr>
              <a:t>How We Calculated Installation Costs</a:t>
            </a:r>
            <a:endParaRPr lang="en-US" sz="3000" dirty="0"/>
          </a:p>
        </p:txBody>
      </p:sp>
      <p:sp>
        <p:nvSpPr>
          <p:cNvPr id="3" name="Shape 1"/>
          <p:cNvSpPr/>
          <p:nvPr/>
        </p:nvSpPr>
        <p:spPr>
          <a:xfrm>
            <a:off x="457200" y="1024128"/>
            <a:ext cx="8229600" cy="36576"/>
          </a:xfrm>
          <a:prstGeom prst="rect">
            <a:avLst/>
          </a:prstGeom>
          <a:solidFill>
            <a:srgbClr val="02C39A"/>
          </a:solidFill>
          <a:ln w="12700">
            <a:solidFill>
              <a:srgbClr val="02C39A"/>
            </a:solidFill>
            <a:prstDash val="solid"/>
          </a:ln>
        </p:spPr>
        <p:txBody>
          <a:bodyPr/>
          <a:lstStyle/>
          <a:p>
            <a:endParaRPr lang="en-IN"/>
          </a:p>
        </p:txBody>
      </p:sp>
      <p:sp>
        <p:nvSpPr>
          <p:cNvPr id="4" name="Text 2"/>
          <p:cNvSpPr/>
          <p:nvPr/>
        </p:nvSpPr>
        <p:spPr>
          <a:xfrm>
            <a:off x="457200" y="1115568"/>
            <a:ext cx="8229600" cy="594360"/>
          </a:xfrm>
          <a:prstGeom prst="rect">
            <a:avLst/>
          </a:prstGeom>
          <a:noFill/>
          <a:ln/>
        </p:spPr>
        <p:txBody>
          <a:bodyPr wrap="square" rtlCol="0" anchor="ctr"/>
          <a:lstStyle/>
          <a:p>
            <a:pPr marL="0" indent="0" algn="l">
              <a:buNone/>
            </a:pPr>
            <a:r>
              <a:rPr lang="en-US" sz="1100" i="1" dirty="0">
                <a:solidFill>
                  <a:srgbClr val="5D6D7E"/>
                </a:solidFill>
                <a:latin typeface="Calibri" pitchFamily="34" charset="0"/>
                <a:ea typeface="Calibri" pitchFamily="34" charset="-122"/>
                <a:cs typeface="Calibri" pitchFamily="34" charset="-120"/>
              </a:rPr>
              <a:t>Capital costs were derived from the EPA Work Breakdown Structure (WBS) Cost Model for RO/NF Treatment (EPA 815-R-24-027, January 2024) — run at 6 standard design capacities using Houston secondary effluent water specifications. Costs inflated from 2021 to 2024 using Engineering News Record Construction Cost Index (×1.18).</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6877532"/>
              </p:ext>
            </p:extLst>
          </p:nvPr>
        </p:nvGraphicFramePr>
        <p:xfrm>
          <a:off x="457200" y="1783080"/>
          <a:ext cx="8229600" cy="1828799"/>
        </p:xfrm>
        <a:graphic>
          <a:graphicData uri="http://schemas.openxmlformats.org/drawingml/2006/table">
            <a:tbl>
              <a:tblPr/>
              <a:tblGrid>
                <a:gridCol w="14630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261257">
                <a:tc>
                  <a:txBody>
                    <a:bodyPr/>
                    <a:lstStyle/>
                    <a:p>
                      <a:pPr marL="0" indent="0" algn="ctr">
                        <a:buNone/>
                      </a:pPr>
                      <a:r>
                        <a:rPr lang="en-US" sz="1050" b="1" dirty="0">
                          <a:solidFill>
                            <a:srgbClr val="FFFFFF"/>
                          </a:solidFill>
                        </a:rPr>
                        <a:t>Plant Size (MGD)</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RO Capital (2021$)</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RO Capital (2024$)</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Annual O&amp;M (2024$)</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LCOW ($/1,000 gal)</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261257">
                <a:tc>
                  <a:txBody>
                    <a:bodyPr/>
                    <a:lstStyle/>
                    <a:p>
                      <a:pPr marL="0" indent="0" algn="ctr">
                        <a:buNone/>
                      </a:pPr>
                      <a:r>
                        <a:rPr lang="en-US" sz="1050" dirty="0">
                          <a:solidFill>
                            <a:srgbClr val="2C3E50"/>
                          </a:solidFill>
                        </a:rPr>
                        <a:t>0.030</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C3E50"/>
                          </a:solidFill>
                        </a:rPr>
                        <a:t>$942,488</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C3E50"/>
                          </a:solidFill>
                        </a:rPr>
                        <a:t>$1,112,136</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C3E50"/>
                          </a:solidFill>
                        </a:rPr>
                        <a:t>$56,344</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028090"/>
                          </a:solidFill>
                        </a:rPr>
                        <a:t>$51.53</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1257">
                <a:tc>
                  <a:txBody>
                    <a:bodyPr/>
                    <a:lstStyle/>
                    <a:p>
                      <a:pPr marL="0" indent="0" algn="ctr">
                        <a:buNone/>
                      </a:pPr>
                      <a:r>
                        <a:rPr lang="en-US" sz="1050" dirty="0">
                          <a:solidFill>
                            <a:srgbClr val="2C3E50"/>
                          </a:solidFill>
                        </a:rPr>
                        <a:t>0.124</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r">
                        <a:buNone/>
                      </a:pPr>
                      <a:r>
                        <a:rPr lang="en-US" sz="1050" dirty="0">
                          <a:solidFill>
                            <a:srgbClr val="2C3E50"/>
                          </a:solidFill>
                        </a:rPr>
                        <a:t>$1,182,359</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r">
                        <a:buNone/>
                      </a:pPr>
                      <a:r>
                        <a:rPr lang="en-US" sz="1050" dirty="0">
                          <a:solidFill>
                            <a:srgbClr val="2C3E50"/>
                          </a:solidFill>
                        </a:rPr>
                        <a:t>$1,395,184</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r">
                        <a:buNone/>
                      </a:pPr>
                      <a:r>
                        <a:rPr lang="en-US" sz="1050" dirty="0">
                          <a:solidFill>
                            <a:srgbClr val="2C3E50"/>
                          </a:solidFill>
                        </a:rPr>
                        <a:t>$82,591</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r">
                        <a:buNone/>
                      </a:pPr>
                      <a:r>
                        <a:rPr lang="en-US" sz="1050" b="1" dirty="0">
                          <a:solidFill>
                            <a:srgbClr val="028090"/>
                          </a:solidFill>
                        </a:rPr>
                        <a:t>$13.65</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extLst>
                  <a:ext uri="{0D108BD9-81ED-4DB2-BD59-A6C34878D82A}">
                    <a16:rowId xmlns:a16="http://schemas.microsoft.com/office/drawing/2014/main" val="10002"/>
                  </a:ext>
                </a:extLst>
              </a:tr>
              <a:tr h="261257">
                <a:tc>
                  <a:txBody>
                    <a:bodyPr/>
                    <a:lstStyle/>
                    <a:p>
                      <a:pPr marL="0" indent="0" algn="ctr">
                        <a:buNone/>
                      </a:pPr>
                      <a:r>
                        <a:rPr lang="en-US" sz="1050" dirty="0">
                          <a:solidFill>
                            <a:srgbClr val="2C3E50"/>
                          </a:solidFill>
                        </a:rPr>
                        <a:t>0.307</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C3E50"/>
                          </a:solidFill>
                        </a:rPr>
                        <a:t>$1,251,417</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C3E50"/>
                          </a:solidFill>
                        </a:rPr>
                        <a:t>$1,476,672</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C3E50"/>
                          </a:solidFill>
                        </a:rPr>
                        <a:t>$102,733</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028090"/>
                          </a:solidFill>
                        </a:rPr>
                        <a:t>$5.76</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1257">
                <a:tc>
                  <a:txBody>
                    <a:bodyPr/>
                    <a:lstStyle/>
                    <a:p>
                      <a:pPr marL="0" indent="0" algn="ctr">
                        <a:buNone/>
                      </a:pPr>
                      <a:r>
                        <a:rPr lang="en-US" sz="1050" dirty="0">
                          <a:solidFill>
                            <a:srgbClr val="2C3E50"/>
                          </a:solidFill>
                        </a:rPr>
                        <a:t>0.740</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r">
                        <a:buNone/>
                      </a:pPr>
                      <a:r>
                        <a:rPr lang="en-US" sz="1050" dirty="0">
                          <a:solidFill>
                            <a:srgbClr val="2C3E50"/>
                          </a:solidFill>
                        </a:rPr>
                        <a:t>$1,721,739</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r">
                        <a:buNone/>
                      </a:pPr>
                      <a:r>
                        <a:rPr lang="en-US" sz="1050" dirty="0">
                          <a:solidFill>
                            <a:srgbClr val="2C3E50"/>
                          </a:solidFill>
                        </a:rPr>
                        <a:t>$2,031,652</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r">
                        <a:buNone/>
                      </a:pPr>
                      <a:r>
                        <a:rPr lang="en-US" sz="1050" dirty="0">
                          <a:solidFill>
                            <a:srgbClr val="2C3E50"/>
                          </a:solidFill>
                        </a:rPr>
                        <a:t>$179,690</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r">
                        <a:buNone/>
                      </a:pPr>
                      <a:r>
                        <a:rPr lang="en-US" sz="1050" b="1" dirty="0">
                          <a:solidFill>
                            <a:srgbClr val="028090"/>
                          </a:solidFill>
                        </a:rPr>
                        <a:t>$3.30</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extLst>
                  <a:ext uri="{0D108BD9-81ED-4DB2-BD59-A6C34878D82A}">
                    <a16:rowId xmlns:a16="http://schemas.microsoft.com/office/drawing/2014/main" val="10004"/>
                  </a:ext>
                </a:extLst>
              </a:tr>
              <a:tr h="261257">
                <a:tc>
                  <a:txBody>
                    <a:bodyPr/>
                    <a:lstStyle/>
                    <a:p>
                      <a:pPr marL="0" indent="0" algn="ctr">
                        <a:buNone/>
                      </a:pPr>
                      <a:r>
                        <a:rPr lang="en-US" sz="1050" dirty="0">
                          <a:solidFill>
                            <a:srgbClr val="2C3E50"/>
                          </a:solidFill>
                        </a:rPr>
                        <a:t>2.152</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C3E50"/>
                          </a:solidFill>
                        </a:rPr>
                        <a:t>$3,643,452</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C3E50"/>
                          </a:solidFill>
                        </a:rPr>
                        <a:t>$4,299,273</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C3E50"/>
                          </a:solidFill>
                        </a:rPr>
                        <a:t>$510,562</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028090"/>
                          </a:solidFill>
                        </a:rPr>
                        <a:t>$2.44</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61257">
                <a:tc>
                  <a:txBody>
                    <a:bodyPr/>
                    <a:lstStyle/>
                    <a:p>
                      <a:pPr marL="0" indent="0" algn="ctr">
                        <a:buNone/>
                      </a:pPr>
                      <a:r>
                        <a:rPr lang="en-US" sz="1050" dirty="0">
                          <a:solidFill>
                            <a:srgbClr val="2C3E50"/>
                          </a:solidFill>
                        </a:rPr>
                        <a:t>7.365</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r">
                        <a:buNone/>
                      </a:pPr>
                      <a:r>
                        <a:rPr lang="en-US" sz="1050" dirty="0">
                          <a:solidFill>
                            <a:srgbClr val="2C3E50"/>
                          </a:solidFill>
                        </a:rPr>
                        <a:t>$8,012,494</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r">
                        <a:buNone/>
                      </a:pPr>
                      <a:r>
                        <a:rPr lang="en-US" sz="1050" dirty="0">
                          <a:solidFill>
                            <a:srgbClr val="2C3E50"/>
                          </a:solidFill>
                        </a:rPr>
                        <a:t>$9,454,743</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r">
                        <a:buNone/>
                      </a:pPr>
                      <a:r>
                        <a:rPr lang="en-US" sz="1050" dirty="0">
                          <a:solidFill>
                            <a:srgbClr val="2C3E50"/>
                          </a:solidFill>
                        </a:rPr>
                        <a:t>$1,536,333</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r">
                        <a:buNone/>
                      </a:pPr>
                      <a:r>
                        <a:rPr lang="en-US" sz="1050" b="1" dirty="0">
                          <a:solidFill>
                            <a:srgbClr val="028090"/>
                          </a:solidFill>
                        </a:rPr>
                        <a:t>$1.67</a:t>
                      </a:r>
                      <a:endParaRPr lang="en-US" sz="105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extLst>
                  <a:ext uri="{0D108BD9-81ED-4DB2-BD59-A6C34878D82A}">
                    <a16:rowId xmlns:a16="http://schemas.microsoft.com/office/drawing/2014/main" val="10006"/>
                  </a:ext>
                </a:extLst>
              </a:tr>
            </a:tbl>
          </a:graphicData>
        </a:graphic>
      </p:graphicFrame>
      <p:sp>
        <p:nvSpPr>
          <p:cNvPr id="6" name="Shape 3"/>
          <p:cNvSpPr/>
          <p:nvPr/>
        </p:nvSpPr>
        <p:spPr>
          <a:xfrm>
            <a:off x="457200" y="3647547"/>
            <a:ext cx="3931920" cy="1143000"/>
          </a:xfrm>
          <a:prstGeom prst="rect">
            <a:avLst/>
          </a:prstGeom>
          <a:solidFill>
            <a:srgbClr val="065A82"/>
          </a:solidFill>
          <a:ln w="12700">
            <a:solidFill>
              <a:srgbClr val="065A82"/>
            </a:solidFill>
            <a:prstDash val="solid"/>
          </a:ln>
        </p:spPr>
        <p:txBody>
          <a:bodyPr/>
          <a:lstStyle/>
          <a:p>
            <a:endParaRPr lang="en-IN"/>
          </a:p>
        </p:txBody>
      </p:sp>
      <p:sp>
        <p:nvSpPr>
          <p:cNvPr id="7" name="Text 4"/>
          <p:cNvSpPr/>
          <p:nvPr/>
        </p:nvSpPr>
        <p:spPr>
          <a:xfrm>
            <a:off x="548640" y="3794760"/>
            <a:ext cx="3749040" cy="274320"/>
          </a:xfrm>
          <a:prstGeom prst="rect">
            <a:avLst/>
          </a:prstGeom>
          <a:noFill/>
          <a:ln/>
        </p:spPr>
        <p:txBody>
          <a:bodyPr wrap="square"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Economies of Scale Finding</a:t>
            </a:r>
            <a:endParaRPr lang="en-US" sz="1200" dirty="0"/>
          </a:p>
        </p:txBody>
      </p:sp>
      <p:sp>
        <p:nvSpPr>
          <p:cNvPr id="8" name="Text 5"/>
          <p:cNvSpPr/>
          <p:nvPr/>
        </p:nvSpPr>
        <p:spPr>
          <a:xfrm>
            <a:off x="548640" y="4087368"/>
            <a:ext cx="3749040" cy="731520"/>
          </a:xfrm>
          <a:prstGeom prst="rect">
            <a:avLst/>
          </a:prstGeom>
          <a:noFill/>
          <a:ln/>
        </p:spPr>
        <p:txBody>
          <a:bodyPr wrap="square" rtlCol="0" anchor="ctr"/>
          <a:lstStyle/>
          <a:p>
            <a:pPr marL="0" indent="0" algn="l">
              <a:buNone/>
            </a:pPr>
            <a:r>
              <a:rPr lang="en-US" sz="1050" dirty="0">
                <a:solidFill>
                  <a:srgbClr val="A8D8EA"/>
                </a:solidFill>
                <a:latin typeface="Calibri" pitchFamily="34" charset="0"/>
                <a:ea typeface="Calibri" pitchFamily="34" charset="-122"/>
                <a:cs typeface="Calibri" pitchFamily="34" charset="-120"/>
              </a:rPr>
              <a:t>Cost per MGD drops by 29× from smallest to largest plant. A 0.03 MGD plant costs $37M/MGD equivalent. A 7.365 MGD plant costs $1.3M/MGD — confirming strong economies of scale that favor larger data centers.</a:t>
            </a:r>
            <a:endParaRPr lang="en-US" sz="1050" dirty="0"/>
          </a:p>
        </p:txBody>
      </p:sp>
      <p:sp>
        <p:nvSpPr>
          <p:cNvPr id="9" name="Shape 6"/>
          <p:cNvSpPr/>
          <p:nvPr/>
        </p:nvSpPr>
        <p:spPr>
          <a:xfrm>
            <a:off x="4572000" y="3749040"/>
            <a:ext cx="4114800" cy="1143000"/>
          </a:xfrm>
          <a:prstGeom prst="rect">
            <a:avLst/>
          </a:prstGeom>
          <a:solidFill>
            <a:srgbClr val="EBF5FB"/>
          </a:solidFill>
          <a:ln w="12700">
            <a:solidFill>
              <a:srgbClr val="D6EAF8"/>
            </a:solidFill>
            <a:prstDash val="solid"/>
          </a:ln>
        </p:spPr>
        <p:txBody>
          <a:bodyPr/>
          <a:lstStyle/>
          <a:p>
            <a:endParaRPr lang="en-IN"/>
          </a:p>
        </p:txBody>
      </p:sp>
      <p:sp>
        <p:nvSpPr>
          <p:cNvPr id="10" name="Text 7"/>
          <p:cNvSpPr/>
          <p:nvPr/>
        </p:nvSpPr>
        <p:spPr>
          <a:xfrm>
            <a:off x="4663440" y="3794760"/>
            <a:ext cx="3931920" cy="27432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UF Pretreatment Added</a:t>
            </a:r>
            <a:endParaRPr lang="en-US" sz="1200" dirty="0"/>
          </a:p>
        </p:txBody>
      </p:sp>
      <p:sp>
        <p:nvSpPr>
          <p:cNvPr id="11" name="Text 8"/>
          <p:cNvSpPr/>
          <p:nvPr/>
        </p:nvSpPr>
        <p:spPr>
          <a:xfrm>
            <a:off x="4663440" y="4087368"/>
            <a:ext cx="3931920" cy="731520"/>
          </a:xfrm>
          <a:prstGeom prst="rect">
            <a:avLst/>
          </a:prstGeom>
          <a:noFill/>
          <a:ln/>
        </p:spPr>
        <p:txBody>
          <a:bodyPr wrap="square" rtlCol="0" anchor="ctr"/>
          <a:lstStyle/>
          <a:p>
            <a:pPr marL="0" indent="0" algn="l">
              <a:buNone/>
            </a:pPr>
            <a:r>
              <a:rPr lang="en-US" sz="1050" dirty="0">
                <a:solidFill>
                  <a:srgbClr val="2C3E50"/>
                </a:solidFill>
                <a:latin typeface="Calibri" pitchFamily="34" charset="0"/>
                <a:ea typeface="Calibri" pitchFamily="34" charset="-122"/>
                <a:cs typeface="Calibri" pitchFamily="34" charset="-120"/>
              </a:rPr>
              <a:t>EPA WBS model covers RO only. UF capital added at $1,500,000 per MGD + $0.75/1,000 gal operating cost (EPA Water Reuse Guidelines 2022). Full UF+RO capital = RO cost + UF cost.</a:t>
            </a:r>
            <a:endParaRPr lang="en-US" sz="1050" dirty="0"/>
          </a:p>
        </p:txBody>
      </p:sp>
      <p:sp>
        <p:nvSpPr>
          <p:cNvPr id="5" name="Text 9"/>
          <p:cNvSpPr/>
          <p:nvPr/>
        </p:nvSpPr>
        <p:spPr>
          <a:xfrm>
            <a:off x="457200" y="4846320"/>
            <a:ext cx="8229600" cy="228600"/>
          </a:xfrm>
          <a:prstGeom prst="rect">
            <a:avLst/>
          </a:prstGeom>
          <a:noFill/>
          <a:ln/>
        </p:spPr>
        <p:txBody>
          <a:bodyPr wrap="square" rtlCol="0" anchor="ctr"/>
          <a:lstStyle/>
          <a:p>
            <a:pPr marL="0" indent="0" algn="l">
              <a:buNone/>
            </a:pPr>
            <a:r>
              <a:rPr lang="en-US" sz="800" i="1" dirty="0">
                <a:solidFill>
                  <a:srgbClr val="5D6D7E"/>
                </a:solidFill>
                <a:latin typeface="Calibri" pitchFamily="34" charset="0"/>
                <a:ea typeface="Calibri" pitchFamily="34" charset="-122"/>
                <a:cs typeface="Calibri" pitchFamily="34" charset="-120"/>
              </a:rPr>
              <a:t>Source: U.S. EPA WBS Cost Model for RO/NF Treatment (EPA 815-R-24-027, Jan 2024) run with 'Reuse Train Post MF' feed water | ENR CCI inflation ×1.18 (2021→2024) | EPA Water Reuse Guidelines 2022 (UF $1.5M/MGD)</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marL="0" indent="0" algn="l">
              <a:buNone/>
            </a:pPr>
            <a:r>
              <a:rPr lang="en-US" sz="3000" b="1" dirty="0">
                <a:solidFill>
                  <a:srgbClr val="065A82"/>
                </a:solidFill>
                <a:latin typeface="Calibri" pitchFamily="34" charset="0"/>
                <a:ea typeface="Calibri" pitchFamily="34" charset="-122"/>
                <a:cs typeface="Calibri" pitchFamily="34" charset="-120"/>
              </a:rPr>
              <a:t>Case Study — 6 Representative Data Centers</a:t>
            </a:r>
            <a:endParaRPr lang="en-US" sz="3000" dirty="0"/>
          </a:p>
        </p:txBody>
      </p:sp>
      <p:sp>
        <p:nvSpPr>
          <p:cNvPr id="3" name="Shape 1"/>
          <p:cNvSpPr/>
          <p:nvPr/>
        </p:nvSpPr>
        <p:spPr>
          <a:xfrm>
            <a:off x="457200" y="1024128"/>
            <a:ext cx="8229600" cy="36576"/>
          </a:xfrm>
          <a:prstGeom prst="rect">
            <a:avLst/>
          </a:prstGeom>
          <a:solidFill>
            <a:srgbClr val="02C39A"/>
          </a:solidFill>
          <a:ln w="12700">
            <a:solidFill>
              <a:srgbClr val="02C39A"/>
            </a:solidFill>
            <a:prstDash val="solid"/>
          </a:ln>
        </p:spPr>
        <p:txBody>
          <a:bodyPr/>
          <a:lstStyle/>
          <a:p>
            <a:endParaRPr lang="en-IN"/>
          </a:p>
        </p:txBody>
      </p:sp>
      <p:sp>
        <p:nvSpPr>
          <p:cNvPr id="4" name="Text 2"/>
          <p:cNvSpPr/>
          <p:nvPr/>
        </p:nvSpPr>
        <p:spPr>
          <a:xfrm>
            <a:off x="457200" y="1097280"/>
            <a:ext cx="8229600" cy="320040"/>
          </a:xfrm>
          <a:prstGeom prst="rect">
            <a:avLst/>
          </a:prstGeom>
          <a:noFill/>
          <a:ln/>
        </p:spPr>
        <p:txBody>
          <a:bodyPr wrap="square" rtlCol="0" anchor="ctr"/>
          <a:lstStyle/>
          <a:p>
            <a:pPr marL="0" indent="0">
              <a:buNone/>
            </a:pPr>
            <a:r>
              <a:rPr lang="en-US" sz="1100" i="1" dirty="0">
                <a:solidFill>
                  <a:srgbClr val="5D6D7E"/>
                </a:solidFill>
                <a:latin typeface="Calibri" pitchFamily="34" charset="0"/>
                <a:ea typeface="Calibri" pitchFamily="34" charset="-122"/>
                <a:cs typeface="Calibri" pitchFamily="34" charset="-120"/>
              </a:rPr>
              <a:t>Selected by stratified sampling: 2 Low, 2 Medium, 2 High capacity facilities — representing the full range of Houston's data center market.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685500517"/>
              </p:ext>
            </p:extLst>
          </p:nvPr>
        </p:nvGraphicFramePr>
        <p:xfrm>
          <a:off x="457200" y="1508760"/>
          <a:ext cx="8229600" cy="2285997"/>
        </p:xfrm>
        <a:graphic>
          <a:graphicData uri="http://schemas.openxmlformats.org/drawingml/2006/table">
            <a:tbl>
              <a:tblPr/>
              <a:tblGrid>
                <a:gridCol w="9144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326571">
                <a:tc>
                  <a:txBody>
                    <a:bodyPr/>
                    <a:lstStyle/>
                    <a:p>
                      <a:pPr marL="0" indent="0" algn="ctr">
                        <a:buNone/>
                      </a:pPr>
                      <a:r>
                        <a:rPr lang="en-US" sz="1000" b="1" dirty="0">
                          <a:solidFill>
                            <a:srgbClr val="FFFFFF"/>
                          </a:solidFill>
                        </a:rPr>
                        <a:t>Tier</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65A82"/>
                    </a:solidFill>
                  </a:tcPr>
                </a:tc>
                <a:tc>
                  <a:txBody>
                    <a:bodyPr/>
                    <a:lstStyle/>
                    <a:p>
                      <a:pPr marL="0" indent="0" algn="ctr">
                        <a:buNone/>
                      </a:pPr>
                      <a:r>
                        <a:rPr lang="en-US" sz="1000" b="1" dirty="0">
                          <a:solidFill>
                            <a:srgbClr val="FFFFFF"/>
                          </a:solidFill>
                        </a:rPr>
                        <a:t>Capacity</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65A82"/>
                    </a:solidFill>
                  </a:tcPr>
                </a:tc>
                <a:tc>
                  <a:txBody>
                    <a:bodyPr/>
                    <a:lstStyle/>
                    <a:p>
                      <a:pPr marL="0" indent="0" algn="ctr">
                        <a:buNone/>
                      </a:pPr>
                      <a:r>
                        <a:rPr lang="en-US" sz="1000" b="1" dirty="0">
                          <a:solidFill>
                            <a:srgbClr val="FFFFFF"/>
                          </a:solidFill>
                        </a:rPr>
                        <a:t>Mid Demand</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65A82"/>
                    </a:solidFill>
                  </a:tcPr>
                </a:tc>
                <a:tc>
                  <a:txBody>
                    <a:bodyPr/>
                    <a:lstStyle/>
                    <a:p>
                      <a:pPr marL="0" indent="0" algn="ctr">
                        <a:buNone/>
                      </a:pPr>
                      <a:r>
                        <a:rPr lang="en-US" sz="1000" b="1" dirty="0">
                          <a:solidFill>
                            <a:srgbClr val="FFFFFF"/>
                          </a:solidFill>
                        </a:rPr>
                        <a:t>UF+RO Capital</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65A82"/>
                    </a:solidFill>
                  </a:tcPr>
                </a:tc>
                <a:tc>
                  <a:txBody>
                    <a:bodyPr/>
                    <a:lstStyle/>
                    <a:p>
                      <a:pPr marL="0" indent="0" algn="ctr">
                        <a:buNone/>
                      </a:pPr>
                      <a:r>
                        <a:rPr lang="en-US" sz="1000" b="1" dirty="0">
                          <a:solidFill>
                            <a:srgbClr val="FFFFFF"/>
                          </a:solidFill>
                        </a:rPr>
                        <a:t>Annual S2 Savings</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65A82"/>
                    </a:solidFill>
                  </a:tcPr>
                </a:tc>
                <a:tc>
                  <a:txBody>
                    <a:bodyPr/>
                    <a:lstStyle/>
                    <a:p>
                      <a:pPr marL="0" indent="0" algn="ctr">
                        <a:buNone/>
                      </a:pPr>
                      <a:r>
                        <a:rPr lang="en-US" sz="1000" b="1" dirty="0">
                          <a:solidFill>
                            <a:srgbClr val="FFFFFF"/>
                          </a:solidFill>
                        </a:rPr>
                        <a:t>S3 Break-even</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26571">
                <a:tc>
                  <a:txBody>
                    <a:bodyPr/>
                    <a:lstStyle/>
                    <a:p>
                      <a:pPr marL="0" indent="0" algn="ctr">
                        <a:buNone/>
                      </a:pPr>
                      <a:r>
                        <a:rPr lang="en-US" sz="1000" b="1" dirty="0">
                          <a:solidFill>
                            <a:srgbClr val="FFFFFF"/>
                          </a:solidFill>
                        </a:rPr>
                        <a:t>Low</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1C7293"/>
                    </a:solidFill>
                  </a:tcPr>
                </a:tc>
                <a:tc>
                  <a:txBody>
                    <a:bodyPr/>
                    <a:lstStyle/>
                    <a:p>
                      <a:pPr marL="0" indent="0" algn="ctr">
                        <a:buNone/>
                      </a:pPr>
                      <a:r>
                        <a:rPr lang="en-US" sz="1000" dirty="0">
                          <a:solidFill>
                            <a:srgbClr val="2C3E50"/>
                          </a:solidFill>
                        </a:rPr>
                        <a:t>0.08 MW</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C3E50"/>
                          </a:solidFill>
                        </a:rPr>
                        <a:t>0.145 MGD</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r">
                        <a:buNone/>
                      </a:pPr>
                      <a:r>
                        <a:rPr lang="en-US" sz="1000" b="1" dirty="0">
                          <a:solidFill>
                            <a:srgbClr val="E74C3C"/>
                          </a:solidFill>
                        </a:rPr>
                        <a:t>$1.24M</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r">
                        <a:buNone/>
                      </a:pPr>
                      <a:r>
                        <a:rPr lang="en-US" sz="1000" b="1" dirty="0">
                          <a:solidFill>
                            <a:srgbClr val="27AE60"/>
                          </a:solidFill>
                        </a:rPr>
                        <a:t>$262K/yr</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28090"/>
                          </a:solidFill>
                        </a:rPr>
                        <a:t>28.1 mo</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6571">
                <a:tc>
                  <a:txBody>
                    <a:bodyPr/>
                    <a:lstStyle/>
                    <a:p>
                      <a:pPr marL="0" indent="0" algn="ctr">
                        <a:buNone/>
                      </a:pPr>
                      <a:r>
                        <a:rPr lang="en-US" sz="1000" b="1" dirty="0">
                          <a:solidFill>
                            <a:srgbClr val="FFFFFF"/>
                          </a:solidFill>
                        </a:rPr>
                        <a:t>Low</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1C7293"/>
                    </a:solidFill>
                  </a:tcPr>
                </a:tc>
                <a:tc>
                  <a:txBody>
                    <a:bodyPr/>
                    <a:lstStyle/>
                    <a:p>
                      <a:pPr marL="0" indent="0" algn="ctr">
                        <a:buNone/>
                      </a:pPr>
                      <a:r>
                        <a:rPr lang="en-US" sz="1000" dirty="0">
                          <a:solidFill>
                            <a:srgbClr val="2C3E50"/>
                          </a:solidFill>
                        </a:rPr>
                        <a:t>0.10 MW</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ctr">
                        <a:buNone/>
                      </a:pPr>
                      <a:r>
                        <a:rPr lang="en-US" sz="1000" dirty="0">
                          <a:solidFill>
                            <a:srgbClr val="2C3E50"/>
                          </a:solidFill>
                        </a:rPr>
                        <a:t>0.181 MGD</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r">
                        <a:buNone/>
                      </a:pPr>
                      <a:r>
                        <a:rPr lang="en-US" sz="1000" b="1" dirty="0">
                          <a:solidFill>
                            <a:srgbClr val="E74C3C"/>
                          </a:solidFill>
                        </a:rPr>
                        <a:t>$1.35M</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r">
                        <a:buNone/>
                      </a:pPr>
                      <a:r>
                        <a:rPr lang="en-US" sz="1000" b="1" dirty="0">
                          <a:solidFill>
                            <a:srgbClr val="27AE60"/>
                          </a:solidFill>
                        </a:rPr>
                        <a:t>$327K/yr</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ctr">
                        <a:buNone/>
                      </a:pPr>
                      <a:r>
                        <a:rPr lang="en-US" sz="1000" b="1" dirty="0">
                          <a:solidFill>
                            <a:srgbClr val="028090"/>
                          </a:solidFill>
                        </a:rPr>
                        <a:t>24.4 mo</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extLst>
                  <a:ext uri="{0D108BD9-81ED-4DB2-BD59-A6C34878D82A}">
                    <a16:rowId xmlns:a16="http://schemas.microsoft.com/office/drawing/2014/main" val="10002"/>
                  </a:ext>
                </a:extLst>
              </a:tr>
              <a:tr h="326571">
                <a:tc>
                  <a:txBody>
                    <a:bodyPr/>
                    <a:lstStyle/>
                    <a:p>
                      <a:pPr marL="0" indent="0" algn="ctr">
                        <a:buNone/>
                      </a:pPr>
                      <a:r>
                        <a:rPr lang="en-US" sz="1000" b="1" dirty="0">
                          <a:solidFill>
                            <a:srgbClr val="FFFFFF"/>
                          </a:solidFill>
                        </a:rPr>
                        <a:t>Medium</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28090"/>
                    </a:solidFill>
                  </a:tcPr>
                </a:tc>
                <a:tc>
                  <a:txBody>
                    <a:bodyPr/>
                    <a:lstStyle/>
                    <a:p>
                      <a:pPr marL="0" indent="0" algn="ctr">
                        <a:buNone/>
                      </a:pPr>
                      <a:r>
                        <a:rPr lang="en-US" sz="1000" dirty="0">
                          <a:solidFill>
                            <a:srgbClr val="2C3E50"/>
                          </a:solidFill>
                        </a:rPr>
                        <a:t>9.0 MW</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C3E50"/>
                          </a:solidFill>
                        </a:rPr>
                        <a:t>16.4 MGD</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r">
                        <a:buNone/>
                      </a:pPr>
                      <a:r>
                        <a:rPr lang="en-US" sz="1000" b="1" dirty="0">
                          <a:solidFill>
                            <a:srgbClr val="E74C3C"/>
                          </a:solidFill>
                        </a:rPr>
                        <a:t>$53.2M</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r">
                        <a:buNone/>
                      </a:pPr>
                      <a:r>
                        <a:rPr lang="en-US" sz="1000" b="1" dirty="0">
                          <a:solidFill>
                            <a:srgbClr val="27AE60"/>
                          </a:solidFill>
                        </a:rPr>
                        <a:t>$23.3M/yr</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28090"/>
                          </a:solidFill>
                        </a:rPr>
                        <a:t>8.3 mo</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6571">
                <a:tc>
                  <a:txBody>
                    <a:bodyPr/>
                    <a:lstStyle/>
                    <a:p>
                      <a:pPr marL="0" indent="0" algn="ctr">
                        <a:buNone/>
                      </a:pPr>
                      <a:r>
                        <a:rPr lang="en-US" sz="1000" b="1" dirty="0">
                          <a:solidFill>
                            <a:srgbClr val="FFFFFF"/>
                          </a:solidFill>
                        </a:rPr>
                        <a:t>Medium</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28090"/>
                    </a:solidFill>
                  </a:tcPr>
                </a:tc>
                <a:tc>
                  <a:txBody>
                    <a:bodyPr/>
                    <a:lstStyle/>
                    <a:p>
                      <a:pPr marL="0" indent="0" algn="ctr">
                        <a:buNone/>
                      </a:pPr>
                      <a:r>
                        <a:rPr lang="en-US" sz="1000" dirty="0">
                          <a:solidFill>
                            <a:srgbClr val="2C3E50"/>
                          </a:solidFill>
                        </a:rPr>
                        <a:t>9.0 MW</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ctr">
                        <a:buNone/>
                      </a:pPr>
                      <a:r>
                        <a:rPr lang="en-US" sz="1000" dirty="0">
                          <a:solidFill>
                            <a:srgbClr val="2C3E50"/>
                          </a:solidFill>
                        </a:rPr>
                        <a:t>16.4 MGD</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r">
                        <a:buNone/>
                      </a:pPr>
                      <a:r>
                        <a:rPr lang="en-US" sz="1000" b="1" dirty="0">
                          <a:solidFill>
                            <a:srgbClr val="E74C3C"/>
                          </a:solidFill>
                        </a:rPr>
                        <a:t>$53.2M</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r">
                        <a:buNone/>
                      </a:pPr>
                      <a:r>
                        <a:rPr lang="en-US" sz="1000" b="1" dirty="0">
                          <a:solidFill>
                            <a:srgbClr val="27AE60"/>
                          </a:solidFill>
                        </a:rPr>
                        <a:t>$23.3M/yr</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ctr">
                        <a:buNone/>
                      </a:pPr>
                      <a:r>
                        <a:rPr lang="en-US" sz="1000" b="1" dirty="0">
                          <a:solidFill>
                            <a:srgbClr val="028090"/>
                          </a:solidFill>
                        </a:rPr>
                        <a:t>8.3 mo</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extLst>
                  <a:ext uri="{0D108BD9-81ED-4DB2-BD59-A6C34878D82A}">
                    <a16:rowId xmlns:a16="http://schemas.microsoft.com/office/drawing/2014/main" val="10004"/>
                  </a:ext>
                </a:extLst>
              </a:tr>
              <a:tr h="326571">
                <a:tc>
                  <a:txBody>
                    <a:bodyPr/>
                    <a:lstStyle/>
                    <a:p>
                      <a:pPr marL="0" indent="0" algn="ctr">
                        <a:buNone/>
                      </a:pPr>
                      <a:r>
                        <a:rPr lang="en-US" sz="1000" b="1" dirty="0">
                          <a:solidFill>
                            <a:srgbClr val="FFFFFF"/>
                          </a:solidFill>
                        </a:rPr>
                        <a:t>High</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65A82"/>
                    </a:solidFill>
                  </a:tcPr>
                </a:tc>
                <a:tc>
                  <a:txBody>
                    <a:bodyPr/>
                    <a:lstStyle/>
                    <a:p>
                      <a:pPr marL="0" indent="0" algn="ctr">
                        <a:buNone/>
                      </a:pPr>
                      <a:r>
                        <a:rPr lang="en-US" sz="1000" dirty="0">
                          <a:solidFill>
                            <a:srgbClr val="2C3E50"/>
                          </a:solidFill>
                        </a:rPr>
                        <a:t>1000 MW</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C3E50"/>
                          </a:solidFill>
                        </a:rPr>
                        <a:t>1933 MGD</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r">
                        <a:buNone/>
                      </a:pPr>
                      <a:r>
                        <a:rPr lang="en-US" sz="1000" b="1" dirty="0">
                          <a:solidFill>
                            <a:srgbClr val="E74C3C"/>
                          </a:solidFill>
                        </a:rPr>
                        <a:t>$3.8B</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r">
                        <a:buNone/>
                      </a:pPr>
                      <a:r>
                        <a:rPr lang="en-US" sz="1000" b="1" dirty="0">
                          <a:solidFill>
                            <a:srgbClr val="27AE60"/>
                          </a:solidFill>
                        </a:rPr>
                        <a:t>$13.9B/yr</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28090"/>
                          </a:solidFill>
                        </a:rPr>
                        <a:t>5.8 mo</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6571">
                <a:tc>
                  <a:txBody>
                    <a:bodyPr/>
                    <a:lstStyle/>
                    <a:p>
                      <a:pPr marL="0" indent="0" algn="ctr">
                        <a:buNone/>
                      </a:pPr>
                      <a:r>
                        <a:rPr lang="en-US" sz="1000" b="1" dirty="0">
                          <a:solidFill>
                            <a:srgbClr val="FFFFFF"/>
                          </a:solidFill>
                        </a:rPr>
                        <a:t>High</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65A82"/>
                    </a:solidFill>
                  </a:tcPr>
                </a:tc>
                <a:tc>
                  <a:txBody>
                    <a:bodyPr/>
                    <a:lstStyle/>
                    <a:p>
                      <a:pPr marL="0" indent="0" algn="ctr">
                        <a:buNone/>
                      </a:pPr>
                      <a:r>
                        <a:rPr lang="en-US" sz="1000" dirty="0">
                          <a:solidFill>
                            <a:srgbClr val="2C3E50"/>
                          </a:solidFill>
                        </a:rPr>
                        <a:t>1000 MW</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ctr">
                        <a:buNone/>
                      </a:pPr>
                      <a:r>
                        <a:rPr lang="en-US" sz="1000" dirty="0">
                          <a:solidFill>
                            <a:srgbClr val="2C3E50"/>
                          </a:solidFill>
                        </a:rPr>
                        <a:t>1933 MGD</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r">
                        <a:buNone/>
                      </a:pPr>
                      <a:r>
                        <a:rPr lang="en-US" sz="1000" b="1" dirty="0">
                          <a:solidFill>
                            <a:srgbClr val="E74C3C"/>
                          </a:solidFill>
                        </a:rPr>
                        <a:t>$3.8B</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r">
                        <a:buNone/>
                      </a:pPr>
                      <a:r>
                        <a:rPr lang="en-US" sz="1000" b="1" dirty="0">
                          <a:solidFill>
                            <a:srgbClr val="27AE60"/>
                          </a:solidFill>
                        </a:rPr>
                        <a:t>$13.9B/yr</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ctr">
                        <a:buNone/>
                      </a:pPr>
                      <a:r>
                        <a:rPr lang="en-US" sz="1000" b="1" dirty="0">
                          <a:solidFill>
                            <a:srgbClr val="028090"/>
                          </a:solidFill>
                        </a:rPr>
                        <a:t>5.8 mo</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extLst>
                  <a:ext uri="{0D108BD9-81ED-4DB2-BD59-A6C34878D82A}">
                    <a16:rowId xmlns:a16="http://schemas.microsoft.com/office/drawing/2014/main" val="10006"/>
                  </a:ext>
                </a:extLst>
              </a:tr>
            </a:tbl>
          </a:graphicData>
        </a:graphic>
      </p:graphicFrame>
      <p:sp>
        <p:nvSpPr>
          <p:cNvPr id="6" name="Text 3"/>
          <p:cNvSpPr/>
          <p:nvPr/>
        </p:nvSpPr>
        <p:spPr>
          <a:xfrm>
            <a:off x="457200" y="3931920"/>
            <a:ext cx="8229600" cy="292608"/>
          </a:xfrm>
          <a:prstGeom prst="rect">
            <a:avLst/>
          </a:prstGeom>
          <a:noFill/>
          <a:ln/>
        </p:spPr>
        <p:txBody>
          <a:bodyPr wrap="square" rtlCol="0" anchor="ctr"/>
          <a:lstStyle/>
          <a:p>
            <a:pPr marL="0" indent="0">
              <a:buNone/>
            </a:pPr>
            <a:endParaRPr lang="en-US" sz="1300" dirty="0"/>
          </a:p>
        </p:txBody>
      </p:sp>
      <p:sp>
        <p:nvSpPr>
          <p:cNvPr id="8" name="Text 5"/>
          <p:cNvSpPr/>
          <p:nvPr/>
        </p:nvSpPr>
        <p:spPr>
          <a:xfrm>
            <a:off x="713232" y="4279392"/>
            <a:ext cx="7955280" cy="256032"/>
          </a:xfrm>
          <a:prstGeom prst="rect">
            <a:avLst/>
          </a:prstGeom>
          <a:noFill/>
          <a:ln/>
        </p:spPr>
        <p:txBody>
          <a:bodyPr wrap="square" rtlCol="0" anchor="ctr"/>
          <a:lstStyle/>
          <a:p>
            <a:pPr marL="0" indent="0">
              <a:buNone/>
            </a:pPr>
            <a:endParaRPr lang="en-US" sz="1050" dirty="0"/>
          </a:p>
        </p:txBody>
      </p:sp>
      <p:sp>
        <p:nvSpPr>
          <p:cNvPr id="12" name="Text 9"/>
          <p:cNvSpPr/>
          <p:nvPr/>
        </p:nvSpPr>
        <p:spPr>
          <a:xfrm>
            <a:off x="713232" y="4791456"/>
            <a:ext cx="7955280" cy="256032"/>
          </a:xfrm>
          <a:prstGeom prst="rect">
            <a:avLst/>
          </a:prstGeom>
          <a:noFill/>
          <a:ln/>
        </p:spPr>
        <p:txBody>
          <a:bodyPr wrap="square" rtlCol="0" anchor="ctr"/>
          <a:lstStyle/>
          <a:p>
            <a:pPr marL="0" indent="0">
              <a:buNone/>
            </a:pPr>
            <a:endParaRPr lang="en-US" sz="1050" dirty="0"/>
          </a:p>
        </p:txBody>
      </p:sp>
      <p:sp>
        <p:nvSpPr>
          <p:cNvPr id="5" name="Text 10"/>
          <p:cNvSpPr/>
          <p:nvPr/>
        </p:nvSpPr>
        <p:spPr>
          <a:xfrm>
            <a:off x="457200" y="4846320"/>
            <a:ext cx="8229600" cy="228600"/>
          </a:xfrm>
          <a:prstGeom prst="rect">
            <a:avLst/>
          </a:prstGeom>
          <a:noFill/>
          <a:ln/>
        </p:spPr>
        <p:txBody>
          <a:bodyPr wrap="square" rtlCol="0" anchor="ctr"/>
          <a:lstStyle/>
          <a:p>
            <a:pPr marL="0" indent="0" algn="l">
              <a:buNone/>
            </a:pP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marL="0" indent="0" algn="l">
              <a:buNone/>
            </a:pPr>
            <a:r>
              <a:rPr lang="en-US" sz="3000" b="1" dirty="0">
                <a:solidFill>
                  <a:srgbClr val="065A82"/>
                </a:solidFill>
                <a:latin typeface="Calibri" pitchFamily="34" charset="0"/>
                <a:ea typeface="Calibri" pitchFamily="34" charset="-122"/>
                <a:cs typeface="Calibri" pitchFamily="34" charset="-120"/>
              </a:rPr>
              <a:t>Results — Levelized Cost of Water (LCOW)</a:t>
            </a:r>
            <a:endParaRPr lang="en-US" sz="3000" dirty="0"/>
          </a:p>
        </p:txBody>
      </p:sp>
      <p:sp>
        <p:nvSpPr>
          <p:cNvPr id="3" name="Shape 1"/>
          <p:cNvSpPr/>
          <p:nvPr/>
        </p:nvSpPr>
        <p:spPr>
          <a:xfrm>
            <a:off x="457200" y="1024128"/>
            <a:ext cx="8229600" cy="36576"/>
          </a:xfrm>
          <a:prstGeom prst="rect">
            <a:avLst/>
          </a:prstGeom>
          <a:solidFill>
            <a:srgbClr val="02C39A"/>
          </a:solidFill>
          <a:ln w="12700">
            <a:solidFill>
              <a:srgbClr val="02C39A"/>
            </a:solidFill>
            <a:prstDash val="solid"/>
          </a:ln>
        </p:spPr>
        <p:txBody>
          <a:bodyPr/>
          <a:lstStyle/>
          <a:p>
            <a:endParaRPr lang="en-IN"/>
          </a:p>
        </p:txBody>
      </p:sp>
      <p:sp>
        <p:nvSpPr>
          <p:cNvPr id="5" name="Text 2"/>
          <p:cNvSpPr/>
          <p:nvPr/>
        </p:nvSpPr>
        <p:spPr>
          <a:xfrm>
            <a:off x="6583680" y="1188720"/>
            <a:ext cx="2377440" cy="320040"/>
          </a:xfrm>
          <a:prstGeom prst="rect">
            <a:avLst/>
          </a:prstGeom>
          <a:noFill/>
          <a:ln/>
        </p:spPr>
        <p:txBody>
          <a:bodyPr wrap="square" rtlCol="0" anchor="ctr"/>
          <a:lstStyle/>
          <a:p>
            <a:pPr marL="0" indent="0">
              <a:buNone/>
            </a:pPr>
            <a:endParaRPr lang="en-US" sz="1300" dirty="0"/>
          </a:p>
        </p:txBody>
      </p:sp>
      <p:sp>
        <p:nvSpPr>
          <p:cNvPr id="18" name="Text 15"/>
          <p:cNvSpPr/>
          <p:nvPr/>
        </p:nvSpPr>
        <p:spPr>
          <a:xfrm>
            <a:off x="457200" y="4773168"/>
            <a:ext cx="8229600" cy="256032"/>
          </a:xfrm>
          <a:prstGeom prst="rect">
            <a:avLst/>
          </a:prstGeom>
          <a:noFill/>
          <a:ln/>
        </p:spPr>
        <p:txBody>
          <a:bodyPr wrap="square" rtlCol="0" anchor="ctr"/>
          <a:lstStyle/>
          <a:p>
            <a:pPr marL="0" indent="0">
              <a:buNone/>
            </a:pPr>
            <a:r>
              <a:rPr lang="en-US" sz="850" i="1" dirty="0">
                <a:solidFill>
                  <a:srgbClr val="5D6D7E"/>
                </a:solidFill>
                <a:latin typeface="Calibri" pitchFamily="34" charset="0"/>
                <a:ea typeface="Calibri" pitchFamily="34" charset="-122"/>
                <a:cs typeface="Calibri" pitchFamily="34" charset="-120"/>
              </a:rPr>
              <a:t>Note: Scenario 3 LCOW shows operating cost only post-construction. Full cost comparison shown in break-even analysis on following slides.</a:t>
            </a:r>
            <a:endParaRPr lang="en-US" sz="850" dirty="0"/>
          </a:p>
        </p:txBody>
      </p:sp>
      <p:pic>
        <p:nvPicPr>
          <p:cNvPr id="7172" name="Picture 4">
            <a:extLst>
              <a:ext uri="{FF2B5EF4-FFF2-40B4-BE49-F238E27FC236}">
                <a16:creationId xmlns:a16="http://schemas.microsoft.com/office/drawing/2014/main" id="{D8F7269F-8988-B34C-AB56-C935B8023E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15290"/>
            <a:ext cx="9102725" cy="40282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277091" y="2183822"/>
            <a:ext cx="8229600" cy="775855"/>
          </a:xfrm>
          <a:prstGeom prst="rect">
            <a:avLst/>
          </a:prstGeom>
          <a:noFill/>
          <a:ln/>
        </p:spPr>
        <p:txBody>
          <a:bodyPr wrap="square" rtlCol="0" anchor="ctr"/>
          <a:lstStyle/>
          <a:p>
            <a:pPr marL="0" indent="0" algn="ctr">
              <a:buNone/>
            </a:pPr>
            <a:r>
              <a:rPr lang="en-US" sz="3000" b="1" dirty="0">
                <a:solidFill>
                  <a:srgbClr val="065A82"/>
                </a:solidFill>
                <a:latin typeface="Calibri" pitchFamily="34" charset="0"/>
                <a:ea typeface="Calibri" pitchFamily="34" charset="-122"/>
                <a:cs typeface="Calibri" pitchFamily="34" charset="-120"/>
              </a:rPr>
              <a:t>Break-Even Analysis — When Does Investment Pay Off?</a:t>
            </a:r>
            <a:endParaRPr lang="en-US" sz="3000" dirty="0"/>
          </a:p>
        </p:txBody>
      </p:sp>
      <p:sp>
        <p:nvSpPr>
          <p:cNvPr id="4" name="Text 2"/>
          <p:cNvSpPr/>
          <p:nvPr/>
        </p:nvSpPr>
        <p:spPr>
          <a:xfrm>
            <a:off x="457200" y="1115568"/>
            <a:ext cx="8229600" cy="548640"/>
          </a:xfrm>
          <a:prstGeom prst="rect">
            <a:avLst/>
          </a:prstGeom>
          <a:noFill/>
          <a:ln/>
        </p:spPr>
        <p:txBody>
          <a:bodyPr wrap="square" rtlCol="0" anchor="ctr"/>
          <a:lstStyle/>
          <a:p>
            <a:pPr marL="0" indent="0">
              <a:buNone/>
            </a:pPr>
            <a:endParaRPr lang="en-US" sz="1200" dirty="0"/>
          </a:p>
        </p:txBody>
      </p:sp>
      <p:sp>
        <p:nvSpPr>
          <p:cNvPr id="5" name="Text 3"/>
          <p:cNvSpPr/>
          <p:nvPr/>
        </p:nvSpPr>
        <p:spPr>
          <a:xfrm>
            <a:off x="457200" y="1783080"/>
            <a:ext cx="8229600" cy="320040"/>
          </a:xfrm>
          <a:prstGeom prst="rect">
            <a:avLst/>
          </a:prstGeom>
          <a:noFill/>
          <a:ln/>
        </p:spPr>
        <p:txBody>
          <a:bodyPr wrap="square" rtlCol="0" anchor="ctr"/>
          <a:lstStyle/>
          <a:p>
            <a:pPr marL="0" indent="0">
              <a:buNone/>
            </a:pPr>
            <a:endParaRPr lang="en-US" sz="1400" dirty="0"/>
          </a:p>
        </p:txBody>
      </p:sp>
      <p:sp>
        <p:nvSpPr>
          <p:cNvPr id="22" name="Text 20"/>
          <p:cNvSpPr/>
          <p:nvPr/>
        </p:nvSpPr>
        <p:spPr>
          <a:xfrm>
            <a:off x="457200" y="4846320"/>
            <a:ext cx="8229600" cy="228600"/>
          </a:xfrm>
          <a:prstGeom prst="rect">
            <a:avLst/>
          </a:prstGeom>
          <a:noFill/>
          <a:ln/>
        </p:spPr>
        <p:txBody>
          <a:bodyPr wrap="square" rtlCol="0" anchor="ctr"/>
          <a:lstStyle/>
          <a:p>
            <a:pPr marL="0" indent="0" algn="l">
              <a:buNone/>
            </a:pPr>
            <a:r>
              <a:rPr lang="en-US" sz="800" i="1" dirty="0">
                <a:solidFill>
                  <a:srgbClr val="5D6D7E"/>
                </a:solidFill>
                <a:latin typeface="Calibri" pitchFamily="34" charset="0"/>
                <a:ea typeface="Calibri" pitchFamily="34" charset="-122"/>
                <a:cs typeface="Calibri" pitchFamily="34" charset="-120"/>
              </a:rPr>
              <a:t>Break-even formula: Capital Cost ÷ (Annual Municipal Cost − Annual OPEX) = Payback period in years (Simple Payback Method). Capital costs from EPA WBS Model 2023 inflated to 2024$ using ENR CCI ×1.18.</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marL="0" indent="0" algn="l">
              <a:buNone/>
            </a:pPr>
            <a:r>
              <a:rPr lang="en-US" sz="3000" b="1" dirty="0">
                <a:solidFill>
                  <a:srgbClr val="065A82"/>
                </a:solidFill>
                <a:latin typeface="Calibri" pitchFamily="34" charset="0"/>
                <a:ea typeface="Calibri" pitchFamily="34" charset="-122"/>
                <a:cs typeface="Calibri" pitchFamily="34" charset="-120"/>
              </a:rPr>
              <a:t>Break-Even Analysis — Low Tier Facility (0.08 MW)</a:t>
            </a:r>
            <a:endParaRPr lang="en-US" sz="3000" dirty="0"/>
          </a:p>
        </p:txBody>
      </p:sp>
      <p:sp>
        <p:nvSpPr>
          <p:cNvPr id="3" name="Shape 1"/>
          <p:cNvSpPr/>
          <p:nvPr/>
        </p:nvSpPr>
        <p:spPr>
          <a:xfrm>
            <a:off x="457200" y="1024128"/>
            <a:ext cx="8229600" cy="36576"/>
          </a:xfrm>
          <a:prstGeom prst="rect">
            <a:avLst/>
          </a:prstGeom>
          <a:solidFill>
            <a:srgbClr val="02C39A"/>
          </a:solidFill>
          <a:ln w="12700">
            <a:solidFill>
              <a:srgbClr val="02C39A"/>
            </a:solidFill>
            <a:prstDash val="solid"/>
          </a:ln>
        </p:spPr>
        <p:txBody>
          <a:bodyPr/>
          <a:lstStyle/>
          <a:p>
            <a:endParaRPr lang="en-IN"/>
          </a:p>
        </p:txBody>
      </p:sp>
      <p:sp>
        <p:nvSpPr>
          <p:cNvPr id="4" name="Shape 2"/>
          <p:cNvSpPr/>
          <p:nvPr/>
        </p:nvSpPr>
        <p:spPr>
          <a:xfrm>
            <a:off x="457200" y="1143000"/>
            <a:ext cx="5943600" cy="3520440"/>
          </a:xfrm>
          <a:prstGeom prst="rect">
            <a:avLst/>
          </a:prstGeom>
          <a:solidFill>
            <a:srgbClr val="F2F9FF"/>
          </a:solidFill>
          <a:ln w="19050">
            <a:solidFill>
              <a:srgbClr val="A8D8EA"/>
            </a:solidFill>
            <a:prstDash val="solid"/>
          </a:ln>
          <a:effectLst>
            <a:outerShdw blurRad="76200" dist="25400" dir="8100000" algn="bl" rotWithShape="0">
              <a:srgbClr val="000000">
                <a:alpha val="8000"/>
              </a:srgbClr>
            </a:outerShdw>
          </a:effectLst>
        </p:spPr>
        <p:txBody>
          <a:bodyPr/>
          <a:lstStyle/>
          <a:p>
            <a:endParaRPr lang="en-IN"/>
          </a:p>
        </p:txBody>
      </p:sp>
      <p:sp>
        <p:nvSpPr>
          <p:cNvPr id="5" name="Text 3"/>
          <p:cNvSpPr/>
          <p:nvPr/>
        </p:nvSpPr>
        <p:spPr>
          <a:xfrm>
            <a:off x="457200" y="1143000"/>
            <a:ext cx="5943600" cy="3520440"/>
          </a:xfrm>
          <a:prstGeom prst="rect">
            <a:avLst/>
          </a:prstGeom>
          <a:noFill/>
          <a:ln/>
        </p:spPr>
        <p:txBody>
          <a:bodyPr wrap="square" rtlCol="0" anchor="ctr"/>
          <a:lstStyle/>
          <a:p>
            <a:pPr marL="0" indent="0" algn="ctr">
              <a:buNone/>
            </a:pPr>
            <a:r>
              <a:rPr lang="en-US" sz="1300" i="1" dirty="0">
                <a:solidFill>
                  <a:srgbClr val="5D6D7E"/>
                </a:solidFill>
                <a:latin typeface="Calibri" pitchFamily="34" charset="0"/>
                <a:ea typeface="Calibri" pitchFamily="34" charset="-122"/>
                <a:cs typeface="Calibri" pitchFamily="34" charset="-120"/>
              </a:rPr>
              <a:t>[ INSERT: Low Tier Break-Even Chart</a:t>
            </a:r>
            <a:endParaRPr lang="en-US" sz="1300" dirty="0"/>
          </a:p>
          <a:p>
            <a:pPr marL="0" indent="0" algn="ctr">
              <a:buNone/>
            </a:pPr>
            <a:r>
              <a:rPr lang="en-US" sz="1300" i="1" dirty="0">
                <a:solidFill>
                  <a:srgbClr val="5D6D7E"/>
                </a:solidFill>
                <a:latin typeface="Calibri" pitchFamily="34" charset="0"/>
                <a:ea typeface="Calibri" pitchFamily="34" charset="-122"/>
                <a:cs typeface="Calibri" pitchFamily="34" charset="-120"/>
              </a:rPr>
              <a:t>savings_low_0MW.png ]</a:t>
            </a:r>
            <a:endParaRPr lang="en-US" sz="1300" dirty="0"/>
          </a:p>
        </p:txBody>
      </p:sp>
      <p:sp>
        <p:nvSpPr>
          <p:cNvPr id="6" name="Text 4"/>
          <p:cNvSpPr/>
          <p:nvPr/>
        </p:nvSpPr>
        <p:spPr>
          <a:xfrm>
            <a:off x="6583680" y="1143000"/>
            <a:ext cx="2377440" cy="320040"/>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Key Numbers</a:t>
            </a:r>
            <a:endParaRPr lang="en-US" sz="1300" dirty="0"/>
          </a:p>
        </p:txBody>
      </p:sp>
      <p:sp>
        <p:nvSpPr>
          <p:cNvPr id="7" name="Shape 5"/>
          <p:cNvSpPr/>
          <p:nvPr/>
        </p:nvSpPr>
        <p:spPr>
          <a:xfrm>
            <a:off x="6583680" y="1536192"/>
            <a:ext cx="2377440" cy="320040"/>
          </a:xfrm>
          <a:prstGeom prst="rect">
            <a:avLst/>
          </a:prstGeom>
          <a:solidFill>
            <a:srgbClr val="EBF5FB"/>
          </a:solidFill>
          <a:ln w="6350">
            <a:solidFill>
              <a:srgbClr val="D6EAF8"/>
            </a:solidFill>
            <a:prstDash val="solid"/>
          </a:ln>
        </p:spPr>
        <p:txBody>
          <a:bodyPr/>
          <a:lstStyle/>
          <a:p>
            <a:endParaRPr lang="en-IN"/>
          </a:p>
        </p:txBody>
      </p:sp>
      <p:sp>
        <p:nvSpPr>
          <p:cNvPr id="8" name="Text 6"/>
          <p:cNvSpPr/>
          <p:nvPr/>
        </p:nvSpPr>
        <p:spPr>
          <a:xfrm>
            <a:off x="6656832" y="1554480"/>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Capacity</a:t>
            </a:r>
            <a:endParaRPr lang="en-US" sz="950" dirty="0"/>
          </a:p>
        </p:txBody>
      </p:sp>
      <p:sp>
        <p:nvSpPr>
          <p:cNvPr id="9" name="Text 7"/>
          <p:cNvSpPr/>
          <p:nvPr/>
        </p:nvSpPr>
        <p:spPr>
          <a:xfrm>
            <a:off x="7863840" y="1554480"/>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0.08 MW</a:t>
            </a:r>
            <a:endParaRPr lang="en-US" sz="950" dirty="0"/>
          </a:p>
        </p:txBody>
      </p:sp>
      <p:sp>
        <p:nvSpPr>
          <p:cNvPr id="10" name="Shape 8"/>
          <p:cNvSpPr/>
          <p:nvPr/>
        </p:nvSpPr>
        <p:spPr>
          <a:xfrm>
            <a:off x="6583680" y="1883664"/>
            <a:ext cx="2377440" cy="320040"/>
          </a:xfrm>
          <a:prstGeom prst="rect">
            <a:avLst/>
          </a:prstGeom>
          <a:solidFill>
            <a:srgbClr val="FFFFFF"/>
          </a:solidFill>
          <a:ln w="6350">
            <a:solidFill>
              <a:srgbClr val="D6EAF8"/>
            </a:solidFill>
            <a:prstDash val="solid"/>
          </a:ln>
        </p:spPr>
        <p:txBody>
          <a:bodyPr/>
          <a:lstStyle/>
          <a:p>
            <a:endParaRPr lang="en-IN"/>
          </a:p>
        </p:txBody>
      </p:sp>
      <p:sp>
        <p:nvSpPr>
          <p:cNvPr id="11" name="Text 9"/>
          <p:cNvSpPr/>
          <p:nvPr/>
        </p:nvSpPr>
        <p:spPr>
          <a:xfrm>
            <a:off x="6656832" y="1901952"/>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Mid Demand</a:t>
            </a:r>
            <a:endParaRPr lang="en-US" sz="950" dirty="0"/>
          </a:p>
        </p:txBody>
      </p:sp>
      <p:sp>
        <p:nvSpPr>
          <p:cNvPr id="12" name="Text 10"/>
          <p:cNvSpPr/>
          <p:nvPr/>
        </p:nvSpPr>
        <p:spPr>
          <a:xfrm>
            <a:off x="7863840" y="1901952"/>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0.145 MGD</a:t>
            </a:r>
            <a:endParaRPr lang="en-US" sz="950" dirty="0"/>
          </a:p>
        </p:txBody>
      </p:sp>
      <p:sp>
        <p:nvSpPr>
          <p:cNvPr id="13" name="Shape 11"/>
          <p:cNvSpPr/>
          <p:nvPr/>
        </p:nvSpPr>
        <p:spPr>
          <a:xfrm>
            <a:off x="6583680" y="2231136"/>
            <a:ext cx="2377440" cy="320040"/>
          </a:xfrm>
          <a:prstGeom prst="rect">
            <a:avLst/>
          </a:prstGeom>
          <a:solidFill>
            <a:srgbClr val="EBF5FB"/>
          </a:solidFill>
          <a:ln w="6350">
            <a:solidFill>
              <a:srgbClr val="D6EAF8"/>
            </a:solidFill>
            <a:prstDash val="solid"/>
          </a:ln>
        </p:spPr>
        <p:txBody>
          <a:bodyPr/>
          <a:lstStyle/>
          <a:p>
            <a:endParaRPr lang="en-IN"/>
          </a:p>
        </p:txBody>
      </p:sp>
      <p:sp>
        <p:nvSpPr>
          <p:cNvPr id="14" name="Text 12"/>
          <p:cNvSpPr/>
          <p:nvPr/>
        </p:nvSpPr>
        <p:spPr>
          <a:xfrm>
            <a:off x="6656832" y="2249424"/>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UF+RO Capital</a:t>
            </a:r>
            <a:endParaRPr lang="en-US" sz="950" dirty="0"/>
          </a:p>
        </p:txBody>
      </p:sp>
      <p:sp>
        <p:nvSpPr>
          <p:cNvPr id="15" name="Text 13"/>
          <p:cNvSpPr/>
          <p:nvPr/>
        </p:nvSpPr>
        <p:spPr>
          <a:xfrm>
            <a:off x="7863840" y="2249424"/>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$1.24M</a:t>
            </a:r>
            <a:endParaRPr lang="en-US" sz="950" dirty="0"/>
          </a:p>
        </p:txBody>
      </p:sp>
      <p:sp>
        <p:nvSpPr>
          <p:cNvPr id="16" name="Shape 14"/>
          <p:cNvSpPr/>
          <p:nvPr/>
        </p:nvSpPr>
        <p:spPr>
          <a:xfrm>
            <a:off x="6583680" y="2578608"/>
            <a:ext cx="2377440" cy="320040"/>
          </a:xfrm>
          <a:prstGeom prst="rect">
            <a:avLst/>
          </a:prstGeom>
          <a:solidFill>
            <a:srgbClr val="FFFFFF"/>
          </a:solidFill>
          <a:ln w="6350">
            <a:solidFill>
              <a:srgbClr val="D6EAF8"/>
            </a:solidFill>
            <a:prstDash val="solid"/>
          </a:ln>
        </p:spPr>
        <p:txBody>
          <a:bodyPr/>
          <a:lstStyle/>
          <a:p>
            <a:endParaRPr lang="en-IN"/>
          </a:p>
        </p:txBody>
      </p:sp>
      <p:sp>
        <p:nvSpPr>
          <p:cNvPr id="17" name="Text 15"/>
          <p:cNvSpPr/>
          <p:nvPr/>
        </p:nvSpPr>
        <p:spPr>
          <a:xfrm>
            <a:off x="6656832" y="2596896"/>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S2 Monthly Save</a:t>
            </a:r>
            <a:endParaRPr lang="en-US" sz="950" dirty="0"/>
          </a:p>
        </p:txBody>
      </p:sp>
      <p:sp>
        <p:nvSpPr>
          <p:cNvPr id="18" name="Text 16"/>
          <p:cNvSpPr/>
          <p:nvPr/>
        </p:nvSpPr>
        <p:spPr>
          <a:xfrm>
            <a:off x="7863840" y="2596896"/>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$21,832</a:t>
            </a:r>
            <a:endParaRPr lang="en-US" sz="950" dirty="0"/>
          </a:p>
        </p:txBody>
      </p:sp>
      <p:sp>
        <p:nvSpPr>
          <p:cNvPr id="19" name="Shape 17"/>
          <p:cNvSpPr/>
          <p:nvPr/>
        </p:nvSpPr>
        <p:spPr>
          <a:xfrm>
            <a:off x="6583680" y="2926080"/>
            <a:ext cx="2377440" cy="320040"/>
          </a:xfrm>
          <a:prstGeom prst="rect">
            <a:avLst/>
          </a:prstGeom>
          <a:solidFill>
            <a:srgbClr val="EBF5FB"/>
          </a:solidFill>
          <a:ln w="6350">
            <a:solidFill>
              <a:srgbClr val="D6EAF8"/>
            </a:solidFill>
            <a:prstDash val="solid"/>
          </a:ln>
        </p:spPr>
        <p:txBody>
          <a:bodyPr/>
          <a:lstStyle/>
          <a:p>
            <a:endParaRPr lang="en-IN"/>
          </a:p>
        </p:txBody>
      </p:sp>
      <p:sp>
        <p:nvSpPr>
          <p:cNvPr id="20" name="Text 18"/>
          <p:cNvSpPr/>
          <p:nvPr/>
        </p:nvSpPr>
        <p:spPr>
          <a:xfrm>
            <a:off x="6656832" y="2944368"/>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S3 Monthly Save</a:t>
            </a:r>
            <a:endParaRPr lang="en-US" sz="950" dirty="0"/>
          </a:p>
        </p:txBody>
      </p:sp>
      <p:sp>
        <p:nvSpPr>
          <p:cNvPr id="21" name="Text 19"/>
          <p:cNvSpPr/>
          <p:nvPr/>
        </p:nvSpPr>
        <p:spPr>
          <a:xfrm>
            <a:off x="7863840" y="2944368"/>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$47,658</a:t>
            </a:r>
            <a:endParaRPr lang="en-US" sz="950" dirty="0"/>
          </a:p>
        </p:txBody>
      </p:sp>
      <p:sp>
        <p:nvSpPr>
          <p:cNvPr id="22" name="Shape 20"/>
          <p:cNvSpPr/>
          <p:nvPr/>
        </p:nvSpPr>
        <p:spPr>
          <a:xfrm>
            <a:off x="6583680" y="3273552"/>
            <a:ext cx="2377440" cy="320040"/>
          </a:xfrm>
          <a:prstGeom prst="rect">
            <a:avLst/>
          </a:prstGeom>
          <a:solidFill>
            <a:srgbClr val="FFFFFF"/>
          </a:solidFill>
          <a:ln w="6350">
            <a:solidFill>
              <a:srgbClr val="D6EAF8"/>
            </a:solidFill>
            <a:prstDash val="solid"/>
          </a:ln>
        </p:spPr>
        <p:txBody>
          <a:bodyPr/>
          <a:lstStyle/>
          <a:p>
            <a:endParaRPr lang="en-IN"/>
          </a:p>
        </p:txBody>
      </p:sp>
      <p:sp>
        <p:nvSpPr>
          <p:cNvPr id="23" name="Text 21"/>
          <p:cNvSpPr/>
          <p:nvPr/>
        </p:nvSpPr>
        <p:spPr>
          <a:xfrm>
            <a:off x="6656832" y="3291840"/>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S3 Break-even</a:t>
            </a:r>
            <a:endParaRPr lang="en-US" sz="950" dirty="0"/>
          </a:p>
        </p:txBody>
      </p:sp>
      <p:sp>
        <p:nvSpPr>
          <p:cNvPr id="24" name="Text 22"/>
          <p:cNvSpPr/>
          <p:nvPr/>
        </p:nvSpPr>
        <p:spPr>
          <a:xfrm>
            <a:off x="7863840" y="3291840"/>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28.1 months</a:t>
            </a:r>
            <a:endParaRPr lang="en-US" sz="950" dirty="0"/>
          </a:p>
        </p:txBody>
      </p:sp>
      <p:sp>
        <p:nvSpPr>
          <p:cNvPr id="25" name="Shape 23"/>
          <p:cNvSpPr/>
          <p:nvPr/>
        </p:nvSpPr>
        <p:spPr>
          <a:xfrm>
            <a:off x="6583680" y="3621024"/>
            <a:ext cx="2377440" cy="320040"/>
          </a:xfrm>
          <a:prstGeom prst="rect">
            <a:avLst/>
          </a:prstGeom>
          <a:solidFill>
            <a:srgbClr val="EBF5FB"/>
          </a:solidFill>
          <a:ln w="6350">
            <a:solidFill>
              <a:srgbClr val="D6EAF8"/>
            </a:solidFill>
            <a:prstDash val="solid"/>
          </a:ln>
        </p:spPr>
        <p:txBody>
          <a:bodyPr/>
          <a:lstStyle/>
          <a:p>
            <a:endParaRPr lang="en-IN"/>
          </a:p>
        </p:txBody>
      </p:sp>
      <p:sp>
        <p:nvSpPr>
          <p:cNvPr id="26" name="Text 24"/>
          <p:cNvSpPr/>
          <p:nvPr/>
        </p:nvSpPr>
        <p:spPr>
          <a:xfrm>
            <a:off x="6656832" y="3639312"/>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S2 at Year 4</a:t>
            </a:r>
            <a:endParaRPr lang="en-US" sz="950" dirty="0"/>
          </a:p>
        </p:txBody>
      </p:sp>
      <p:sp>
        <p:nvSpPr>
          <p:cNvPr id="27" name="Text 25"/>
          <p:cNvSpPr/>
          <p:nvPr/>
        </p:nvSpPr>
        <p:spPr>
          <a:xfrm>
            <a:off x="7863840" y="3639312"/>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$1,048K saved</a:t>
            </a:r>
            <a:endParaRPr lang="en-US" sz="950" dirty="0"/>
          </a:p>
        </p:txBody>
      </p:sp>
      <p:sp>
        <p:nvSpPr>
          <p:cNvPr id="28" name="Shape 26"/>
          <p:cNvSpPr/>
          <p:nvPr/>
        </p:nvSpPr>
        <p:spPr>
          <a:xfrm>
            <a:off x="6583680" y="3968496"/>
            <a:ext cx="2377440" cy="320040"/>
          </a:xfrm>
          <a:prstGeom prst="rect">
            <a:avLst/>
          </a:prstGeom>
          <a:solidFill>
            <a:srgbClr val="FFFFFF"/>
          </a:solidFill>
          <a:ln w="6350">
            <a:solidFill>
              <a:srgbClr val="D6EAF8"/>
            </a:solidFill>
            <a:prstDash val="solid"/>
          </a:ln>
        </p:spPr>
        <p:txBody>
          <a:bodyPr/>
          <a:lstStyle/>
          <a:p>
            <a:endParaRPr lang="en-IN"/>
          </a:p>
        </p:txBody>
      </p:sp>
      <p:sp>
        <p:nvSpPr>
          <p:cNvPr id="29" name="Text 27"/>
          <p:cNvSpPr/>
          <p:nvPr/>
        </p:nvSpPr>
        <p:spPr>
          <a:xfrm>
            <a:off x="6656832" y="3986784"/>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S3 at Year 4</a:t>
            </a:r>
            <a:endParaRPr lang="en-US" sz="950" dirty="0"/>
          </a:p>
        </p:txBody>
      </p:sp>
      <p:sp>
        <p:nvSpPr>
          <p:cNvPr id="30" name="Text 28"/>
          <p:cNvSpPr/>
          <p:nvPr/>
        </p:nvSpPr>
        <p:spPr>
          <a:xfrm>
            <a:off x="7863840" y="3986784"/>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$950K saved</a:t>
            </a:r>
            <a:endParaRPr lang="en-US" sz="950" dirty="0"/>
          </a:p>
        </p:txBody>
      </p:sp>
      <p:sp>
        <p:nvSpPr>
          <p:cNvPr id="31" name="Shape 29"/>
          <p:cNvSpPr/>
          <p:nvPr/>
        </p:nvSpPr>
        <p:spPr>
          <a:xfrm>
            <a:off x="457200" y="4773168"/>
            <a:ext cx="8229600" cy="274320"/>
          </a:xfrm>
          <a:prstGeom prst="rect">
            <a:avLst/>
          </a:prstGeom>
          <a:solidFill>
            <a:srgbClr val="1C7293">
              <a:alpha val="15000"/>
            </a:srgbClr>
          </a:solidFill>
          <a:ln w="12700">
            <a:solidFill>
              <a:srgbClr val="D6EAF8"/>
            </a:solidFill>
            <a:prstDash val="solid"/>
          </a:ln>
        </p:spPr>
        <p:txBody>
          <a:bodyPr/>
          <a:lstStyle/>
          <a:p>
            <a:endParaRPr lang="en-IN"/>
          </a:p>
        </p:txBody>
      </p:sp>
      <p:sp>
        <p:nvSpPr>
          <p:cNvPr id="32" name="Text 30"/>
          <p:cNvSpPr/>
          <p:nvPr/>
        </p:nvSpPr>
        <p:spPr>
          <a:xfrm>
            <a:off x="548640" y="4791456"/>
            <a:ext cx="8046720" cy="237744"/>
          </a:xfrm>
          <a:prstGeom prst="rect">
            <a:avLst/>
          </a:prstGeom>
          <a:noFill/>
          <a:ln/>
        </p:spPr>
        <p:txBody>
          <a:bodyPr wrap="square" rtlCol="0" anchor="ctr"/>
          <a:lstStyle/>
          <a:p>
            <a:pPr marL="0" indent="0">
              <a:buNone/>
            </a:pPr>
            <a:r>
              <a:rPr lang="en-US" sz="1000" i="1" dirty="0">
                <a:solidFill>
                  <a:srgbClr val="065A82"/>
                </a:solidFill>
                <a:latin typeface="Calibri" pitchFamily="34" charset="0"/>
                <a:ea typeface="Calibri" pitchFamily="34" charset="-122"/>
                <a:cs typeface="Calibri" pitchFamily="34" charset="-120"/>
              </a:rPr>
              <a:t>Finding: Scenario 2 is better in the short term. Scenario 3 breaks even at 28.1 months — viable for long-term committed facilities.</a:t>
            </a:r>
            <a:endParaRPr lang="en-US" sz="1000" dirty="0"/>
          </a:p>
        </p:txBody>
      </p:sp>
      <p:pic>
        <p:nvPicPr>
          <p:cNvPr id="5122" name="Picture 2">
            <a:extLst>
              <a:ext uri="{FF2B5EF4-FFF2-40B4-BE49-F238E27FC236}">
                <a16:creationId xmlns:a16="http://schemas.microsoft.com/office/drawing/2014/main" id="{3B2C6C74-1DD3-71B2-EEEC-A82354324C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8924"/>
          <a:stretch>
            <a:fillRect/>
          </a:stretch>
        </p:blipFill>
        <p:spPr bwMode="auto">
          <a:xfrm>
            <a:off x="398027" y="1124712"/>
            <a:ext cx="6002773" cy="35387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marL="0" indent="0" algn="l">
              <a:buNone/>
            </a:pPr>
            <a:r>
              <a:rPr lang="en-US" sz="3000" b="1" dirty="0">
                <a:solidFill>
                  <a:srgbClr val="065A82"/>
                </a:solidFill>
                <a:latin typeface="Calibri" pitchFamily="34" charset="0"/>
                <a:ea typeface="Calibri" pitchFamily="34" charset="-122"/>
                <a:cs typeface="Calibri" pitchFamily="34" charset="-120"/>
              </a:rPr>
              <a:t>Break-Even Analysis — Medium Tier Facility (10 MW)</a:t>
            </a:r>
            <a:endParaRPr lang="en-US" sz="3000" dirty="0"/>
          </a:p>
        </p:txBody>
      </p:sp>
      <p:sp>
        <p:nvSpPr>
          <p:cNvPr id="3" name="Shape 1"/>
          <p:cNvSpPr/>
          <p:nvPr/>
        </p:nvSpPr>
        <p:spPr>
          <a:xfrm>
            <a:off x="457200" y="1024128"/>
            <a:ext cx="8229600" cy="36576"/>
          </a:xfrm>
          <a:prstGeom prst="rect">
            <a:avLst/>
          </a:prstGeom>
          <a:solidFill>
            <a:srgbClr val="02C39A"/>
          </a:solidFill>
          <a:ln w="12700">
            <a:solidFill>
              <a:srgbClr val="02C39A"/>
            </a:solidFill>
            <a:prstDash val="solid"/>
          </a:ln>
        </p:spPr>
        <p:txBody>
          <a:bodyPr/>
          <a:lstStyle/>
          <a:p>
            <a:endParaRPr lang="en-IN"/>
          </a:p>
        </p:txBody>
      </p:sp>
      <p:sp>
        <p:nvSpPr>
          <p:cNvPr id="4" name="Shape 2"/>
          <p:cNvSpPr/>
          <p:nvPr/>
        </p:nvSpPr>
        <p:spPr>
          <a:xfrm>
            <a:off x="457200" y="1143000"/>
            <a:ext cx="5943600" cy="3520440"/>
          </a:xfrm>
          <a:prstGeom prst="rect">
            <a:avLst/>
          </a:prstGeom>
          <a:solidFill>
            <a:srgbClr val="F2F9FF"/>
          </a:solidFill>
          <a:ln w="19050">
            <a:solidFill>
              <a:srgbClr val="A8D8EA"/>
            </a:solidFill>
            <a:prstDash val="solid"/>
          </a:ln>
          <a:effectLst>
            <a:outerShdw blurRad="76200" dist="25400" dir="8100000" algn="bl" rotWithShape="0">
              <a:srgbClr val="000000">
                <a:alpha val="8000"/>
              </a:srgbClr>
            </a:outerShdw>
          </a:effectLst>
        </p:spPr>
        <p:txBody>
          <a:bodyPr/>
          <a:lstStyle/>
          <a:p>
            <a:endParaRPr lang="en-IN"/>
          </a:p>
        </p:txBody>
      </p:sp>
      <p:sp>
        <p:nvSpPr>
          <p:cNvPr id="5" name="Text 3"/>
          <p:cNvSpPr/>
          <p:nvPr/>
        </p:nvSpPr>
        <p:spPr>
          <a:xfrm>
            <a:off x="457200" y="1143000"/>
            <a:ext cx="5943600" cy="3520440"/>
          </a:xfrm>
          <a:prstGeom prst="rect">
            <a:avLst/>
          </a:prstGeom>
          <a:noFill/>
          <a:ln/>
        </p:spPr>
        <p:txBody>
          <a:bodyPr wrap="square" rtlCol="0" anchor="ctr"/>
          <a:lstStyle/>
          <a:p>
            <a:pPr marL="0" indent="0" algn="ctr">
              <a:buNone/>
            </a:pPr>
            <a:r>
              <a:rPr lang="en-US" sz="1300" i="1" dirty="0">
                <a:solidFill>
                  <a:srgbClr val="5D6D7E"/>
                </a:solidFill>
                <a:latin typeface="Calibri" pitchFamily="34" charset="0"/>
                <a:ea typeface="Calibri" pitchFamily="34" charset="-122"/>
                <a:cs typeface="Calibri" pitchFamily="34" charset="-120"/>
              </a:rPr>
              <a:t>[ INSERT: Medium Tier Break-Even Chart</a:t>
            </a:r>
            <a:endParaRPr lang="en-US" sz="1300" dirty="0"/>
          </a:p>
          <a:p>
            <a:pPr marL="0" indent="0" algn="ctr">
              <a:buNone/>
            </a:pPr>
            <a:r>
              <a:rPr lang="en-US" sz="1300" i="1" dirty="0">
                <a:solidFill>
                  <a:srgbClr val="5D6D7E"/>
                </a:solidFill>
                <a:latin typeface="Calibri" pitchFamily="34" charset="0"/>
                <a:ea typeface="Calibri" pitchFamily="34" charset="-122"/>
                <a:cs typeface="Calibri" pitchFamily="34" charset="-120"/>
              </a:rPr>
              <a:t>savings_medium_10MW.png ]</a:t>
            </a:r>
            <a:endParaRPr lang="en-US" sz="1300" dirty="0"/>
          </a:p>
        </p:txBody>
      </p:sp>
      <p:sp>
        <p:nvSpPr>
          <p:cNvPr id="6" name="Text 4"/>
          <p:cNvSpPr/>
          <p:nvPr/>
        </p:nvSpPr>
        <p:spPr>
          <a:xfrm>
            <a:off x="6583680" y="1143000"/>
            <a:ext cx="2377440" cy="320040"/>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Key Numbers</a:t>
            </a:r>
            <a:endParaRPr lang="en-US" sz="1300" dirty="0"/>
          </a:p>
        </p:txBody>
      </p:sp>
      <p:sp>
        <p:nvSpPr>
          <p:cNvPr id="7" name="Shape 5"/>
          <p:cNvSpPr/>
          <p:nvPr/>
        </p:nvSpPr>
        <p:spPr>
          <a:xfrm>
            <a:off x="6583680" y="1536192"/>
            <a:ext cx="2377440" cy="320040"/>
          </a:xfrm>
          <a:prstGeom prst="rect">
            <a:avLst/>
          </a:prstGeom>
          <a:solidFill>
            <a:srgbClr val="EBF5FB"/>
          </a:solidFill>
          <a:ln w="6350">
            <a:solidFill>
              <a:srgbClr val="D6EAF8"/>
            </a:solidFill>
            <a:prstDash val="solid"/>
          </a:ln>
        </p:spPr>
        <p:txBody>
          <a:bodyPr/>
          <a:lstStyle/>
          <a:p>
            <a:endParaRPr lang="en-IN"/>
          </a:p>
        </p:txBody>
      </p:sp>
      <p:sp>
        <p:nvSpPr>
          <p:cNvPr id="8" name="Text 6"/>
          <p:cNvSpPr/>
          <p:nvPr/>
        </p:nvSpPr>
        <p:spPr>
          <a:xfrm>
            <a:off x="6656832" y="1554480"/>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Capacity</a:t>
            </a:r>
            <a:endParaRPr lang="en-US" sz="950" dirty="0"/>
          </a:p>
        </p:txBody>
      </p:sp>
      <p:sp>
        <p:nvSpPr>
          <p:cNvPr id="9" name="Text 7"/>
          <p:cNvSpPr/>
          <p:nvPr/>
        </p:nvSpPr>
        <p:spPr>
          <a:xfrm>
            <a:off x="7863840" y="1554480"/>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10.00 MW</a:t>
            </a:r>
            <a:endParaRPr lang="en-US" sz="950" dirty="0"/>
          </a:p>
        </p:txBody>
      </p:sp>
      <p:sp>
        <p:nvSpPr>
          <p:cNvPr id="10" name="Shape 8"/>
          <p:cNvSpPr/>
          <p:nvPr/>
        </p:nvSpPr>
        <p:spPr>
          <a:xfrm>
            <a:off x="6583680" y="1883664"/>
            <a:ext cx="2377440" cy="320040"/>
          </a:xfrm>
          <a:prstGeom prst="rect">
            <a:avLst/>
          </a:prstGeom>
          <a:solidFill>
            <a:srgbClr val="FFFFFF"/>
          </a:solidFill>
          <a:ln w="6350">
            <a:solidFill>
              <a:srgbClr val="D6EAF8"/>
            </a:solidFill>
            <a:prstDash val="solid"/>
          </a:ln>
        </p:spPr>
        <p:txBody>
          <a:bodyPr/>
          <a:lstStyle/>
          <a:p>
            <a:endParaRPr lang="en-IN"/>
          </a:p>
        </p:txBody>
      </p:sp>
      <p:sp>
        <p:nvSpPr>
          <p:cNvPr id="11" name="Text 9"/>
          <p:cNvSpPr/>
          <p:nvPr/>
        </p:nvSpPr>
        <p:spPr>
          <a:xfrm>
            <a:off x="6656832" y="1901952"/>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Mid Demand</a:t>
            </a:r>
            <a:endParaRPr lang="en-US" sz="950" dirty="0"/>
          </a:p>
        </p:txBody>
      </p:sp>
      <p:sp>
        <p:nvSpPr>
          <p:cNvPr id="12" name="Text 10"/>
          <p:cNvSpPr/>
          <p:nvPr/>
        </p:nvSpPr>
        <p:spPr>
          <a:xfrm>
            <a:off x="7863840" y="1901952"/>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19.33 MGD</a:t>
            </a:r>
            <a:endParaRPr lang="en-US" sz="950" dirty="0"/>
          </a:p>
        </p:txBody>
      </p:sp>
      <p:sp>
        <p:nvSpPr>
          <p:cNvPr id="13" name="Shape 11"/>
          <p:cNvSpPr/>
          <p:nvPr/>
        </p:nvSpPr>
        <p:spPr>
          <a:xfrm>
            <a:off x="6583680" y="2231136"/>
            <a:ext cx="2377440" cy="320040"/>
          </a:xfrm>
          <a:prstGeom prst="rect">
            <a:avLst/>
          </a:prstGeom>
          <a:solidFill>
            <a:srgbClr val="EBF5FB"/>
          </a:solidFill>
          <a:ln w="6350">
            <a:solidFill>
              <a:srgbClr val="D6EAF8"/>
            </a:solidFill>
            <a:prstDash val="solid"/>
          </a:ln>
        </p:spPr>
        <p:txBody>
          <a:bodyPr/>
          <a:lstStyle/>
          <a:p>
            <a:endParaRPr lang="en-IN"/>
          </a:p>
        </p:txBody>
      </p:sp>
      <p:sp>
        <p:nvSpPr>
          <p:cNvPr id="14" name="Text 12"/>
          <p:cNvSpPr/>
          <p:nvPr/>
        </p:nvSpPr>
        <p:spPr>
          <a:xfrm>
            <a:off x="6656832" y="2249424"/>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UF+RO Capital</a:t>
            </a:r>
            <a:endParaRPr lang="en-US" sz="950" dirty="0"/>
          </a:p>
        </p:txBody>
      </p:sp>
      <p:sp>
        <p:nvSpPr>
          <p:cNvPr id="15" name="Text 13"/>
          <p:cNvSpPr/>
          <p:nvPr/>
        </p:nvSpPr>
        <p:spPr>
          <a:xfrm>
            <a:off x="7863840" y="2249424"/>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$53.2M</a:t>
            </a:r>
            <a:endParaRPr lang="en-US" sz="950" dirty="0"/>
          </a:p>
        </p:txBody>
      </p:sp>
      <p:sp>
        <p:nvSpPr>
          <p:cNvPr id="16" name="Shape 14"/>
          <p:cNvSpPr/>
          <p:nvPr/>
        </p:nvSpPr>
        <p:spPr>
          <a:xfrm>
            <a:off x="6583680" y="2578608"/>
            <a:ext cx="2377440" cy="320040"/>
          </a:xfrm>
          <a:prstGeom prst="rect">
            <a:avLst/>
          </a:prstGeom>
          <a:solidFill>
            <a:srgbClr val="FFFFFF"/>
          </a:solidFill>
          <a:ln w="6350">
            <a:solidFill>
              <a:srgbClr val="D6EAF8"/>
            </a:solidFill>
            <a:prstDash val="solid"/>
          </a:ln>
        </p:spPr>
        <p:txBody>
          <a:bodyPr/>
          <a:lstStyle/>
          <a:p>
            <a:endParaRPr lang="en-IN"/>
          </a:p>
        </p:txBody>
      </p:sp>
      <p:sp>
        <p:nvSpPr>
          <p:cNvPr id="17" name="Text 15"/>
          <p:cNvSpPr/>
          <p:nvPr/>
        </p:nvSpPr>
        <p:spPr>
          <a:xfrm>
            <a:off x="6656832" y="2596896"/>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S2 Monthly Save</a:t>
            </a:r>
            <a:endParaRPr lang="en-US" sz="950" dirty="0"/>
          </a:p>
        </p:txBody>
      </p:sp>
      <p:sp>
        <p:nvSpPr>
          <p:cNvPr id="18" name="Text 16"/>
          <p:cNvSpPr/>
          <p:nvPr/>
        </p:nvSpPr>
        <p:spPr>
          <a:xfrm>
            <a:off x="7863840" y="2596896"/>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$34,931K</a:t>
            </a:r>
            <a:endParaRPr lang="en-US" sz="950" dirty="0"/>
          </a:p>
        </p:txBody>
      </p:sp>
      <p:sp>
        <p:nvSpPr>
          <p:cNvPr id="19" name="Shape 17"/>
          <p:cNvSpPr/>
          <p:nvPr/>
        </p:nvSpPr>
        <p:spPr>
          <a:xfrm>
            <a:off x="6583680" y="2926080"/>
            <a:ext cx="2377440" cy="320040"/>
          </a:xfrm>
          <a:prstGeom prst="rect">
            <a:avLst/>
          </a:prstGeom>
          <a:solidFill>
            <a:srgbClr val="EBF5FB"/>
          </a:solidFill>
          <a:ln w="6350">
            <a:solidFill>
              <a:srgbClr val="D6EAF8"/>
            </a:solidFill>
            <a:prstDash val="solid"/>
          </a:ln>
        </p:spPr>
        <p:txBody>
          <a:bodyPr/>
          <a:lstStyle/>
          <a:p>
            <a:endParaRPr lang="en-IN"/>
          </a:p>
        </p:txBody>
      </p:sp>
      <p:sp>
        <p:nvSpPr>
          <p:cNvPr id="20" name="Text 18"/>
          <p:cNvSpPr/>
          <p:nvPr/>
        </p:nvSpPr>
        <p:spPr>
          <a:xfrm>
            <a:off x="6656832" y="2944368"/>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S3 Monthly Save</a:t>
            </a:r>
            <a:endParaRPr lang="en-US" sz="950" dirty="0"/>
          </a:p>
        </p:txBody>
      </p:sp>
      <p:sp>
        <p:nvSpPr>
          <p:cNvPr id="21" name="Text 19"/>
          <p:cNvSpPr/>
          <p:nvPr/>
        </p:nvSpPr>
        <p:spPr>
          <a:xfrm>
            <a:off x="7863840" y="2944368"/>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$78,958K</a:t>
            </a:r>
            <a:endParaRPr lang="en-US" sz="950" dirty="0"/>
          </a:p>
        </p:txBody>
      </p:sp>
      <p:sp>
        <p:nvSpPr>
          <p:cNvPr id="22" name="Shape 20"/>
          <p:cNvSpPr/>
          <p:nvPr/>
        </p:nvSpPr>
        <p:spPr>
          <a:xfrm>
            <a:off x="6583680" y="3273552"/>
            <a:ext cx="2377440" cy="320040"/>
          </a:xfrm>
          <a:prstGeom prst="rect">
            <a:avLst/>
          </a:prstGeom>
          <a:solidFill>
            <a:srgbClr val="FFFFFF"/>
          </a:solidFill>
          <a:ln w="6350">
            <a:solidFill>
              <a:srgbClr val="D6EAF8"/>
            </a:solidFill>
            <a:prstDash val="solid"/>
          </a:ln>
        </p:spPr>
        <p:txBody>
          <a:bodyPr/>
          <a:lstStyle/>
          <a:p>
            <a:endParaRPr lang="en-IN"/>
          </a:p>
        </p:txBody>
      </p:sp>
      <p:sp>
        <p:nvSpPr>
          <p:cNvPr id="23" name="Text 21"/>
          <p:cNvSpPr/>
          <p:nvPr/>
        </p:nvSpPr>
        <p:spPr>
          <a:xfrm>
            <a:off x="6656832" y="3291840"/>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S3 Break-even</a:t>
            </a:r>
            <a:endParaRPr lang="en-US" sz="950" dirty="0"/>
          </a:p>
        </p:txBody>
      </p:sp>
      <p:sp>
        <p:nvSpPr>
          <p:cNvPr id="24" name="Text 22"/>
          <p:cNvSpPr/>
          <p:nvPr/>
        </p:nvSpPr>
        <p:spPr>
          <a:xfrm>
            <a:off x="7863840" y="3291840"/>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8.3 months</a:t>
            </a:r>
            <a:endParaRPr lang="en-US" sz="950" dirty="0"/>
          </a:p>
        </p:txBody>
      </p:sp>
      <p:sp>
        <p:nvSpPr>
          <p:cNvPr id="25" name="Shape 23"/>
          <p:cNvSpPr/>
          <p:nvPr/>
        </p:nvSpPr>
        <p:spPr>
          <a:xfrm>
            <a:off x="6583680" y="3621024"/>
            <a:ext cx="2377440" cy="320040"/>
          </a:xfrm>
          <a:prstGeom prst="rect">
            <a:avLst/>
          </a:prstGeom>
          <a:solidFill>
            <a:srgbClr val="EBF5FB"/>
          </a:solidFill>
          <a:ln w="6350">
            <a:solidFill>
              <a:srgbClr val="D6EAF8"/>
            </a:solidFill>
            <a:prstDash val="solid"/>
          </a:ln>
        </p:spPr>
        <p:txBody>
          <a:bodyPr/>
          <a:lstStyle/>
          <a:p>
            <a:endParaRPr lang="en-IN"/>
          </a:p>
        </p:txBody>
      </p:sp>
      <p:sp>
        <p:nvSpPr>
          <p:cNvPr id="26" name="Text 24"/>
          <p:cNvSpPr/>
          <p:nvPr/>
        </p:nvSpPr>
        <p:spPr>
          <a:xfrm>
            <a:off x="6656832" y="3639312"/>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S2 at Year 4</a:t>
            </a:r>
            <a:endParaRPr lang="en-US" sz="950" dirty="0"/>
          </a:p>
        </p:txBody>
      </p:sp>
      <p:sp>
        <p:nvSpPr>
          <p:cNvPr id="27" name="Text 25"/>
          <p:cNvSpPr/>
          <p:nvPr/>
        </p:nvSpPr>
        <p:spPr>
          <a:xfrm>
            <a:off x="7863840" y="3639312"/>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$139.7M saved</a:t>
            </a:r>
            <a:endParaRPr lang="en-US" sz="950" dirty="0"/>
          </a:p>
        </p:txBody>
      </p:sp>
      <p:sp>
        <p:nvSpPr>
          <p:cNvPr id="28" name="Shape 26"/>
          <p:cNvSpPr/>
          <p:nvPr/>
        </p:nvSpPr>
        <p:spPr>
          <a:xfrm>
            <a:off x="6583680" y="3968496"/>
            <a:ext cx="2377440" cy="320040"/>
          </a:xfrm>
          <a:prstGeom prst="rect">
            <a:avLst/>
          </a:prstGeom>
          <a:solidFill>
            <a:srgbClr val="FFFFFF"/>
          </a:solidFill>
          <a:ln w="6350">
            <a:solidFill>
              <a:srgbClr val="D6EAF8"/>
            </a:solidFill>
            <a:prstDash val="solid"/>
          </a:ln>
        </p:spPr>
        <p:txBody>
          <a:bodyPr/>
          <a:lstStyle/>
          <a:p>
            <a:endParaRPr lang="en-IN"/>
          </a:p>
        </p:txBody>
      </p:sp>
      <p:sp>
        <p:nvSpPr>
          <p:cNvPr id="29" name="Text 27"/>
          <p:cNvSpPr/>
          <p:nvPr/>
        </p:nvSpPr>
        <p:spPr>
          <a:xfrm>
            <a:off x="6656832" y="3986784"/>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S3 at Year 4</a:t>
            </a:r>
            <a:endParaRPr lang="en-US" sz="950" dirty="0"/>
          </a:p>
        </p:txBody>
      </p:sp>
      <p:sp>
        <p:nvSpPr>
          <p:cNvPr id="30" name="Text 28"/>
          <p:cNvSpPr/>
          <p:nvPr/>
        </p:nvSpPr>
        <p:spPr>
          <a:xfrm>
            <a:off x="7863840" y="3986784"/>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$260.9M saved</a:t>
            </a:r>
            <a:endParaRPr lang="en-US" sz="950" dirty="0"/>
          </a:p>
        </p:txBody>
      </p:sp>
      <p:sp>
        <p:nvSpPr>
          <p:cNvPr id="31" name="Shape 29"/>
          <p:cNvSpPr/>
          <p:nvPr/>
        </p:nvSpPr>
        <p:spPr>
          <a:xfrm>
            <a:off x="457200" y="4773168"/>
            <a:ext cx="8229600" cy="274320"/>
          </a:xfrm>
          <a:prstGeom prst="rect">
            <a:avLst/>
          </a:prstGeom>
          <a:solidFill>
            <a:srgbClr val="028090">
              <a:alpha val="15000"/>
            </a:srgbClr>
          </a:solidFill>
          <a:ln w="12700">
            <a:solidFill>
              <a:srgbClr val="D6EAF8"/>
            </a:solidFill>
            <a:prstDash val="solid"/>
          </a:ln>
        </p:spPr>
        <p:txBody>
          <a:bodyPr/>
          <a:lstStyle/>
          <a:p>
            <a:endParaRPr lang="en-IN"/>
          </a:p>
        </p:txBody>
      </p:sp>
      <p:sp>
        <p:nvSpPr>
          <p:cNvPr id="32" name="Text 30"/>
          <p:cNvSpPr/>
          <p:nvPr/>
        </p:nvSpPr>
        <p:spPr>
          <a:xfrm>
            <a:off x="548640" y="4791456"/>
            <a:ext cx="8046720" cy="237744"/>
          </a:xfrm>
          <a:prstGeom prst="rect">
            <a:avLst/>
          </a:prstGeom>
          <a:noFill/>
          <a:ln/>
        </p:spPr>
        <p:txBody>
          <a:bodyPr wrap="square" rtlCol="0" anchor="ctr"/>
          <a:lstStyle/>
          <a:p>
            <a:pPr marL="0" indent="0">
              <a:buNone/>
            </a:pPr>
            <a:r>
              <a:rPr lang="en-US" sz="1000" b="1" i="1" dirty="0">
                <a:solidFill>
                  <a:srgbClr val="028090"/>
                </a:solidFill>
                <a:latin typeface="Calibri" pitchFamily="34" charset="0"/>
                <a:ea typeface="Calibri" pitchFamily="34" charset="-122"/>
                <a:cs typeface="Calibri" pitchFamily="34" charset="-120"/>
              </a:rPr>
              <a:t>Finding: Break-even at just 8.3 months. Scenario 3 saves $260.9M by Year 4 vs $139.7M for Scenario 2. Build the plant.</a:t>
            </a:r>
            <a:endParaRPr lang="en-US" sz="1000" dirty="0"/>
          </a:p>
        </p:txBody>
      </p:sp>
      <p:pic>
        <p:nvPicPr>
          <p:cNvPr id="6146" name="Picture 2">
            <a:extLst>
              <a:ext uri="{FF2B5EF4-FFF2-40B4-BE49-F238E27FC236}">
                <a16:creationId xmlns:a16="http://schemas.microsoft.com/office/drawing/2014/main" id="{63199F0C-EDE0-2ED0-7C07-7CD0C112CD9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84048" y="1078992"/>
            <a:ext cx="6016752" cy="35844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marL="0" indent="0" algn="l">
              <a:buNone/>
            </a:pPr>
            <a:r>
              <a:rPr lang="en-US" sz="3000" b="1" dirty="0">
                <a:solidFill>
                  <a:srgbClr val="065A82"/>
                </a:solidFill>
                <a:latin typeface="Calibri" pitchFamily="34" charset="0"/>
                <a:ea typeface="Calibri" pitchFamily="34" charset="-122"/>
                <a:cs typeface="Calibri" pitchFamily="34" charset="-120"/>
              </a:rPr>
              <a:t>Break-Even Analysis — High Tier Facility (1000 MW)</a:t>
            </a:r>
            <a:endParaRPr lang="en-US" sz="3000" dirty="0"/>
          </a:p>
        </p:txBody>
      </p:sp>
      <p:sp>
        <p:nvSpPr>
          <p:cNvPr id="3" name="Shape 1"/>
          <p:cNvSpPr/>
          <p:nvPr/>
        </p:nvSpPr>
        <p:spPr>
          <a:xfrm>
            <a:off x="457200" y="1024128"/>
            <a:ext cx="8229600" cy="36576"/>
          </a:xfrm>
          <a:prstGeom prst="rect">
            <a:avLst/>
          </a:prstGeom>
          <a:solidFill>
            <a:srgbClr val="02C39A"/>
          </a:solidFill>
          <a:ln w="12700">
            <a:solidFill>
              <a:srgbClr val="02C39A"/>
            </a:solidFill>
            <a:prstDash val="solid"/>
          </a:ln>
        </p:spPr>
        <p:txBody>
          <a:bodyPr/>
          <a:lstStyle/>
          <a:p>
            <a:endParaRPr lang="en-IN"/>
          </a:p>
        </p:txBody>
      </p:sp>
      <p:sp>
        <p:nvSpPr>
          <p:cNvPr id="4" name="Shape 2"/>
          <p:cNvSpPr/>
          <p:nvPr/>
        </p:nvSpPr>
        <p:spPr>
          <a:xfrm>
            <a:off x="457200" y="1143000"/>
            <a:ext cx="5943600" cy="3520440"/>
          </a:xfrm>
          <a:prstGeom prst="rect">
            <a:avLst/>
          </a:prstGeom>
          <a:solidFill>
            <a:srgbClr val="F2F9FF"/>
          </a:solidFill>
          <a:ln w="19050">
            <a:solidFill>
              <a:srgbClr val="A8D8EA"/>
            </a:solidFill>
            <a:prstDash val="solid"/>
          </a:ln>
          <a:effectLst>
            <a:outerShdw blurRad="76200" dist="25400" dir="8100000" algn="bl" rotWithShape="0">
              <a:srgbClr val="000000">
                <a:alpha val="8000"/>
              </a:srgbClr>
            </a:outerShdw>
          </a:effectLst>
        </p:spPr>
        <p:txBody>
          <a:bodyPr/>
          <a:lstStyle/>
          <a:p>
            <a:endParaRPr lang="en-IN"/>
          </a:p>
        </p:txBody>
      </p:sp>
      <p:sp>
        <p:nvSpPr>
          <p:cNvPr id="5" name="Text 3"/>
          <p:cNvSpPr/>
          <p:nvPr/>
        </p:nvSpPr>
        <p:spPr>
          <a:xfrm>
            <a:off x="457200" y="1143000"/>
            <a:ext cx="5943600" cy="3520440"/>
          </a:xfrm>
          <a:prstGeom prst="rect">
            <a:avLst/>
          </a:prstGeom>
          <a:noFill/>
          <a:ln/>
        </p:spPr>
        <p:txBody>
          <a:bodyPr wrap="square" rtlCol="0" anchor="ctr"/>
          <a:lstStyle/>
          <a:p>
            <a:pPr marL="0" indent="0" algn="ctr">
              <a:buNone/>
            </a:pPr>
            <a:r>
              <a:rPr lang="en-US" sz="1300" i="1" dirty="0">
                <a:solidFill>
                  <a:srgbClr val="5D6D7E"/>
                </a:solidFill>
                <a:latin typeface="Calibri" pitchFamily="34" charset="0"/>
                <a:ea typeface="Calibri" pitchFamily="34" charset="-122"/>
                <a:cs typeface="Calibri" pitchFamily="34" charset="-120"/>
              </a:rPr>
              <a:t>[ INSERT: High Tier Break-Even Chart</a:t>
            </a:r>
            <a:endParaRPr lang="en-US" sz="1300" dirty="0"/>
          </a:p>
          <a:p>
            <a:pPr marL="0" indent="0" algn="ctr">
              <a:buNone/>
            </a:pPr>
            <a:r>
              <a:rPr lang="en-US" sz="1300" i="1" dirty="0">
                <a:solidFill>
                  <a:srgbClr val="5D6D7E"/>
                </a:solidFill>
                <a:latin typeface="Calibri" pitchFamily="34" charset="0"/>
                <a:ea typeface="Calibri" pitchFamily="34" charset="-122"/>
                <a:cs typeface="Calibri" pitchFamily="34" charset="-120"/>
              </a:rPr>
              <a:t>savings_high_1000MW.png ]</a:t>
            </a:r>
            <a:endParaRPr lang="en-US" sz="1300" dirty="0"/>
          </a:p>
        </p:txBody>
      </p:sp>
      <p:sp>
        <p:nvSpPr>
          <p:cNvPr id="6" name="Text 4"/>
          <p:cNvSpPr/>
          <p:nvPr/>
        </p:nvSpPr>
        <p:spPr>
          <a:xfrm>
            <a:off x="6583680" y="1143000"/>
            <a:ext cx="2377440" cy="320040"/>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Key Numbers</a:t>
            </a:r>
            <a:endParaRPr lang="en-US" sz="1300" dirty="0"/>
          </a:p>
        </p:txBody>
      </p:sp>
      <p:sp>
        <p:nvSpPr>
          <p:cNvPr id="7" name="Shape 5"/>
          <p:cNvSpPr/>
          <p:nvPr/>
        </p:nvSpPr>
        <p:spPr>
          <a:xfrm>
            <a:off x="6583680" y="1536192"/>
            <a:ext cx="2377440" cy="320040"/>
          </a:xfrm>
          <a:prstGeom prst="rect">
            <a:avLst/>
          </a:prstGeom>
          <a:solidFill>
            <a:srgbClr val="EBF5FB"/>
          </a:solidFill>
          <a:ln w="6350">
            <a:solidFill>
              <a:srgbClr val="D6EAF8"/>
            </a:solidFill>
            <a:prstDash val="solid"/>
          </a:ln>
        </p:spPr>
        <p:txBody>
          <a:bodyPr/>
          <a:lstStyle/>
          <a:p>
            <a:endParaRPr lang="en-IN"/>
          </a:p>
        </p:txBody>
      </p:sp>
      <p:sp>
        <p:nvSpPr>
          <p:cNvPr id="8" name="Text 6"/>
          <p:cNvSpPr/>
          <p:nvPr/>
        </p:nvSpPr>
        <p:spPr>
          <a:xfrm>
            <a:off x="6656832" y="1554480"/>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Capacity</a:t>
            </a:r>
            <a:endParaRPr lang="en-US" sz="950" dirty="0"/>
          </a:p>
        </p:txBody>
      </p:sp>
      <p:sp>
        <p:nvSpPr>
          <p:cNvPr id="9" name="Text 7"/>
          <p:cNvSpPr/>
          <p:nvPr/>
        </p:nvSpPr>
        <p:spPr>
          <a:xfrm>
            <a:off x="7863840" y="1554480"/>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1,000 MW</a:t>
            </a:r>
            <a:endParaRPr lang="en-US" sz="950" dirty="0"/>
          </a:p>
        </p:txBody>
      </p:sp>
      <p:sp>
        <p:nvSpPr>
          <p:cNvPr id="10" name="Shape 8"/>
          <p:cNvSpPr/>
          <p:nvPr/>
        </p:nvSpPr>
        <p:spPr>
          <a:xfrm>
            <a:off x="6583680" y="1883664"/>
            <a:ext cx="2377440" cy="320040"/>
          </a:xfrm>
          <a:prstGeom prst="rect">
            <a:avLst/>
          </a:prstGeom>
          <a:solidFill>
            <a:srgbClr val="FFFFFF"/>
          </a:solidFill>
          <a:ln w="6350">
            <a:solidFill>
              <a:srgbClr val="D6EAF8"/>
            </a:solidFill>
            <a:prstDash val="solid"/>
          </a:ln>
        </p:spPr>
        <p:txBody>
          <a:bodyPr/>
          <a:lstStyle/>
          <a:p>
            <a:endParaRPr lang="en-IN"/>
          </a:p>
        </p:txBody>
      </p:sp>
      <p:sp>
        <p:nvSpPr>
          <p:cNvPr id="11" name="Text 9"/>
          <p:cNvSpPr/>
          <p:nvPr/>
        </p:nvSpPr>
        <p:spPr>
          <a:xfrm>
            <a:off x="6656832" y="1901952"/>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Mid Demand</a:t>
            </a:r>
            <a:endParaRPr lang="en-US" sz="950" dirty="0"/>
          </a:p>
        </p:txBody>
      </p:sp>
      <p:sp>
        <p:nvSpPr>
          <p:cNvPr id="12" name="Text 10"/>
          <p:cNvSpPr/>
          <p:nvPr/>
        </p:nvSpPr>
        <p:spPr>
          <a:xfrm>
            <a:off x="7863840" y="1901952"/>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1,933 MGD</a:t>
            </a:r>
            <a:endParaRPr lang="en-US" sz="950" dirty="0"/>
          </a:p>
        </p:txBody>
      </p:sp>
      <p:sp>
        <p:nvSpPr>
          <p:cNvPr id="13" name="Shape 11"/>
          <p:cNvSpPr/>
          <p:nvPr/>
        </p:nvSpPr>
        <p:spPr>
          <a:xfrm>
            <a:off x="6583680" y="2231136"/>
            <a:ext cx="2377440" cy="320040"/>
          </a:xfrm>
          <a:prstGeom prst="rect">
            <a:avLst/>
          </a:prstGeom>
          <a:solidFill>
            <a:srgbClr val="EBF5FB"/>
          </a:solidFill>
          <a:ln w="6350">
            <a:solidFill>
              <a:srgbClr val="D6EAF8"/>
            </a:solidFill>
            <a:prstDash val="solid"/>
          </a:ln>
        </p:spPr>
        <p:txBody>
          <a:bodyPr/>
          <a:lstStyle/>
          <a:p>
            <a:endParaRPr lang="en-IN"/>
          </a:p>
        </p:txBody>
      </p:sp>
      <p:sp>
        <p:nvSpPr>
          <p:cNvPr id="14" name="Text 12"/>
          <p:cNvSpPr/>
          <p:nvPr/>
        </p:nvSpPr>
        <p:spPr>
          <a:xfrm>
            <a:off x="6656832" y="2249424"/>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UF+RO Capital</a:t>
            </a:r>
            <a:endParaRPr lang="en-US" sz="950" dirty="0"/>
          </a:p>
        </p:txBody>
      </p:sp>
      <p:sp>
        <p:nvSpPr>
          <p:cNvPr id="15" name="Text 13"/>
          <p:cNvSpPr/>
          <p:nvPr/>
        </p:nvSpPr>
        <p:spPr>
          <a:xfrm>
            <a:off x="7863840" y="2249424"/>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$5.8B</a:t>
            </a:r>
            <a:endParaRPr lang="en-US" sz="950" dirty="0"/>
          </a:p>
        </p:txBody>
      </p:sp>
      <p:sp>
        <p:nvSpPr>
          <p:cNvPr id="16" name="Shape 14"/>
          <p:cNvSpPr/>
          <p:nvPr/>
        </p:nvSpPr>
        <p:spPr>
          <a:xfrm>
            <a:off x="6583680" y="2578608"/>
            <a:ext cx="2377440" cy="320040"/>
          </a:xfrm>
          <a:prstGeom prst="rect">
            <a:avLst/>
          </a:prstGeom>
          <a:solidFill>
            <a:srgbClr val="FFFFFF"/>
          </a:solidFill>
          <a:ln w="6350">
            <a:solidFill>
              <a:srgbClr val="D6EAF8"/>
            </a:solidFill>
            <a:prstDash val="solid"/>
          </a:ln>
        </p:spPr>
        <p:txBody>
          <a:bodyPr/>
          <a:lstStyle/>
          <a:p>
            <a:endParaRPr lang="en-IN"/>
          </a:p>
        </p:txBody>
      </p:sp>
      <p:sp>
        <p:nvSpPr>
          <p:cNvPr id="17" name="Text 15"/>
          <p:cNvSpPr/>
          <p:nvPr/>
        </p:nvSpPr>
        <p:spPr>
          <a:xfrm>
            <a:off x="6656832" y="2596896"/>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S2 Monthly Save</a:t>
            </a:r>
            <a:endParaRPr lang="en-US" sz="950" dirty="0"/>
          </a:p>
        </p:txBody>
      </p:sp>
      <p:sp>
        <p:nvSpPr>
          <p:cNvPr id="18" name="Text 16"/>
          <p:cNvSpPr/>
          <p:nvPr/>
        </p:nvSpPr>
        <p:spPr>
          <a:xfrm>
            <a:off x="7863840" y="2596896"/>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$1.16B/mo</a:t>
            </a:r>
            <a:endParaRPr lang="en-US" sz="950" dirty="0"/>
          </a:p>
        </p:txBody>
      </p:sp>
      <p:sp>
        <p:nvSpPr>
          <p:cNvPr id="19" name="Shape 17"/>
          <p:cNvSpPr/>
          <p:nvPr/>
        </p:nvSpPr>
        <p:spPr>
          <a:xfrm>
            <a:off x="6583680" y="2926080"/>
            <a:ext cx="2377440" cy="320040"/>
          </a:xfrm>
          <a:prstGeom prst="rect">
            <a:avLst/>
          </a:prstGeom>
          <a:solidFill>
            <a:srgbClr val="EBF5FB"/>
          </a:solidFill>
          <a:ln w="6350">
            <a:solidFill>
              <a:srgbClr val="D6EAF8"/>
            </a:solidFill>
            <a:prstDash val="solid"/>
          </a:ln>
        </p:spPr>
        <p:txBody>
          <a:bodyPr/>
          <a:lstStyle/>
          <a:p>
            <a:endParaRPr lang="en-IN"/>
          </a:p>
        </p:txBody>
      </p:sp>
      <p:sp>
        <p:nvSpPr>
          <p:cNvPr id="20" name="Text 18"/>
          <p:cNvSpPr/>
          <p:nvPr/>
        </p:nvSpPr>
        <p:spPr>
          <a:xfrm>
            <a:off x="6656832" y="2944368"/>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S3 Monthly Save</a:t>
            </a:r>
            <a:endParaRPr lang="en-US" sz="950" dirty="0"/>
          </a:p>
        </p:txBody>
      </p:sp>
      <p:sp>
        <p:nvSpPr>
          <p:cNvPr id="21" name="Text 19"/>
          <p:cNvSpPr/>
          <p:nvPr/>
        </p:nvSpPr>
        <p:spPr>
          <a:xfrm>
            <a:off x="7863840" y="2944368"/>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$4.73B/mo</a:t>
            </a:r>
            <a:endParaRPr lang="en-US" sz="950" dirty="0"/>
          </a:p>
        </p:txBody>
      </p:sp>
      <p:sp>
        <p:nvSpPr>
          <p:cNvPr id="22" name="Shape 20"/>
          <p:cNvSpPr/>
          <p:nvPr/>
        </p:nvSpPr>
        <p:spPr>
          <a:xfrm>
            <a:off x="6583680" y="3273552"/>
            <a:ext cx="2377440" cy="320040"/>
          </a:xfrm>
          <a:prstGeom prst="rect">
            <a:avLst/>
          </a:prstGeom>
          <a:solidFill>
            <a:srgbClr val="FFFFFF"/>
          </a:solidFill>
          <a:ln w="6350">
            <a:solidFill>
              <a:srgbClr val="D6EAF8"/>
            </a:solidFill>
            <a:prstDash val="solid"/>
          </a:ln>
        </p:spPr>
        <p:txBody>
          <a:bodyPr/>
          <a:lstStyle/>
          <a:p>
            <a:endParaRPr lang="en-IN"/>
          </a:p>
        </p:txBody>
      </p:sp>
      <p:sp>
        <p:nvSpPr>
          <p:cNvPr id="23" name="Text 21"/>
          <p:cNvSpPr/>
          <p:nvPr/>
        </p:nvSpPr>
        <p:spPr>
          <a:xfrm>
            <a:off x="6656832" y="3291840"/>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S3 Break-even</a:t>
            </a:r>
            <a:endParaRPr lang="en-US" sz="950" dirty="0"/>
          </a:p>
        </p:txBody>
      </p:sp>
      <p:sp>
        <p:nvSpPr>
          <p:cNvPr id="24" name="Text 22"/>
          <p:cNvSpPr/>
          <p:nvPr/>
        </p:nvSpPr>
        <p:spPr>
          <a:xfrm>
            <a:off x="7863840" y="3291840"/>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5.8 months</a:t>
            </a:r>
            <a:endParaRPr lang="en-US" sz="950" dirty="0"/>
          </a:p>
        </p:txBody>
      </p:sp>
      <p:sp>
        <p:nvSpPr>
          <p:cNvPr id="25" name="Shape 23"/>
          <p:cNvSpPr/>
          <p:nvPr/>
        </p:nvSpPr>
        <p:spPr>
          <a:xfrm>
            <a:off x="6583680" y="3621024"/>
            <a:ext cx="2377440" cy="320040"/>
          </a:xfrm>
          <a:prstGeom prst="rect">
            <a:avLst/>
          </a:prstGeom>
          <a:solidFill>
            <a:srgbClr val="EBF5FB"/>
          </a:solidFill>
          <a:ln w="6350">
            <a:solidFill>
              <a:srgbClr val="D6EAF8"/>
            </a:solidFill>
            <a:prstDash val="solid"/>
          </a:ln>
        </p:spPr>
        <p:txBody>
          <a:bodyPr/>
          <a:lstStyle/>
          <a:p>
            <a:endParaRPr lang="en-IN"/>
          </a:p>
        </p:txBody>
      </p:sp>
      <p:sp>
        <p:nvSpPr>
          <p:cNvPr id="26" name="Text 24"/>
          <p:cNvSpPr/>
          <p:nvPr/>
        </p:nvSpPr>
        <p:spPr>
          <a:xfrm>
            <a:off x="6656832" y="3639312"/>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S2 at Year 4</a:t>
            </a:r>
            <a:endParaRPr lang="en-US" sz="950" dirty="0"/>
          </a:p>
        </p:txBody>
      </p:sp>
      <p:sp>
        <p:nvSpPr>
          <p:cNvPr id="27" name="Text 25"/>
          <p:cNvSpPr/>
          <p:nvPr/>
        </p:nvSpPr>
        <p:spPr>
          <a:xfrm>
            <a:off x="7863840" y="3639312"/>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$13.97B saved</a:t>
            </a:r>
            <a:endParaRPr lang="en-US" sz="950" dirty="0"/>
          </a:p>
        </p:txBody>
      </p:sp>
      <p:sp>
        <p:nvSpPr>
          <p:cNvPr id="28" name="Shape 26"/>
          <p:cNvSpPr/>
          <p:nvPr/>
        </p:nvSpPr>
        <p:spPr>
          <a:xfrm>
            <a:off x="6583680" y="3968496"/>
            <a:ext cx="2377440" cy="320040"/>
          </a:xfrm>
          <a:prstGeom prst="rect">
            <a:avLst/>
          </a:prstGeom>
          <a:solidFill>
            <a:srgbClr val="FFFFFF"/>
          </a:solidFill>
          <a:ln w="6350">
            <a:solidFill>
              <a:srgbClr val="D6EAF8"/>
            </a:solidFill>
            <a:prstDash val="solid"/>
          </a:ln>
        </p:spPr>
        <p:txBody>
          <a:bodyPr/>
          <a:lstStyle/>
          <a:p>
            <a:endParaRPr lang="en-IN"/>
          </a:p>
        </p:txBody>
      </p:sp>
      <p:sp>
        <p:nvSpPr>
          <p:cNvPr id="29" name="Text 27"/>
          <p:cNvSpPr/>
          <p:nvPr/>
        </p:nvSpPr>
        <p:spPr>
          <a:xfrm>
            <a:off x="6656832" y="3986784"/>
            <a:ext cx="1188720" cy="274320"/>
          </a:xfrm>
          <a:prstGeom prst="rect">
            <a:avLst/>
          </a:prstGeom>
          <a:noFill/>
          <a:ln/>
        </p:spPr>
        <p:txBody>
          <a:bodyPr wrap="square" rtlCol="0" anchor="ctr"/>
          <a:lstStyle/>
          <a:p>
            <a:pPr marL="0" indent="0">
              <a:buNone/>
            </a:pPr>
            <a:r>
              <a:rPr lang="en-US" sz="950" dirty="0">
                <a:solidFill>
                  <a:srgbClr val="5D6D7E"/>
                </a:solidFill>
                <a:latin typeface="Calibri" pitchFamily="34" charset="0"/>
                <a:ea typeface="Calibri" pitchFamily="34" charset="-122"/>
                <a:cs typeface="Calibri" pitchFamily="34" charset="-120"/>
              </a:rPr>
              <a:t>S3 at Year 4</a:t>
            </a:r>
            <a:endParaRPr lang="en-US" sz="950" dirty="0"/>
          </a:p>
        </p:txBody>
      </p:sp>
      <p:sp>
        <p:nvSpPr>
          <p:cNvPr id="30" name="Text 28"/>
          <p:cNvSpPr/>
          <p:nvPr/>
        </p:nvSpPr>
        <p:spPr>
          <a:xfrm>
            <a:off x="7863840" y="3986784"/>
            <a:ext cx="1024128" cy="274320"/>
          </a:xfrm>
          <a:prstGeom prst="rect">
            <a:avLst/>
          </a:prstGeom>
          <a:noFill/>
          <a:ln/>
        </p:spPr>
        <p:txBody>
          <a:bodyPr wrap="square" rtlCol="0" anchor="ctr"/>
          <a:lstStyle/>
          <a:p>
            <a:pPr marL="0" indent="0" algn="r">
              <a:buNone/>
            </a:pPr>
            <a:r>
              <a:rPr lang="en-US" sz="950" b="1" dirty="0">
                <a:solidFill>
                  <a:srgbClr val="065A82"/>
                </a:solidFill>
                <a:latin typeface="Calibri" pitchFamily="34" charset="0"/>
                <a:ea typeface="Calibri" pitchFamily="34" charset="-122"/>
                <a:cs typeface="Calibri" pitchFamily="34" charset="-120"/>
              </a:rPr>
              <a:t>$28.27B saved</a:t>
            </a:r>
            <a:endParaRPr lang="en-US" sz="950" dirty="0"/>
          </a:p>
        </p:txBody>
      </p:sp>
      <p:sp>
        <p:nvSpPr>
          <p:cNvPr id="31" name="Shape 29"/>
          <p:cNvSpPr/>
          <p:nvPr/>
        </p:nvSpPr>
        <p:spPr>
          <a:xfrm>
            <a:off x="457200" y="4773168"/>
            <a:ext cx="8229600" cy="274320"/>
          </a:xfrm>
          <a:prstGeom prst="rect">
            <a:avLst/>
          </a:prstGeom>
          <a:solidFill>
            <a:srgbClr val="065A82">
              <a:alpha val="15000"/>
            </a:srgbClr>
          </a:solidFill>
          <a:ln w="12700">
            <a:solidFill>
              <a:srgbClr val="D6EAF8"/>
            </a:solidFill>
            <a:prstDash val="solid"/>
          </a:ln>
        </p:spPr>
        <p:txBody>
          <a:bodyPr/>
          <a:lstStyle/>
          <a:p>
            <a:endParaRPr lang="en-IN"/>
          </a:p>
        </p:txBody>
      </p:sp>
      <p:sp>
        <p:nvSpPr>
          <p:cNvPr id="32" name="Text 30"/>
          <p:cNvSpPr/>
          <p:nvPr/>
        </p:nvSpPr>
        <p:spPr>
          <a:xfrm>
            <a:off x="548640" y="4791456"/>
            <a:ext cx="8046720" cy="237744"/>
          </a:xfrm>
          <a:prstGeom prst="rect">
            <a:avLst/>
          </a:prstGeom>
          <a:noFill/>
          <a:ln/>
        </p:spPr>
        <p:txBody>
          <a:bodyPr wrap="square" rtlCol="0" anchor="ctr"/>
          <a:lstStyle/>
          <a:p>
            <a:pPr marL="0" indent="0">
              <a:buNone/>
            </a:pPr>
            <a:r>
              <a:rPr lang="en-US" sz="1000" b="1" i="1" dirty="0">
                <a:solidFill>
                  <a:srgbClr val="065A82"/>
                </a:solidFill>
                <a:latin typeface="Calibri" pitchFamily="34" charset="0"/>
                <a:ea typeface="Calibri" pitchFamily="34" charset="-122"/>
                <a:cs typeface="Calibri" pitchFamily="34" charset="-120"/>
              </a:rPr>
              <a:t>Finding: Break-even at 5.8 months. Scenario 3 delivers $14.3B MORE savings than Scenario 2 over 4 years. Hyperscale = build your own plant.</a:t>
            </a:r>
            <a:endParaRPr lang="en-US" sz="1000" dirty="0"/>
          </a:p>
        </p:txBody>
      </p:sp>
      <p:pic>
        <p:nvPicPr>
          <p:cNvPr id="4098" name="Picture 2">
            <a:extLst>
              <a:ext uri="{FF2B5EF4-FFF2-40B4-BE49-F238E27FC236}">
                <a16:creationId xmlns:a16="http://schemas.microsoft.com/office/drawing/2014/main" id="{BA8828E8-13DC-9B3E-6CC0-525A187916A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57200" y="1143000"/>
            <a:ext cx="6035040" cy="35204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marL="0" indent="0" algn="l">
              <a:buNone/>
            </a:pPr>
            <a:r>
              <a:rPr lang="en-US" sz="3000" b="1" dirty="0">
                <a:solidFill>
                  <a:srgbClr val="065A82"/>
                </a:solidFill>
                <a:latin typeface="Calibri" pitchFamily="34" charset="0"/>
                <a:ea typeface="Calibri" pitchFamily="34" charset="-122"/>
                <a:cs typeface="Calibri" pitchFamily="34" charset="-120"/>
              </a:rPr>
              <a:t>Consolidated Findings — What the Data Tells Us</a:t>
            </a:r>
            <a:endParaRPr lang="en-US" sz="3000" dirty="0"/>
          </a:p>
        </p:txBody>
      </p:sp>
      <p:sp>
        <p:nvSpPr>
          <p:cNvPr id="3" name="Shape 1"/>
          <p:cNvSpPr/>
          <p:nvPr/>
        </p:nvSpPr>
        <p:spPr>
          <a:xfrm>
            <a:off x="457200" y="1024128"/>
            <a:ext cx="8229600" cy="36576"/>
          </a:xfrm>
          <a:prstGeom prst="rect">
            <a:avLst/>
          </a:prstGeom>
          <a:solidFill>
            <a:srgbClr val="02C39A"/>
          </a:solidFill>
          <a:ln w="12700">
            <a:solidFill>
              <a:srgbClr val="02C39A"/>
            </a:solidFill>
            <a:prstDash val="solid"/>
          </a:ln>
        </p:spPr>
        <p:txBody>
          <a:bodyPr/>
          <a:lstStyle/>
          <a:p>
            <a:endParaRPr lang="en-IN"/>
          </a:p>
        </p:txBody>
      </p:sp>
      <p:sp>
        <p:nvSpPr>
          <p:cNvPr id="4" name="Text 2"/>
          <p:cNvSpPr/>
          <p:nvPr/>
        </p:nvSpPr>
        <p:spPr>
          <a:xfrm>
            <a:off x="457200" y="1115568"/>
            <a:ext cx="8229600" cy="320040"/>
          </a:xfrm>
          <a:prstGeom prst="rect">
            <a:avLst/>
          </a:prstGeom>
          <a:noFill/>
          <a:ln/>
        </p:spPr>
        <p:txBody>
          <a:bodyPr wrap="square"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Decision Matrix — Which Scenario is Right for Your Facility?</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1828800"/>
        </p:xfrm>
        <a:graphic>
          <a:graphicData uri="http://schemas.openxmlformats.org/drawingml/2006/table">
            <a:tbl>
              <a:tblPr/>
              <a:tblGrid>
                <a:gridCol w="16459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365760">
                <a:tc>
                  <a:txBody>
                    <a:bodyPr/>
                    <a:lstStyle/>
                    <a:p>
                      <a:pPr marL="0" indent="0" algn="l">
                        <a:buNone/>
                      </a:pPr>
                      <a:r>
                        <a:rPr lang="en-US" sz="1000" b="1" dirty="0">
                          <a:solidFill>
                            <a:srgbClr val="FFFFFF"/>
                          </a:solidFill>
                        </a:rPr>
                        <a:t>Facility Size</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65A82"/>
                    </a:solidFill>
                  </a:tcPr>
                </a:tc>
                <a:tc>
                  <a:txBody>
                    <a:bodyPr/>
                    <a:lstStyle/>
                    <a:p>
                      <a:pPr marL="0" indent="0" algn="ctr">
                        <a:buNone/>
                      </a:pPr>
                      <a:r>
                        <a:rPr lang="en-US" sz="1000" b="1" dirty="0">
                          <a:solidFill>
                            <a:srgbClr val="FFFFFF"/>
                          </a:solidFill>
                        </a:rPr>
                        <a:t>Break-even (S3)</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65A82"/>
                    </a:solidFill>
                  </a:tcPr>
                </a:tc>
                <a:tc>
                  <a:txBody>
                    <a:bodyPr/>
                    <a:lstStyle/>
                    <a:p>
                      <a:pPr marL="0" indent="0" algn="ctr">
                        <a:buNone/>
                      </a:pPr>
                      <a:r>
                        <a:rPr lang="en-US" sz="1000" b="1" dirty="0">
                          <a:solidFill>
                            <a:srgbClr val="FFFFFF"/>
                          </a:solidFill>
                        </a:rPr>
                        <a:t>4-Year Saving (S2)</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65A82"/>
                    </a:solidFill>
                  </a:tcPr>
                </a:tc>
                <a:tc>
                  <a:txBody>
                    <a:bodyPr/>
                    <a:lstStyle/>
                    <a:p>
                      <a:pPr marL="0" indent="0" algn="ctr">
                        <a:buNone/>
                      </a:pPr>
                      <a:r>
                        <a:rPr lang="en-US" sz="1000" b="1" dirty="0">
                          <a:solidFill>
                            <a:srgbClr val="FFFFFF"/>
                          </a:solidFill>
                        </a:rPr>
                        <a:t>4-Year Saving (S3)</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65A82"/>
                    </a:solidFill>
                  </a:tcPr>
                </a:tc>
                <a:tc>
                  <a:txBody>
                    <a:bodyPr/>
                    <a:lstStyle/>
                    <a:p>
                      <a:pPr marL="0" indent="0" algn="l">
                        <a:buNone/>
                      </a:pPr>
                      <a:r>
                        <a:rPr lang="en-US" sz="1000" b="1" dirty="0">
                          <a:solidFill>
                            <a:srgbClr val="FFFFFF"/>
                          </a:solidFill>
                        </a:rPr>
                        <a:t>Recommendation</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65760">
                <a:tc>
                  <a:txBody>
                    <a:bodyPr/>
                    <a:lstStyle/>
                    <a:p>
                      <a:pPr marL="0" indent="0" algn="l">
                        <a:buNone/>
                      </a:pPr>
                      <a:r>
                        <a:rPr lang="en-US" sz="1000" dirty="0">
                          <a:solidFill>
                            <a:srgbClr val="2C3E50"/>
                          </a:solidFill>
                        </a:rPr>
                        <a:t>Small (&lt;1 MW)</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ctr">
                        <a:buNone/>
                      </a:pPr>
                      <a:r>
                        <a:rPr lang="en-US" sz="1000" dirty="0">
                          <a:solidFill>
                            <a:srgbClr val="2C3E50"/>
                          </a:solidFill>
                        </a:rPr>
                        <a:t>&gt;24 months</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ctr">
                        <a:buNone/>
                      </a:pPr>
                      <a:r>
                        <a:rPr lang="en-US" sz="1000" dirty="0">
                          <a:solidFill>
                            <a:srgbClr val="2C3E50"/>
                          </a:solidFill>
                        </a:rPr>
                        <a:t>$1.0M</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ctr">
                        <a:buNone/>
                      </a:pPr>
                      <a:r>
                        <a:rPr lang="en-US" sz="1000" dirty="0">
                          <a:solidFill>
                            <a:srgbClr val="2C3E50"/>
                          </a:solidFill>
                        </a:rPr>
                        <a:t>$0.95M</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l">
                        <a:buNone/>
                      </a:pPr>
                      <a:r>
                        <a:rPr lang="en-US" sz="1000" dirty="0">
                          <a:solidFill>
                            <a:srgbClr val="E67E22"/>
                          </a:solidFill>
                        </a:rPr>
                        <a:t>Scenario 2 — use existing facility</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extLst>
                  <a:ext uri="{0D108BD9-81ED-4DB2-BD59-A6C34878D82A}">
                    <a16:rowId xmlns:a16="http://schemas.microsoft.com/office/drawing/2014/main" val="10001"/>
                  </a:ext>
                </a:extLst>
              </a:tr>
              <a:tr h="365760">
                <a:tc>
                  <a:txBody>
                    <a:bodyPr/>
                    <a:lstStyle/>
                    <a:p>
                      <a:pPr marL="0" indent="0" algn="l">
                        <a:buNone/>
                      </a:pPr>
                      <a:r>
                        <a:rPr lang="en-US" sz="1000" dirty="0">
                          <a:solidFill>
                            <a:srgbClr val="2C3E50"/>
                          </a:solidFill>
                        </a:rPr>
                        <a:t>Medium (1–50 MW)</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C3E50"/>
                          </a:solidFill>
                        </a:rPr>
                        <a:t>8–15 months</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C3E50"/>
                          </a:solidFill>
                        </a:rPr>
                        <a:t>$139.7M</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C3E50"/>
                          </a:solidFill>
                        </a:rPr>
                        <a:t>$260.9M</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28090"/>
                          </a:solidFill>
                        </a:rPr>
                        <a:t>Scenario 3 — build own plant</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000" dirty="0">
                          <a:solidFill>
                            <a:srgbClr val="2C3E50"/>
                          </a:solidFill>
                        </a:rPr>
                        <a:t>Large (50–500 MW)</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ctr">
                        <a:buNone/>
                      </a:pPr>
                      <a:r>
                        <a:rPr lang="en-US" sz="1000" dirty="0">
                          <a:solidFill>
                            <a:srgbClr val="2C3E50"/>
                          </a:solidFill>
                        </a:rPr>
                        <a:t>6–10 months</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ctr">
                        <a:buNone/>
                      </a:pPr>
                      <a:r>
                        <a:rPr lang="en-US" sz="1000" dirty="0">
                          <a:solidFill>
                            <a:srgbClr val="2C3E50"/>
                          </a:solidFill>
                        </a:rPr>
                        <a:t>Proportional</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ctr">
                        <a:buNone/>
                      </a:pPr>
                      <a:r>
                        <a:rPr lang="en-US" sz="1000" dirty="0">
                          <a:solidFill>
                            <a:srgbClr val="2C3E50"/>
                          </a:solidFill>
                        </a:rPr>
                        <a:t>2× Scenario 2</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tc>
                  <a:txBody>
                    <a:bodyPr/>
                    <a:lstStyle/>
                    <a:p>
                      <a:pPr marL="0" indent="0" algn="l">
                        <a:buNone/>
                      </a:pPr>
                      <a:r>
                        <a:rPr lang="en-US" sz="1000" dirty="0">
                          <a:solidFill>
                            <a:srgbClr val="028090"/>
                          </a:solidFill>
                        </a:rPr>
                        <a:t>Scenario 3 — build own plant</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2F9FF"/>
                    </a:solidFill>
                  </a:tcPr>
                </a:tc>
                <a:extLst>
                  <a:ext uri="{0D108BD9-81ED-4DB2-BD59-A6C34878D82A}">
                    <a16:rowId xmlns:a16="http://schemas.microsoft.com/office/drawing/2014/main" val="10003"/>
                  </a:ext>
                </a:extLst>
              </a:tr>
              <a:tr h="365760">
                <a:tc>
                  <a:txBody>
                    <a:bodyPr/>
                    <a:lstStyle/>
                    <a:p>
                      <a:pPr marL="0" indent="0" algn="l">
                        <a:buNone/>
                      </a:pPr>
                      <a:r>
                        <a:rPr lang="en-US" sz="1000" dirty="0">
                          <a:solidFill>
                            <a:srgbClr val="2C3E50"/>
                          </a:solidFill>
                        </a:rPr>
                        <a:t>Hyperscale (&gt;500 MW)</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C3E50"/>
                          </a:solidFill>
                        </a:rPr>
                        <a:t>5–7 months</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C3E50"/>
                          </a:solidFill>
                        </a:rPr>
                        <a:t>$13.97B</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C3E50"/>
                          </a:solidFill>
                        </a:rPr>
                        <a:t>$28.27B</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28090"/>
                          </a:solidFill>
                        </a:rPr>
                        <a:t>Scenario 3 — strongly recommended</a:t>
                      </a:r>
                      <a:endParaRPr lang="en-US" sz="1000" dirty="0"/>
                    </a:p>
                  </a:txBody>
                  <a:tcPr>
                    <a:lnL w="6350" cap="flat" cmpd="sng" algn="ctr">
                      <a:solidFill>
                        <a:srgbClr val="D6EAF8"/>
                      </a:solidFill>
                      <a:prstDash val="solid"/>
                      <a:round/>
                      <a:headEnd type="none" w="med" len="med"/>
                      <a:tailEnd type="none" w="med" len="med"/>
                    </a:lnL>
                    <a:lnR w="6350" cap="flat" cmpd="sng" algn="ctr">
                      <a:solidFill>
                        <a:srgbClr val="D6EAF8"/>
                      </a:solidFill>
                      <a:prstDash val="solid"/>
                      <a:round/>
                      <a:headEnd type="none" w="med" len="med"/>
                      <a:tailEnd type="none" w="med" len="med"/>
                    </a:lnR>
                    <a:lnT w="6350" cap="flat" cmpd="sng" algn="ctr">
                      <a:solidFill>
                        <a:srgbClr val="D6EAF8"/>
                      </a:solidFill>
                      <a:prstDash val="solid"/>
                      <a:round/>
                      <a:headEnd type="none" w="med" len="med"/>
                      <a:tailEnd type="none" w="med" len="med"/>
                    </a:lnT>
                    <a:lnB w="6350" cap="flat" cmpd="sng" algn="ctr">
                      <a:solidFill>
                        <a:srgbClr val="D6EAF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3"/>
          <p:cNvSpPr/>
          <p:nvPr/>
        </p:nvSpPr>
        <p:spPr>
          <a:xfrm>
            <a:off x="457200" y="3520440"/>
            <a:ext cx="8229600" cy="320040"/>
          </a:xfrm>
          <a:prstGeom prst="rect">
            <a:avLst/>
          </a:prstGeom>
          <a:noFill/>
          <a:ln/>
        </p:spPr>
        <p:txBody>
          <a:bodyPr wrap="square"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Three Headline Findings</a:t>
            </a:r>
            <a:endParaRPr lang="en-US" sz="1400" dirty="0"/>
          </a:p>
        </p:txBody>
      </p:sp>
      <p:sp>
        <p:nvSpPr>
          <p:cNvPr id="7" name="Shape 4"/>
          <p:cNvSpPr/>
          <p:nvPr/>
        </p:nvSpPr>
        <p:spPr>
          <a:xfrm>
            <a:off x="457200" y="3913632"/>
            <a:ext cx="2651760" cy="1005840"/>
          </a:xfrm>
          <a:prstGeom prst="rect">
            <a:avLst/>
          </a:prstGeom>
          <a:solidFill>
            <a:srgbClr val="028090"/>
          </a:solidFill>
          <a:ln w="12700">
            <a:solidFill>
              <a:srgbClr val="028090"/>
            </a:solidFill>
            <a:prstDash val="solid"/>
          </a:ln>
          <a:effectLst>
            <a:outerShdw blurRad="76200" dist="25400" dir="8100000" algn="bl" rotWithShape="0">
              <a:srgbClr val="000000">
                <a:alpha val="12000"/>
              </a:srgbClr>
            </a:outerShdw>
          </a:effectLst>
        </p:spPr>
        <p:txBody>
          <a:bodyPr/>
          <a:lstStyle/>
          <a:p>
            <a:endParaRPr lang="en-IN"/>
          </a:p>
        </p:txBody>
      </p:sp>
      <p:sp>
        <p:nvSpPr>
          <p:cNvPr id="8" name="Text 5"/>
          <p:cNvSpPr/>
          <p:nvPr/>
        </p:nvSpPr>
        <p:spPr>
          <a:xfrm>
            <a:off x="475488" y="3931920"/>
            <a:ext cx="548640" cy="457200"/>
          </a:xfrm>
          <a:prstGeom prst="rect">
            <a:avLst/>
          </a:prstGeom>
          <a:noFill/>
          <a:ln/>
        </p:spPr>
        <p:txBody>
          <a:bodyPr wrap="square" rtlCol="0" anchor="ctr"/>
          <a:lstStyle/>
          <a:p>
            <a:pPr marL="0" indent="0" algn="ctr">
              <a:buNone/>
            </a:pPr>
            <a:r>
              <a:rPr lang="en-US" sz="2200" b="1" dirty="0">
                <a:solidFill>
                  <a:srgbClr val="02C39A"/>
                </a:solidFill>
                <a:latin typeface="Calibri" pitchFamily="34" charset="0"/>
                <a:ea typeface="Calibri" pitchFamily="34" charset="-122"/>
                <a:cs typeface="Calibri" pitchFamily="34" charset="-120"/>
              </a:rPr>
              <a:t>01</a:t>
            </a:r>
            <a:endParaRPr lang="en-US" sz="2200" dirty="0"/>
          </a:p>
        </p:txBody>
      </p:sp>
      <p:sp>
        <p:nvSpPr>
          <p:cNvPr id="9" name="Text 6"/>
          <p:cNvSpPr/>
          <p:nvPr/>
        </p:nvSpPr>
        <p:spPr>
          <a:xfrm>
            <a:off x="1024128" y="3931920"/>
            <a:ext cx="2029968" cy="960120"/>
          </a:xfrm>
          <a:prstGeom prst="rect">
            <a:avLst/>
          </a:prstGeom>
          <a:noFill/>
          <a:ln/>
        </p:spPr>
        <p:txBody>
          <a:bodyPr wrap="square"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Houston's 172.5 MGD reclaimed water supply can serve the ENTIRE data center market — supply is not a constraint. The question is purely economic.</a:t>
            </a:r>
            <a:endParaRPr lang="en-US" sz="950" dirty="0"/>
          </a:p>
        </p:txBody>
      </p:sp>
      <p:sp>
        <p:nvSpPr>
          <p:cNvPr id="10" name="Shape 7"/>
          <p:cNvSpPr/>
          <p:nvPr/>
        </p:nvSpPr>
        <p:spPr>
          <a:xfrm>
            <a:off x="3264408" y="3913632"/>
            <a:ext cx="2651760" cy="1005840"/>
          </a:xfrm>
          <a:prstGeom prst="rect">
            <a:avLst/>
          </a:prstGeom>
          <a:solidFill>
            <a:srgbClr val="1C7293"/>
          </a:solidFill>
          <a:ln w="12700">
            <a:solidFill>
              <a:srgbClr val="1C7293"/>
            </a:solidFill>
            <a:prstDash val="solid"/>
          </a:ln>
          <a:effectLst>
            <a:outerShdw blurRad="76200" dist="25400" dir="8100000" algn="bl" rotWithShape="0">
              <a:srgbClr val="000000">
                <a:alpha val="12000"/>
              </a:srgbClr>
            </a:outerShdw>
          </a:effectLst>
        </p:spPr>
        <p:txBody>
          <a:bodyPr/>
          <a:lstStyle/>
          <a:p>
            <a:endParaRPr lang="en-IN"/>
          </a:p>
        </p:txBody>
      </p:sp>
      <p:sp>
        <p:nvSpPr>
          <p:cNvPr id="11" name="Text 8"/>
          <p:cNvSpPr/>
          <p:nvPr/>
        </p:nvSpPr>
        <p:spPr>
          <a:xfrm>
            <a:off x="3282696" y="3931920"/>
            <a:ext cx="548640" cy="457200"/>
          </a:xfrm>
          <a:prstGeom prst="rect">
            <a:avLst/>
          </a:prstGeom>
          <a:noFill/>
          <a:ln/>
        </p:spPr>
        <p:txBody>
          <a:bodyPr wrap="square" rtlCol="0" anchor="ctr"/>
          <a:lstStyle/>
          <a:p>
            <a:pPr marL="0" indent="0" algn="ctr">
              <a:buNone/>
            </a:pPr>
            <a:r>
              <a:rPr lang="en-US" sz="2200" b="1" dirty="0">
                <a:solidFill>
                  <a:srgbClr val="02C39A"/>
                </a:solidFill>
                <a:latin typeface="Calibri" pitchFamily="34" charset="0"/>
                <a:ea typeface="Calibri" pitchFamily="34" charset="-122"/>
                <a:cs typeface="Calibri" pitchFamily="34" charset="-120"/>
              </a:rPr>
              <a:t>02</a:t>
            </a:r>
            <a:endParaRPr lang="en-US" sz="2200" dirty="0"/>
          </a:p>
        </p:txBody>
      </p:sp>
      <p:sp>
        <p:nvSpPr>
          <p:cNvPr id="12" name="Text 9"/>
          <p:cNvSpPr/>
          <p:nvPr/>
        </p:nvSpPr>
        <p:spPr>
          <a:xfrm>
            <a:off x="3831336" y="3931920"/>
            <a:ext cx="2029968" cy="960120"/>
          </a:xfrm>
          <a:prstGeom prst="rect">
            <a:avLst/>
          </a:prstGeom>
          <a:noFill/>
          <a:ln/>
        </p:spPr>
        <p:txBody>
          <a:bodyPr wrap="square"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Scenario 2 (existing facility) delivers immediate 40% savings with zero capital and zero risk — every Houston data center should consider this now.</a:t>
            </a:r>
            <a:endParaRPr lang="en-US" sz="950" dirty="0"/>
          </a:p>
        </p:txBody>
      </p:sp>
      <p:sp>
        <p:nvSpPr>
          <p:cNvPr id="13" name="Shape 10"/>
          <p:cNvSpPr/>
          <p:nvPr/>
        </p:nvSpPr>
        <p:spPr>
          <a:xfrm>
            <a:off x="6071616" y="3913632"/>
            <a:ext cx="2651760" cy="1005840"/>
          </a:xfrm>
          <a:prstGeom prst="rect">
            <a:avLst/>
          </a:prstGeom>
          <a:solidFill>
            <a:srgbClr val="065A82"/>
          </a:solidFill>
          <a:ln w="12700">
            <a:solidFill>
              <a:srgbClr val="065A82"/>
            </a:solidFill>
            <a:prstDash val="solid"/>
          </a:ln>
          <a:effectLst>
            <a:outerShdw blurRad="76200" dist="25400" dir="8100000" algn="bl" rotWithShape="0">
              <a:srgbClr val="000000">
                <a:alpha val="12000"/>
              </a:srgbClr>
            </a:outerShdw>
          </a:effectLst>
        </p:spPr>
        <p:txBody>
          <a:bodyPr/>
          <a:lstStyle/>
          <a:p>
            <a:endParaRPr lang="en-IN"/>
          </a:p>
        </p:txBody>
      </p:sp>
      <p:sp>
        <p:nvSpPr>
          <p:cNvPr id="14" name="Text 11"/>
          <p:cNvSpPr/>
          <p:nvPr/>
        </p:nvSpPr>
        <p:spPr>
          <a:xfrm>
            <a:off x="6089904" y="3931920"/>
            <a:ext cx="548640" cy="457200"/>
          </a:xfrm>
          <a:prstGeom prst="rect">
            <a:avLst/>
          </a:prstGeom>
          <a:noFill/>
          <a:ln/>
        </p:spPr>
        <p:txBody>
          <a:bodyPr wrap="square" rtlCol="0" anchor="ctr"/>
          <a:lstStyle/>
          <a:p>
            <a:pPr marL="0" indent="0" algn="ctr">
              <a:buNone/>
            </a:pPr>
            <a:r>
              <a:rPr lang="en-US" sz="2200" b="1" dirty="0">
                <a:solidFill>
                  <a:srgbClr val="02C39A"/>
                </a:solidFill>
                <a:latin typeface="Calibri" pitchFamily="34" charset="0"/>
                <a:ea typeface="Calibri" pitchFamily="34" charset="-122"/>
                <a:cs typeface="Calibri" pitchFamily="34" charset="-120"/>
              </a:rPr>
              <a:t>03</a:t>
            </a:r>
            <a:endParaRPr lang="en-US" sz="2200" dirty="0"/>
          </a:p>
        </p:txBody>
      </p:sp>
      <p:sp>
        <p:nvSpPr>
          <p:cNvPr id="15" name="Text 12"/>
          <p:cNvSpPr/>
          <p:nvPr/>
        </p:nvSpPr>
        <p:spPr>
          <a:xfrm>
            <a:off x="6638544" y="3931920"/>
            <a:ext cx="2029968" cy="960120"/>
          </a:xfrm>
          <a:prstGeom prst="rect">
            <a:avLst/>
          </a:prstGeom>
          <a:noFill/>
          <a:ln/>
        </p:spPr>
        <p:txBody>
          <a:bodyPr wrap="square"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Scenario 3 (own plant) pays back in 6–28 months depending on facility size. Medium and large facilities should build their own plants.</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marL="0" indent="0" algn="l">
              <a:buNone/>
            </a:pPr>
            <a:r>
              <a:rPr lang="en-US" sz="3000" b="1" dirty="0">
                <a:solidFill>
                  <a:srgbClr val="065A82"/>
                </a:solidFill>
                <a:latin typeface="Calibri" pitchFamily="34" charset="0"/>
                <a:ea typeface="Calibri" pitchFamily="34" charset="-122"/>
                <a:cs typeface="Calibri" pitchFamily="34" charset="-120"/>
              </a:rPr>
              <a:t>Regulatory Framework — Texas Already Supports This</a:t>
            </a:r>
            <a:endParaRPr lang="en-US" sz="3000" dirty="0"/>
          </a:p>
        </p:txBody>
      </p:sp>
      <p:sp>
        <p:nvSpPr>
          <p:cNvPr id="3" name="Shape 1"/>
          <p:cNvSpPr/>
          <p:nvPr/>
        </p:nvSpPr>
        <p:spPr>
          <a:xfrm>
            <a:off x="457200" y="1024128"/>
            <a:ext cx="8229600" cy="36576"/>
          </a:xfrm>
          <a:prstGeom prst="rect">
            <a:avLst/>
          </a:prstGeom>
          <a:solidFill>
            <a:srgbClr val="02C39A"/>
          </a:solidFill>
          <a:ln w="12700">
            <a:solidFill>
              <a:srgbClr val="02C39A"/>
            </a:solidFill>
            <a:prstDash val="solid"/>
          </a:ln>
        </p:spPr>
        <p:txBody>
          <a:bodyPr/>
          <a:lstStyle/>
          <a:p>
            <a:endParaRPr lang="en-IN"/>
          </a:p>
        </p:txBody>
      </p:sp>
      <p:sp>
        <p:nvSpPr>
          <p:cNvPr id="4" name="Shape 2"/>
          <p:cNvSpPr/>
          <p:nvPr/>
        </p:nvSpPr>
        <p:spPr>
          <a:xfrm>
            <a:off x="457200" y="1234440"/>
            <a:ext cx="4069080" cy="1508760"/>
          </a:xfrm>
          <a:prstGeom prst="rect">
            <a:avLst/>
          </a:prstGeom>
          <a:solidFill>
            <a:srgbClr val="FFFFFF"/>
          </a:solidFill>
          <a:ln w="12700">
            <a:solidFill>
              <a:srgbClr val="D6EAF8"/>
            </a:solidFill>
            <a:prstDash val="solid"/>
          </a:ln>
          <a:effectLst>
            <a:outerShdw blurRad="76200" dist="25400" dir="8100000" algn="bl" rotWithShape="0">
              <a:srgbClr val="000000">
                <a:alpha val="8000"/>
              </a:srgbClr>
            </a:outerShdw>
          </a:effectLst>
        </p:spPr>
        <p:txBody>
          <a:bodyPr/>
          <a:lstStyle/>
          <a:p>
            <a:endParaRPr lang="en-IN"/>
          </a:p>
        </p:txBody>
      </p:sp>
      <p:sp>
        <p:nvSpPr>
          <p:cNvPr id="5" name="Shape 3"/>
          <p:cNvSpPr/>
          <p:nvPr/>
        </p:nvSpPr>
        <p:spPr>
          <a:xfrm>
            <a:off x="457200" y="1234440"/>
            <a:ext cx="54864" cy="1508760"/>
          </a:xfrm>
          <a:prstGeom prst="rect">
            <a:avLst/>
          </a:prstGeom>
          <a:solidFill>
            <a:srgbClr val="02C39A"/>
          </a:solidFill>
          <a:ln w="12700">
            <a:solidFill>
              <a:srgbClr val="02C39A"/>
            </a:solidFill>
            <a:prstDash val="solid"/>
          </a:ln>
        </p:spPr>
        <p:txBody>
          <a:bodyPr/>
          <a:lstStyle/>
          <a:p>
            <a:endParaRPr lang="en-IN"/>
          </a:p>
        </p:txBody>
      </p:sp>
      <p:sp>
        <p:nvSpPr>
          <p:cNvPr id="6" name="Text 4"/>
          <p:cNvSpPr/>
          <p:nvPr/>
        </p:nvSpPr>
        <p:spPr>
          <a:xfrm>
            <a:off x="594360" y="1307592"/>
            <a:ext cx="3886200" cy="274320"/>
          </a:xfrm>
          <a:prstGeom prst="rect">
            <a:avLst/>
          </a:prstGeom>
          <a:noFill/>
          <a:ln/>
        </p:spPr>
        <p:txBody>
          <a:bodyPr wrap="square" rtlCol="0" anchor="ctr"/>
          <a:lstStyle/>
          <a:p>
            <a:pPr marL="0" indent="0" algn="l">
              <a:buNone/>
            </a:pPr>
            <a:r>
              <a:rPr lang="en-US" sz="1300" b="1" dirty="0">
                <a:solidFill>
                  <a:srgbClr val="02C39A"/>
                </a:solidFill>
                <a:latin typeface="Calibri" pitchFamily="34" charset="0"/>
                <a:ea typeface="Calibri" pitchFamily="34" charset="-122"/>
                <a:cs typeface="Calibri" pitchFamily="34" charset="-120"/>
              </a:rPr>
              <a:t>30 TAC § 210.51-60 — TCEQ Industrial Reuse Authorization</a:t>
            </a:r>
            <a:endParaRPr lang="en-US" sz="1300" dirty="0"/>
          </a:p>
        </p:txBody>
      </p:sp>
      <p:sp>
        <p:nvSpPr>
          <p:cNvPr id="7" name="Text 5"/>
          <p:cNvSpPr/>
          <p:nvPr/>
        </p:nvSpPr>
        <p:spPr>
          <a:xfrm>
            <a:off x="594360" y="1581912"/>
            <a:ext cx="3886200" cy="1097280"/>
          </a:xfrm>
          <a:prstGeom prst="rect">
            <a:avLst/>
          </a:prstGeom>
          <a:noFill/>
          <a:ln/>
        </p:spPr>
        <p:txBody>
          <a:bodyPr wrap="square" rtlCol="0" anchor="t"/>
          <a:lstStyle/>
          <a:p>
            <a:pPr marL="0" indent="0" algn="l">
              <a:buNone/>
            </a:pPr>
            <a:r>
              <a:rPr lang="en-US" sz="1100" dirty="0">
                <a:solidFill>
                  <a:srgbClr val="2C3E50"/>
                </a:solidFill>
                <a:latin typeface="Calibri" pitchFamily="34" charset="0"/>
                <a:ea typeface="Calibri" pitchFamily="34" charset="-122"/>
                <a:cs typeface="Calibri" pitchFamily="34" charset="-120"/>
              </a:rPr>
              <a:t>Texas explicitly authorizes reclaimed water for cooling tower makeup water under Level I and Level II authorization. Level I requires no TCEQ approval — data centers can proceed immediately.</a:t>
            </a:r>
            <a:endParaRPr lang="en-US" sz="1100" dirty="0"/>
          </a:p>
        </p:txBody>
      </p:sp>
      <p:sp>
        <p:nvSpPr>
          <p:cNvPr id="8" name="Shape 6"/>
          <p:cNvSpPr/>
          <p:nvPr/>
        </p:nvSpPr>
        <p:spPr>
          <a:xfrm>
            <a:off x="4709160" y="1234440"/>
            <a:ext cx="4069080" cy="1508760"/>
          </a:xfrm>
          <a:prstGeom prst="rect">
            <a:avLst/>
          </a:prstGeom>
          <a:solidFill>
            <a:srgbClr val="FFFFFF"/>
          </a:solidFill>
          <a:ln w="12700">
            <a:solidFill>
              <a:srgbClr val="D6EAF8"/>
            </a:solidFill>
            <a:prstDash val="solid"/>
          </a:ln>
          <a:effectLst>
            <a:outerShdw blurRad="76200" dist="25400" dir="8100000" algn="bl" rotWithShape="0">
              <a:srgbClr val="000000">
                <a:alpha val="8000"/>
              </a:srgbClr>
            </a:outerShdw>
          </a:effectLst>
        </p:spPr>
        <p:txBody>
          <a:bodyPr/>
          <a:lstStyle/>
          <a:p>
            <a:endParaRPr lang="en-IN"/>
          </a:p>
        </p:txBody>
      </p:sp>
      <p:sp>
        <p:nvSpPr>
          <p:cNvPr id="9" name="Shape 7"/>
          <p:cNvSpPr/>
          <p:nvPr/>
        </p:nvSpPr>
        <p:spPr>
          <a:xfrm>
            <a:off x="4709160" y="1234440"/>
            <a:ext cx="54864" cy="1508760"/>
          </a:xfrm>
          <a:prstGeom prst="rect">
            <a:avLst/>
          </a:prstGeom>
          <a:solidFill>
            <a:srgbClr val="02C39A"/>
          </a:solidFill>
          <a:ln w="12700">
            <a:solidFill>
              <a:srgbClr val="02C39A"/>
            </a:solidFill>
            <a:prstDash val="solid"/>
          </a:ln>
        </p:spPr>
        <p:txBody>
          <a:bodyPr/>
          <a:lstStyle/>
          <a:p>
            <a:endParaRPr lang="en-IN"/>
          </a:p>
        </p:txBody>
      </p:sp>
      <p:sp>
        <p:nvSpPr>
          <p:cNvPr id="10" name="Text 8"/>
          <p:cNvSpPr/>
          <p:nvPr/>
        </p:nvSpPr>
        <p:spPr>
          <a:xfrm>
            <a:off x="4846320" y="1307592"/>
            <a:ext cx="3886200" cy="274320"/>
          </a:xfrm>
          <a:prstGeom prst="rect">
            <a:avLst/>
          </a:prstGeom>
          <a:noFill/>
          <a:ln/>
        </p:spPr>
        <p:txBody>
          <a:bodyPr wrap="square" rtlCol="0" anchor="ctr"/>
          <a:lstStyle/>
          <a:p>
            <a:pPr marL="0" indent="0" algn="l">
              <a:buNone/>
            </a:pPr>
            <a:r>
              <a:rPr lang="en-US" sz="1300" b="1" dirty="0">
                <a:solidFill>
                  <a:srgbClr val="028090"/>
                </a:solidFill>
                <a:latin typeface="Calibri" pitchFamily="34" charset="0"/>
                <a:ea typeface="Calibri" pitchFamily="34" charset="-122"/>
                <a:cs typeface="Calibri" pitchFamily="34" charset="-120"/>
              </a:rPr>
              <a:t>Senate Bill 28 — New Water Supply for Texas Fund</a:t>
            </a:r>
            <a:endParaRPr lang="en-US" sz="1300" dirty="0"/>
          </a:p>
        </p:txBody>
      </p:sp>
      <p:sp>
        <p:nvSpPr>
          <p:cNvPr id="11" name="Text 9"/>
          <p:cNvSpPr/>
          <p:nvPr/>
        </p:nvSpPr>
        <p:spPr>
          <a:xfrm>
            <a:off x="4846320" y="1581912"/>
            <a:ext cx="3886200" cy="1097280"/>
          </a:xfrm>
          <a:prstGeom prst="rect">
            <a:avLst/>
          </a:prstGeom>
          <a:noFill/>
          <a:ln/>
        </p:spPr>
        <p:txBody>
          <a:bodyPr wrap="square" rtlCol="0" anchor="t"/>
          <a:lstStyle/>
          <a:p>
            <a:pPr marL="0" indent="0" algn="l">
              <a:buNone/>
            </a:pPr>
            <a:r>
              <a:rPr lang="en-US" sz="1100" dirty="0">
                <a:solidFill>
                  <a:srgbClr val="2C3E50"/>
                </a:solidFill>
                <a:latin typeface="Calibri" pitchFamily="34" charset="0"/>
                <a:ea typeface="Calibri" pitchFamily="34" charset="-122"/>
                <a:cs typeface="Calibri" pitchFamily="34" charset="-120"/>
              </a:rPr>
              <a:t>Creates dedicated state funding for innovative water supply projects. Our UF+RO circular water economy model is exactly the type of project this fund was designed to support.</a:t>
            </a:r>
            <a:endParaRPr lang="en-US" sz="1100" dirty="0"/>
          </a:p>
        </p:txBody>
      </p:sp>
      <p:sp>
        <p:nvSpPr>
          <p:cNvPr id="12" name="Shape 10"/>
          <p:cNvSpPr/>
          <p:nvPr/>
        </p:nvSpPr>
        <p:spPr>
          <a:xfrm>
            <a:off x="457200" y="2926080"/>
            <a:ext cx="4069080" cy="1508760"/>
          </a:xfrm>
          <a:prstGeom prst="rect">
            <a:avLst/>
          </a:prstGeom>
          <a:solidFill>
            <a:srgbClr val="FFFFFF"/>
          </a:solidFill>
          <a:ln w="12700">
            <a:solidFill>
              <a:srgbClr val="D6EAF8"/>
            </a:solidFill>
            <a:prstDash val="solid"/>
          </a:ln>
          <a:effectLst>
            <a:outerShdw blurRad="76200" dist="25400" dir="8100000" algn="bl" rotWithShape="0">
              <a:srgbClr val="000000">
                <a:alpha val="8000"/>
              </a:srgbClr>
            </a:outerShdw>
          </a:effectLst>
        </p:spPr>
        <p:txBody>
          <a:bodyPr/>
          <a:lstStyle/>
          <a:p>
            <a:endParaRPr lang="en-IN"/>
          </a:p>
        </p:txBody>
      </p:sp>
      <p:sp>
        <p:nvSpPr>
          <p:cNvPr id="13" name="Shape 11"/>
          <p:cNvSpPr/>
          <p:nvPr/>
        </p:nvSpPr>
        <p:spPr>
          <a:xfrm>
            <a:off x="457200" y="2926080"/>
            <a:ext cx="54864" cy="1508760"/>
          </a:xfrm>
          <a:prstGeom prst="rect">
            <a:avLst/>
          </a:prstGeom>
          <a:solidFill>
            <a:srgbClr val="02C39A"/>
          </a:solidFill>
          <a:ln w="12700">
            <a:solidFill>
              <a:srgbClr val="02C39A"/>
            </a:solidFill>
            <a:prstDash val="solid"/>
          </a:ln>
        </p:spPr>
        <p:txBody>
          <a:bodyPr/>
          <a:lstStyle/>
          <a:p>
            <a:endParaRPr lang="en-IN"/>
          </a:p>
        </p:txBody>
      </p:sp>
      <p:sp>
        <p:nvSpPr>
          <p:cNvPr id="14" name="Text 12"/>
          <p:cNvSpPr/>
          <p:nvPr/>
        </p:nvSpPr>
        <p:spPr>
          <a:xfrm>
            <a:off x="594360" y="2999232"/>
            <a:ext cx="3886200" cy="274320"/>
          </a:xfrm>
          <a:prstGeom prst="rect">
            <a:avLst/>
          </a:prstGeom>
          <a:noFill/>
          <a:ln/>
        </p:spPr>
        <p:txBody>
          <a:bodyPr wrap="square" rtlCol="0" anchor="ctr"/>
          <a:lstStyle/>
          <a:p>
            <a:pPr marL="0" indent="0" algn="l">
              <a:buNone/>
            </a:pPr>
            <a:r>
              <a:rPr lang="en-US" sz="1300" b="1" dirty="0">
                <a:solidFill>
                  <a:srgbClr val="1C7293"/>
                </a:solidFill>
                <a:latin typeface="Calibri" pitchFamily="34" charset="0"/>
                <a:ea typeface="Calibri" pitchFamily="34" charset="-122"/>
                <a:cs typeface="Calibri" pitchFamily="34" charset="-120"/>
              </a:rPr>
              <a:t>ASHRAE 1079 — Data Center Cooling Water Standards</a:t>
            </a:r>
            <a:endParaRPr lang="en-US" sz="1300" dirty="0"/>
          </a:p>
        </p:txBody>
      </p:sp>
      <p:sp>
        <p:nvSpPr>
          <p:cNvPr id="15" name="Text 13"/>
          <p:cNvSpPr/>
          <p:nvPr/>
        </p:nvSpPr>
        <p:spPr>
          <a:xfrm>
            <a:off x="594360" y="3273552"/>
            <a:ext cx="3886200" cy="1097280"/>
          </a:xfrm>
          <a:prstGeom prst="rect">
            <a:avLst/>
          </a:prstGeom>
          <a:noFill/>
          <a:ln/>
        </p:spPr>
        <p:txBody>
          <a:bodyPr wrap="square" rtlCol="0" anchor="t"/>
          <a:lstStyle/>
          <a:p>
            <a:pPr marL="0" indent="0" algn="l">
              <a:buNone/>
            </a:pPr>
            <a:r>
              <a:rPr lang="en-US" sz="1100" dirty="0">
                <a:solidFill>
                  <a:srgbClr val="2C3E50"/>
                </a:solidFill>
                <a:latin typeface="Calibri" pitchFamily="34" charset="0"/>
                <a:ea typeface="Calibri" pitchFamily="34" charset="-122"/>
                <a:cs typeface="Calibri" pitchFamily="34" charset="-120"/>
              </a:rPr>
              <a:t>Our UF+RO treatment achieves TDS &lt; 50 ppm — four times better than the 200 ppm maximum. pH 6.5-7.5, turbidity &lt; 1 NTU. All cooling requirements are met with significant safety margin.</a:t>
            </a:r>
            <a:endParaRPr lang="en-US" sz="1100" dirty="0"/>
          </a:p>
        </p:txBody>
      </p:sp>
      <p:sp>
        <p:nvSpPr>
          <p:cNvPr id="16" name="Shape 14"/>
          <p:cNvSpPr/>
          <p:nvPr/>
        </p:nvSpPr>
        <p:spPr>
          <a:xfrm>
            <a:off x="4709160" y="2926080"/>
            <a:ext cx="4069080" cy="1508760"/>
          </a:xfrm>
          <a:prstGeom prst="rect">
            <a:avLst/>
          </a:prstGeom>
          <a:solidFill>
            <a:srgbClr val="FFFFFF"/>
          </a:solidFill>
          <a:ln w="12700">
            <a:solidFill>
              <a:srgbClr val="D6EAF8"/>
            </a:solidFill>
            <a:prstDash val="solid"/>
          </a:ln>
          <a:effectLst>
            <a:outerShdw blurRad="76200" dist="25400" dir="8100000" algn="bl" rotWithShape="0">
              <a:srgbClr val="000000">
                <a:alpha val="8000"/>
              </a:srgbClr>
            </a:outerShdw>
          </a:effectLst>
        </p:spPr>
        <p:txBody>
          <a:bodyPr/>
          <a:lstStyle/>
          <a:p>
            <a:endParaRPr lang="en-IN"/>
          </a:p>
        </p:txBody>
      </p:sp>
      <p:sp>
        <p:nvSpPr>
          <p:cNvPr id="17" name="Shape 15"/>
          <p:cNvSpPr/>
          <p:nvPr/>
        </p:nvSpPr>
        <p:spPr>
          <a:xfrm>
            <a:off x="4709160" y="2926080"/>
            <a:ext cx="54864" cy="1508760"/>
          </a:xfrm>
          <a:prstGeom prst="rect">
            <a:avLst/>
          </a:prstGeom>
          <a:solidFill>
            <a:srgbClr val="02C39A"/>
          </a:solidFill>
          <a:ln w="12700">
            <a:solidFill>
              <a:srgbClr val="02C39A"/>
            </a:solidFill>
            <a:prstDash val="solid"/>
          </a:ln>
        </p:spPr>
        <p:txBody>
          <a:bodyPr/>
          <a:lstStyle/>
          <a:p>
            <a:endParaRPr lang="en-IN"/>
          </a:p>
        </p:txBody>
      </p:sp>
      <p:sp>
        <p:nvSpPr>
          <p:cNvPr id="18" name="Text 16"/>
          <p:cNvSpPr/>
          <p:nvPr/>
        </p:nvSpPr>
        <p:spPr>
          <a:xfrm>
            <a:off x="4846320" y="2999232"/>
            <a:ext cx="3886200" cy="274320"/>
          </a:xfrm>
          <a:prstGeom prst="rect">
            <a:avLst/>
          </a:prstGeom>
          <a:noFill/>
          <a:ln/>
        </p:spPr>
        <p:txBody>
          <a:bodyPr wrap="square" rtlCol="0" anchor="ctr"/>
          <a:lstStyle/>
          <a:p>
            <a:pPr marL="0" indent="0" algn="l">
              <a:buNone/>
            </a:pPr>
            <a:r>
              <a:rPr lang="en-US" sz="1300" b="1" dirty="0">
                <a:solidFill>
                  <a:srgbClr val="065A82"/>
                </a:solidFill>
                <a:latin typeface="Calibri" pitchFamily="34" charset="0"/>
                <a:ea typeface="Calibri" pitchFamily="34" charset="-122"/>
                <a:cs typeface="Calibri" pitchFamily="34" charset="-120"/>
              </a:rPr>
              <a:t>EPA Water Reuse Guidelines 2022</a:t>
            </a:r>
            <a:endParaRPr lang="en-US" sz="1300" dirty="0"/>
          </a:p>
        </p:txBody>
      </p:sp>
      <p:sp>
        <p:nvSpPr>
          <p:cNvPr id="19" name="Text 17"/>
          <p:cNvSpPr/>
          <p:nvPr/>
        </p:nvSpPr>
        <p:spPr>
          <a:xfrm>
            <a:off x="4846320" y="3273552"/>
            <a:ext cx="3886200" cy="1097280"/>
          </a:xfrm>
          <a:prstGeom prst="rect">
            <a:avLst/>
          </a:prstGeom>
          <a:noFill/>
          <a:ln/>
        </p:spPr>
        <p:txBody>
          <a:bodyPr wrap="square" rtlCol="0" anchor="t"/>
          <a:lstStyle/>
          <a:p>
            <a:pPr marL="0" indent="0" algn="l">
              <a:buNone/>
            </a:pPr>
            <a:r>
              <a:rPr lang="en-US" sz="1100" dirty="0">
                <a:solidFill>
                  <a:srgbClr val="2C3E50"/>
                </a:solidFill>
                <a:latin typeface="Calibri" pitchFamily="34" charset="0"/>
                <a:ea typeface="Calibri" pitchFamily="34" charset="-122"/>
                <a:cs typeface="Calibri" pitchFamily="34" charset="-120"/>
              </a:rPr>
              <a:t>Provides the technical framework for industrial reuse applications. The TDS &lt; 200 ppm specification for cooling tower makeup water is met by our treatment train with substantial headroom.</a:t>
            </a:r>
            <a:endParaRPr lang="en-US" sz="1100" dirty="0"/>
          </a:p>
        </p:txBody>
      </p:sp>
      <p:sp>
        <p:nvSpPr>
          <p:cNvPr id="20" name="Shape 18"/>
          <p:cNvSpPr/>
          <p:nvPr/>
        </p:nvSpPr>
        <p:spPr>
          <a:xfrm>
            <a:off x="457200" y="4681728"/>
            <a:ext cx="8229600" cy="320040"/>
          </a:xfrm>
          <a:prstGeom prst="rect">
            <a:avLst/>
          </a:prstGeom>
          <a:solidFill>
            <a:srgbClr val="02C39A">
              <a:alpha val="15000"/>
            </a:srgbClr>
          </a:solidFill>
          <a:ln w="12700">
            <a:solidFill>
              <a:srgbClr val="02C39A"/>
            </a:solidFill>
            <a:prstDash val="solid"/>
          </a:ln>
        </p:spPr>
        <p:txBody>
          <a:bodyPr/>
          <a:lstStyle/>
          <a:p>
            <a:endParaRPr lang="en-IN"/>
          </a:p>
        </p:txBody>
      </p:sp>
      <p:sp>
        <p:nvSpPr>
          <p:cNvPr id="21" name="Text 19"/>
          <p:cNvSpPr/>
          <p:nvPr/>
        </p:nvSpPr>
        <p:spPr>
          <a:xfrm>
            <a:off x="594360" y="4700016"/>
            <a:ext cx="7955280" cy="274320"/>
          </a:xfrm>
          <a:prstGeom prst="rect">
            <a:avLst/>
          </a:prstGeom>
          <a:noFill/>
          <a:ln/>
        </p:spPr>
        <p:txBody>
          <a:bodyPr wrap="square" rtlCol="0" anchor="ctr"/>
          <a:lstStyle/>
          <a:p>
            <a:pPr marL="0" indent="0" algn="l">
              <a:buNone/>
            </a:pPr>
            <a:r>
              <a:rPr lang="en-US" sz="1100" b="1" i="1" dirty="0">
                <a:solidFill>
                  <a:srgbClr val="028090"/>
                </a:solidFill>
                <a:latin typeface="Calibri" pitchFamily="34" charset="0"/>
                <a:ea typeface="Calibri" pitchFamily="34" charset="-122"/>
                <a:cs typeface="Calibri" pitchFamily="34" charset="-120"/>
              </a:rPr>
              <a:t>Texas is not just permitting this — the state is actively funding it. Our research supports existing Texas water policy goals.</a:t>
            </a:r>
            <a:endParaRPr lang="en-US" sz="1100" dirty="0"/>
          </a:p>
        </p:txBody>
      </p:sp>
      <p:sp>
        <p:nvSpPr>
          <p:cNvPr id="22" name="Text 20"/>
          <p:cNvSpPr/>
          <p:nvPr/>
        </p:nvSpPr>
        <p:spPr>
          <a:xfrm>
            <a:off x="457200" y="4846320"/>
            <a:ext cx="8229600" cy="228600"/>
          </a:xfrm>
          <a:prstGeom prst="rect">
            <a:avLst/>
          </a:prstGeom>
          <a:noFill/>
          <a:ln/>
        </p:spPr>
        <p:txBody>
          <a:bodyPr wrap="square" rtlCol="0" anchor="ctr"/>
          <a:lstStyle/>
          <a:p>
            <a:pPr marL="0" indent="0" algn="l">
              <a:buNone/>
            </a:pP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marL="0" indent="0" algn="l">
              <a:buNone/>
            </a:pPr>
            <a:r>
              <a:rPr lang="en-US" sz="3000" b="1" dirty="0">
                <a:solidFill>
                  <a:srgbClr val="065A82"/>
                </a:solidFill>
                <a:latin typeface="Calibri" pitchFamily="34" charset="0"/>
                <a:ea typeface="Calibri" pitchFamily="34" charset="-122"/>
                <a:cs typeface="Calibri" pitchFamily="34" charset="-120"/>
              </a:rPr>
              <a:t>Limitations &amp; Future Research Directions</a:t>
            </a:r>
            <a:endParaRPr lang="en-US" sz="3000" dirty="0"/>
          </a:p>
        </p:txBody>
      </p:sp>
      <p:sp>
        <p:nvSpPr>
          <p:cNvPr id="3" name="Shape 1"/>
          <p:cNvSpPr/>
          <p:nvPr/>
        </p:nvSpPr>
        <p:spPr>
          <a:xfrm>
            <a:off x="457200" y="1024128"/>
            <a:ext cx="8229600" cy="36576"/>
          </a:xfrm>
          <a:prstGeom prst="rect">
            <a:avLst/>
          </a:prstGeom>
          <a:solidFill>
            <a:srgbClr val="02C39A"/>
          </a:solidFill>
          <a:ln w="12700">
            <a:solidFill>
              <a:srgbClr val="02C39A"/>
            </a:solidFill>
            <a:prstDash val="solid"/>
          </a:ln>
        </p:spPr>
        <p:txBody>
          <a:bodyPr/>
          <a:lstStyle/>
          <a:p>
            <a:endParaRPr lang="en-IN"/>
          </a:p>
        </p:txBody>
      </p:sp>
      <p:sp>
        <p:nvSpPr>
          <p:cNvPr id="4" name="Text 2"/>
          <p:cNvSpPr/>
          <p:nvPr/>
        </p:nvSpPr>
        <p:spPr>
          <a:xfrm>
            <a:off x="457200" y="1115568"/>
            <a:ext cx="8229600" cy="292608"/>
          </a:xfrm>
          <a:prstGeom prst="rect">
            <a:avLst/>
          </a:prstGeom>
          <a:noFill/>
          <a:ln/>
        </p:spPr>
        <p:txBody>
          <a:bodyPr wrap="square"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Honest Assessment — What This Study Does Not Cover</a:t>
            </a:r>
            <a:endParaRPr lang="en-US" sz="1400" dirty="0"/>
          </a:p>
        </p:txBody>
      </p:sp>
      <p:sp>
        <p:nvSpPr>
          <p:cNvPr id="5" name="Shape 3"/>
          <p:cNvSpPr/>
          <p:nvPr/>
        </p:nvSpPr>
        <p:spPr>
          <a:xfrm>
            <a:off x="457200" y="1508760"/>
            <a:ext cx="4069080" cy="1280160"/>
          </a:xfrm>
          <a:prstGeom prst="rect">
            <a:avLst/>
          </a:prstGeom>
          <a:solidFill>
            <a:srgbClr val="FFFFFF"/>
          </a:solidFill>
          <a:ln w="12700">
            <a:solidFill>
              <a:srgbClr val="D6EAF8"/>
            </a:solidFill>
            <a:prstDash val="solid"/>
          </a:ln>
          <a:effectLst>
            <a:outerShdw blurRad="76200" dist="25400" dir="8100000" algn="bl" rotWithShape="0">
              <a:srgbClr val="000000">
                <a:alpha val="8000"/>
              </a:srgbClr>
            </a:outerShdw>
          </a:effectLst>
        </p:spPr>
        <p:txBody>
          <a:bodyPr/>
          <a:lstStyle/>
          <a:p>
            <a:endParaRPr lang="en-IN"/>
          </a:p>
        </p:txBody>
      </p:sp>
      <p:sp>
        <p:nvSpPr>
          <p:cNvPr id="6" name="Shape 4"/>
          <p:cNvSpPr/>
          <p:nvPr/>
        </p:nvSpPr>
        <p:spPr>
          <a:xfrm>
            <a:off x="457200" y="1508760"/>
            <a:ext cx="54864" cy="1280160"/>
          </a:xfrm>
          <a:prstGeom prst="rect">
            <a:avLst/>
          </a:prstGeom>
          <a:solidFill>
            <a:srgbClr val="02C39A"/>
          </a:solidFill>
          <a:ln w="12700">
            <a:solidFill>
              <a:srgbClr val="02C39A"/>
            </a:solidFill>
            <a:prstDash val="solid"/>
          </a:ln>
        </p:spPr>
        <p:txBody>
          <a:bodyPr/>
          <a:lstStyle/>
          <a:p>
            <a:endParaRPr lang="en-IN"/>
          </a:p>
        </p:txBody>
      </p:sp>
      <p:sp>
        <p:nvSpPr>
          <p:cNvPr id="7" name="Text 5"/>
          <p:cNvSpPr/>
          <p:nvPr/>
        </p:nvSpPr>
        <p:spPr>
          <a:xfrm>
            <a:off x="594360" y="1581912"/>
            <a:ext cx="3886200" cy="274320"/>
          </a:xfrm>
          <a:prstGeom prst="rect">
            <a:avLst/>
          </a:prstGeom>
          <a:noFill/>
          <a:ln/>
        </p:spPr>
        <p:txBody>
          <a:bodyPr wrap="square" rtlCol="0" anchor="ctr"/>
          <a:lstStyle/>
          <a:p>
            <a:pPr marL="0" indent="0" algn="l">
              <a:buNone/>
            </a:pPr>
            <a:r>
              <a:rPr lang="en-US" sz="1300" b="1" dirty="0">
                <a:solidFill>
                  <a:srgbClr val="065A82"/>
                </a:solidFill>
                <a:latin typeface="Calibri" pitchFamily="34" charset="0"/>
                <a:ea typeface="Calibri" pitchFamily="34" charset="-122"/>
                <a:cs typeface="Calibri" pitchFamily="34" charset="-120"/>
              </a:rPr>
              <a:t>Actual Facility Disclosure</a:t>
            </a:r>
            <a:endParaRPr lang="en-US" sz="1300" dirty="0"/>
          </a:p>
        </p:txBody>
      </p:sp>
      <p:sp>
        <p:nvSpPr>
          <p:cNvPr id="8" name="Text 6"/>
          <p:cNvSpPr/>
          <p:nvPr/>
        </p:nvSpPr>
        <p:spPr>
          <a:xfrm>
            <a:off x="594360" y="1856232"/>
            <a:ext cx="3886200" cy="868680"/>
          </a:xfrm>
          <a:prstGeom prst="rect">
            <a:avLst/>
          </a:prstGeom>
          <a:noFill/>
          <a:ln/>
        </p:spPr>
        <p:txBody>
          <a:bodyPr wrap="square" rtlCol="0" anchor="t"/>
          <a:lstStyle/>
          <a:p>
            <a:pPr marL="0" indent="0" algn="l">
              <a:buNone/>
            </a:pPr>
            <a:r>
              <a:rPr lang="en-US" sz="1100" dirty="0">
                <a:solidFill>
                  <a:srgbClr val="2C3E50"/>
                </a:solidFill>
                <a:latin typeface="Calibri" pitchFamily="34" charset="0"/>
                <a:ea typeface="Calibri" pitchFamily="34" charset="-122"/>
                <a:cs typeface="Calibri" pitchFamily="34" charset="-120"/>
              </a:rPr>
              <a:t>Data centers do not disclose water consumption. Our demand estimates are model-derived from capacity data using PUE and WUE coefficients. Actual consumption may vary by cooling technology type.</a:t>
            </a:r>
            <a:endParaRPr lang="en-US" sz="1100" dirty="0"/>
          </a:p>
        </p:txBody>
      </p:sp>
      <p:sp>
        <p:nvSpPr>
          <p:cNvPr id="9" name="Shape 7"/>
          <p:cNvSpPr/>
          <p:nvPr/>
        </p:nvSpPr>
        <p:spPr>
          <a:xfrm>
            <a:off x="4709160" y="1508760"/>
            <a:ext cx="4069080" cy="1280160"/>
          </a:xfrm>
          <a:prstGeom prst="rect">
            <a:avLst/>
          </a:prstGeom>
          <a:solidFill>
            <a:srgbClr val="FFFFFF"/>
          </a:solidFill>
          <a:ln w="12700">
            <a:solidFill>
              <a:srgbClr val="D6EAF8"/>
            </a:solidFill>
            <a:prstDash val="solid"/>
          </a:ln>
          <a:effectLst>
            <a:outerShdw blurRad="76200" dist="25400" dir="8100000" algn="bl" rotWithShape="0">
              <a:srgbClr val="000000">
                <a:alpha val="8000"/>
              </a:srgbClr>
            </a:outerShdw>
          </a:effectLst>
        </p:spPr>
        <p:txBody>
          <a:bodyPr/>
          <a:lstStyle/>
          <a:p>
            <a:endParaRPr lang="en-IN"/>
          </a:p>
        </p:txBody>
      </p:sp>
      <p:sp>
        <p:nvSpPr>
          <p:cNvPr id="10" name="Shape 8"/>
          <p:cNvSpPr/>
          <p:nvPr/>
        </p:nvSpPr>
        <p:spPr>
          <a:xfrm>
            <a:off x="4709160" y="1508760"/>
            <a:ext cx="54864" cy="1280160"/>
          </a:xfrm>
          <a:prstGeom prst="rect">
            <a:avLst/>
          </a:prstGeom>
          <a:solidFill>
            <a:srgbClr val="02C39A"/>
          </a:solidFill>
          <a:ln w="12700">
            <a:solidFill>
              <a:srgbClr val="02C39A"/>
            </a:solidFill>
            <a:prstDash val="solid"/>
          </a:ln>
        </p:spPr>
        <p:txBody>
          <a:bodyPr/>
          <a:lstStyle/>
          <a:p>
            <a:endParaRPr lang="en-IN"/>
          </a:p>
        </p:txBody>
      </p:sp>
      <p:sp>
        <p:nvSpPr>
          <p:cNvPr id="11" name="Text 9"/>
          <p:cNvSpPr/>
          <p:nvPr/>
        </p:nvSpPr>
        <p:spPr>
          <a:xfrm>
            <a:off x="4846320" y="1581912"/>
            <a:ext cx="3886200" cy="274320"/>
          </a:xfrm>
          <a:prstGeom prst="rect">
            <a:avLst/>
          </a:prstGeom>
          <a:noFill/>
          <a:ln/>
        </p:spPr>
        <p:txBody>
          <a:bodyPr wrap="square" rtlCol="0" anchor="ctr"/>
          <a:lstStyle/>
          <a:p>
            <a:pPr marL="0" indent="0" algn="l">
              <a:buNone/>
            </a:pPr>
            <a:r>
              <a:rPr lang="en-US" sz="1300" b="1" dirty="0">
                <a:solidFill>
                  <a:srgbClr val="065A82"/>
                </a:solidFill>
                <a:latin typeface="Calibri" pitchFamily="34" charset="0"/>
                <a:ea typeface="Calibri" pitchFamily="34" charset="-122"/>
                <a:cs typeface="Calibri" pitchFamily="34" charset="-120"/>
              </a:rPr>
              <a:t>Pipeline Connection Costs</a:t>
            </a:r>
            <a:endParaRPr lang="en-US" sz="1300" dirty="0"/>
          </a:p>
        </p:txBody>
      </p:sp>
      <p:sp>
        <p:nvSpPr>
          <p:cNvPr id="12" name="Text 10"/>
          <p:cNvSpPr/>
          <p:nvPr/>
        </p:nvSpPr>
        <p:spPr>
          <a:xfrm>
            <a:off x="4846320" y="1856232"/>
            <a:ext cx="3886200" cy="868680"/>
          </a:xfrm>
          <a:prstGeom prst="rect">
            <a:avLst/>
          </a:prstGeom>
          <a:noFill/>
          <a:ln/>
        </p:spPr>
        <p:txBody>
          <a:bodyPr wrap="square" rtlCol="0" anchor="t"/>
          <a:lstStyle/>
          <a:p>
            <a:pPr marL="0" indent="0" algn="l">
              <a:buNone/>
            </a:pPr>
            <a:r>
              <a:rPr lang="en-US" sz="1100" dirty="0">
                <a:solidFill>
                  <a:srgbClr val="2C3E50"/>
                </a:solidFill>
                <a:latin typeface="Calibri" pitchFamily="34" charset="0"/>
                <a:ea typeface="Calibri" pitchFamily="34" charset="-122"/>
                <a:cs typeface="Calibri" pitchFamily="34" charset="-120"/>
              </a:rPr>
              <a:t>Scenario 2 assumes a connection to existing treatment plants is feasible. Actual pipeline distance, routing, and connection costs were not site-specifically modeled in this study.</a:t>
            </a:r>
            <a:endParaRPr lang="en-US" sz="1100" dirty="0"/>
          </a:p>
        </p:txBody>
      </p:sp>
      <p:sp>
        <p:nvSpPr>
          <p:cNvPr id="13" name="Shape 11"/>
          <p:cNvSpPr/>
          <p:nvPr/>
        </p:nvSpPr>
        <p:spPr>
          <a:xfrm>
            <a:off x="457200" y="2926080"/>
            <a:ext cx="4069080" cy="1280160"/>
          </a:xfrm>
          <a:prstGeom prst="rect">
            <a:avLst/>
          </a:prstGeom>
          <a:solidFill>
            <a:srgbClr val="FFFFFF"/>
          </a:solidFill>
          <a:ln w="12700">
            <a:solidFill>
              <a:srgbClr val="D6EAF8"/>
            </a:solidFill>
            <a:prstDash val="solid"/>
          </a:ln>
          <a:effectLst>
            <a:outerShdw blurRad="76200" dist="25400" dir="8100000" algn="bl" rotWithShape="0">
              <a:srgbClr val="000000">
                <a:alpha val="8000"/>
              </a:srgbClr>
            </a:outerShdw>
          </a:effectLst>
        </p:spPr>
        <p:txBody>
          <a:bodyPr/>
          <a:lstStyle/>
          <a:p>
            <a:endParaRPr lang="en-IN"/>
          </a:p>
        </p:txBody>
      </p:sp>
      <p:sp>
        <p:nvSpPr>
          <p:cNvPr id="14" name="Shape 12"/>
          <p:cNvSpPr/>
          <p:nvPr/>
        </p:nvSpPr>
        <p:spPr>
          <a:xfrm>
            <a:off x="457200" y="2926080"/>
            <a:ext cx="54864" cy="1280160"/>
          </a:xfrm>
          <a:prstGeom prst="rect">
            <a:avLst/>
          </a:prstGeom>
          <a:solidFill>
            <a:srgbClr val="02C39A"/>
          </a:solidFill>
          <a:ln w="12700">
            <a:solidFill>
              <a:srgbClr val="02C39A"/>
            </a:solidFill>
            <a:prstDash val="solid"/>
          </a:ln>
        </p:spPr>
        <p:txBody>
          <a:bodyPr/>
          <a:lstStyle/>
          <a:p>
            <a:endParaRPr lang="en-IN"/>
          </a:p>
        </p:txBody>
      </p:sp>
      <p:sp>
        <p:nvSpPr>
          <p:cNvPr id="15" name="Text 13"/>
          <p:cNvSpPr/>
          <p:nvPr/>
        </p:nvSpPr>
        <p:spPr>
          <a:xfrm>
            <a:off x="594360" y="2999232"/>
            <a:ext cx="3886200" cy="274320"/>
          </a:xfrm>
          <a:prstGeom prst="rect">
            <a:avLst/>
          </a:prstGeom>
          <a:noFill/>
          <a:ln/>
        </p:spPr>
        <p:txBody>
          <a:bodyPr wrap="square" rtlCol="0" anchor="ctr"/>
          <a:lstStyle/>
          <a:p>
            <a:pPr marL="0" indent="0" algn="l">
              <a:buNone/>
            </a:pPr>
            <a:r>
              <a:rPr lang="en-US" sz="1300" b="1" dirty="0">
                <a:solidFill>
                  <a:srgbClr val="065A82"/>
                </a:solidFill>
                <a:latin typeface="Calibri" pitchFamily="34" charset="0"/>
                <a:ea typeface="Calibri" pitchFamily="34" charset="-122"/>
                <a:cs typeface="Calibri" pitchFamily="34" charset="-120"/>
              </a:rPr>
              <a:t>Concentrate Disposal</a:t>
            </a:r>
            <a:endParaRPr lang="en-US" sz="1300" dirty="0"/>
          </a:p>
        </p:txBody>
      </p:sp>
      <p:sp>
        <p:nvSpPr>
          <p:cNvPr id="16" name="Text 14"/>
          <p:cNvSpPr/>
          <p:nvPr/>
        </p:nvSpPr>
        <p:spPr>
          <a:xfrm>
            <a:off x="594360" y="3273552"/>
            <a:ext cx="3886200" cy="868680"/>
          </a:xfrm>
          <a:prstGeom prst="rect">
            <a:avLst/>
          </a:prstGeom>
          <a:noFill/>
          <a:ln/>
        </p:spPr>
        <p:txBody>
          <a:bodyPr wrap="square" rtlCol="0" anchor="t"/>
          <a:lstStyle/>
          <a:p>
            <a:pPr marL="0" indent="0" algn="l">
              <a:buNone/>
            </a:pPr>
            <a:r>
              <a:rPr lang="en-US" sz="1100" dirty="0">
                <a:solidFill>
                  <a:srgbClr val="2C3E50"/>
                </a:solidFill>
                <a:latin typeface="Calibri" pitchFamily="34" charset="0"/>
                <a:ea typeface="Calibri" pitchFamily="34" charset="-122"/>
                <a:cs typeface="Calibri" pitchFamily="34" charset="-120"/>
              </a:rPr>
              <a:t>The 31% RO reject stream (concentrate) must be disposed of. Sewer discharge fees and permitting for concentrate disposal under Scenario 3 require facility-specific analysis.</a:t>
            </a:r>
            <a:endParaRPr lang="en-US" sz="1100" dirty="0"/>
          </a:p>
        </p:txBody>
      </p:sp>
      <p:sp>
        <p:nvSpPr>
          <p:cNvPr id="17" name="Shape 15"/>
          <p:cNvSpPr/>
          <p:nvPr/>
        </p:nvSpPr>
        <p:spPr>
          <a:xfrm>
            <a:off x="4709160" y="2926080"/>
            <a:ext cx="4069080" cy="1280160"/>
          </a:xfrm>
          <a:prstGeom prst="rect">
            <a:avLst/>
          </a:prstGeom>
          <a:solidFill>
            <a:srgbClr val="FFFFFF"/>
          </a:solidFill>
          <a:ln w="12700">
            <a:solidFill>
              <a:srgbClr val="D6EAF8"/>
            </a:solidFill>
            <a:prstDash val="solid"/>
          </a:ln>
          <a:effectLst>
            <a:outerShdw blurRad="76200" dist="25400" dir="8100000" algn="bl" rotWithShape="0">
              <a:srgbClr val="000000">
                <a:alpha val="8000"/>
              </a:srgbClr>
            </a:outerShdw>
          </a:effectLst>
        </p:spPr>
        <p:txBody>
          <a:bodyPr/>
          <a:lstStyle/>
          <a:p>
            <a:endParaRPr lang="en-IN"/>
          </a:p>
        </p:txBody>
      </p:sp>
      <p:sp>
        <p:nvSpPr>
          <p:cNvPr id="18" name="Shape 16"/>
          <p:cNvSpPr/>
          <p:nvPr/>
        </p:nvSpPr>
        <p:spPr>
          <a:xfrm>
            <a:off x="4709160" y="2926080"/>
            <a:ext cx="54864" cy="1280160"/>
          </a:xfrm>
          <a:prstGeom prst="rect">
            <a:avLst/>
          </a:prstGeom>
          <a:solidFill>
            <a:srgbClr val="02C39A"/>
          </a:solidFill>
          <a:ln w="12700">
            <a:solidFill>
              <a:srgbClr val="02C39A"/>
            </a:solidFill>
            <a:prstDash val="solid"/>
          </a:ln>
        </p:spPr>
        <p:txBody>
          <a:bodyPr/>
          <a:lstStyle/>
          <a:p>
            <a:endParaRPr lang="en-IN"/>
          </a:p>
        </p:txBody>
      </p:sp>
      <p:sp>
        <p:nvSpPr>
          <p:cNvPr id="19" name="Text 17"/>
          <p:cNvSpPr/>
          <p:nvPr/>
        </p:nvSpPr>
        <p:spPr>
          <a:xfrm>
            <a:off x="4846320" y="2999232"/>
            <a:ext cx="3886200" cy="274320"/>
          </a:xfrm>
          <a:prstGeom prst="rect">
            <a:avLst/>
          </a:prstGeom>
          <a:noFill/>
          <a:ln/>
        </p:spPr>
        <p:txBody>
          <a:bodyPr wrap="square" rtlCol="0" anchor="ctr"/>
          <a:lstStyle/>
          <a:p>
            <a:pPr marL="0" indent="0" algn="l">
              <a:buNone/>
            </a:pPr>
            <a:r>
              <a:rPr lang="en-US" sz="1300" b="1" dirty="0">
                <a:solidFill>
                  <a:srgbClr val="065A82"/>
                </a:solidFill>
                <a:latin typeface="Calibri" pitchFamily="34" charset="0"/>
                <a:ea typeface="Calibri" pitchFamily="34" charset="-122"/>
                <a:cs typeface="Calibri" pitchFamily="34" charset="-120"/>
              </a:rPr>
              <a:t>Water Market Pricing</a:t>
            </a:r>
            <a:endParaRPr lang="en-US" sz="1300" dirty="0"/>
          </a:p>
        </p:txBody>
      </p:sp>
      <p:sp>
        <p:nvSpPr>
          <p:cNvPr id="20" name="Text 18"/>
          <p:cNvSpPr/>
          <p:nvPr/>
        </p:nvSpPr>
        <p:spPr>
          <a:xfrm>
            <a:off x="4846320" y="3273552"/>
            <a:ext cx="3886200" cy="868680"/>
          </a:xfrm>
          <a:prstGeom prst="rect">
            <a:avLst/>
          </a:prstGeom>
          <a:noFill/>
          <a:ln/>
        </p:spPr>
        <p:txBody>
          <a:bodyPr wrap="square" rtlCol="0" anchor="t"/>
          <a:lstStyle/>
          <a:p>
            <a:pPr marL="0" indent="0" algn="l">
              <a:buNone/>
            </a:pPr>
            <a:r>
              <a:rPr lang="en-US" sz="1100" dirty="0">
                <a:solidFill>
                  <a:srgbClr val="2C3E50"/>
                </a:solidFill>
                <a:latin typeface="Calibri" pitchFamily="34" charset="0"/>
                <a:ea typeface="Calibri" pitchFamily="34" charset="-122"/>
                <a:cs typeface="Calibri" pitchFamily="34" charset="-120"/>
              </a:rPr>
              <a:t>The $5.50/kGal bulk reclaimed rate is a published benchmark. Actual negotiated rates between specific facilities and treatment plants may differ.</a:t>
            </a:r>
            <a:endParaRPr lang="en-US" sz="1100" dirty="0"/>
          </a:p>
        </p:txBody>
      </p:sp>
      <p:sp>
        <p:nvSpPr>
          <p:cNvPr id="21" name="Text 19"/>
          <p:cNvSpPr/>
          <p:nvPr/>
        </p:nvSpPr>
        <p:spPr>
          <a:xfrm>
            <a:off x="457200" y="4434840"/>
            <a:ext cx="8229600" cy="292608"/>
          </a:xfrm>
          <a:prstGeom prst="rect">
            <a:avLst/>
          </a:prstGeom>
          <a:noFill/>
          <a:ln/>
        </p:spPr>
        <p:txBody>
          <a:bodyPr wrap="square" rtlCol="0" anchor="ctr"/>
          <a:lstStyle/>
          <a:p>
            <a:pPr marL="0" indent="0">
              <a:buNone/>
            </a:pPr>
            <a:endParaRPr lang="en-US" sz="1300" dirty="0"/>
          </a:p>
        </p:txBody>
      </p:sp>
      <p:sp>
        <p:nvSpPr>
          <p:cNvPr id="23" name="Text 21"/>
          <p:cNvSpPr/>
          <p:nvPr/>
        </p:nvSpPr>
        <p:spPr>
          <a:xfrm>
            <a:off x="713232" y="4754880"/>
            <a:ext cx="7955280" cy="237744"/>
          </a:xfrm>
          <a:prstGeom prst="rect">
            <a:avLst/>
          </a:prstGeom>
          <a:noFill/>
          <a:ln/>
        </p:spPr>
        <p:txBody>
          <a:bodyPr wrap="square" rtlCol="0" anchor="ctr"/>
          <a:lstStyle/>
          <a:p>
            <a:pPr marL="0" indent="0">
              <a:buNone/>
            </a:pPr>
            <a:endParaRPr lang="en-US" sz="1050" dirty="0"/>
          </a:p>
        </p:txBody>
      </p:sp>
      <p:sp>
        <p:nvSpPr>
          <p:cNvPr id="25" name="Text 23"/>
          <p:cNvSpPr/>
          <p:nvPr/>
        </p:nvSpPr>
        <p:spPr>
          <a:xfrm>
            <a:off x="713232" y="4992624"/>
            <a:ext cx="7955280" cy="237744"/>
          </a:xfrm>
          <a:prstGeom prst="rect">
            <a:avLst/>
          </a:prstGeom>
          <a:noFill/>
          <a:ln/>
        </p:spPr>
        <p:txBody>
          <a:bodyPr wrap="square" rtlCol="0" anchor="ctr"/>
          <a:lstStyle/>
          <a:p>
            <a:pPr marL="0" indent="0">
              <a:buNone/>
            </a:pPr>
            <a:endParaRPr lang="en-US" sz="1050" dirty="0"/>
          </a:p>
        </p:txBody>
      </p:sp>
      <p:sp>
        <p:nvSpPr>
          <p:cNvPr id="27" name="Text 25"/>
          <p:cNvSpPr/>
          <p:nvPr/>
        </p:nvSpPr>
        <p:spPr>
          <a:xfrm>
            <a:off x="713232" y="5230368"/>
            <a:ext cx="7955280" cy="237744"/>
          </a:xfrm>
          <a:prstGeom prst="rect">
            <a:avLst/>
          </a:prstGeom>
          <a:noFill/>
          <a:ln/>
        </p:spPr>
        <p:txBody>
          <a:bodyPr wrap="square" rtlCol="0" anchor="ctr"/>
          <a:lstStyle/>
          <a:p>
            <a:pPr marL="0" indent="0">
              <a:buNone/>
            </a:pP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065A82"/>
        </a:solidFill>
        <a:effectLst/>
      </p:bgPr>
    </p:bg>
    <p:spTree>
      <p:nvGrpSpPr>
        <p:cNvPr id="1" name=""/>
        <p:cNvGrpSpPr/>
        <p:nvPr/>
      </p:nvGrpSpPr>
      <p:grpSpPr>
        <a:xfrm>
          <a:off x="0" y="0"/>
          <a:ext cx="0" cy="0"/>
          <a:chOff x="0" y="0"/>
          <a:chExt cx="0" cy="0"/>
        </a:xfrm>
      </p:grpSpPr>
      <p:sp>
        <p:nvSpPr>
          <p:cNvPr id="3" name="Text 1"/>
          <p:cNvSpPr/>
          <p:nvPr/>
        </p:nvSpPr>
        <p:spPr>
          <a:xfrm>
            <a:off x="457200" y="457200"/>
            <a:ext cx="3657600" cy="320040"/>
          </a:xfrm>
          <a:prstGeom prst="rect">
            <a:avLst/>
          </a:prstGeom>
          <a:noFill/>
          <a:ln/>
        </p:spPr>
        <p:txBody>
          <a:bodyPr wrap="square" rtlCol="0" anchor="ctr"/>
          <a:lstStyle/>
          <a:p>
            <a:pPr marL="0" indent="0">
              <a:buNone/>
            </a:pPr>
            <a:r>
              <a:rPr lang="en-US" sz="1100" b="1" kern="0" spc="300" dirty="0">
                <a:solidFill>
                  <a:srgbClr val="02C39A"/>
                </a:solidFill>
                <a:latin typeface="Calibri" pitchFamily="34" charset="0"/>
                <a:ea typeface="Calibri" pitchFamily="34" charset="-122"/>
                <a:cs typeface="Calibri" pitchFamily="34" charset="-120"/>
              </a:rPr>
              <a:t>CONCLUSION</a:t>
            </a:r>
            <a:endParaRPr lang="en-US" sz="1100" dirty="0"/>
          </a:p>
        </p:txBody>
      </p:sp>
      <p:sp>
        <p:nvSpPr>
          <p:cNvPr id="4" name="Text 2"/>
          <p:cNvSpPr/>
          <p:nvPr/>
        </p:nvSpPr>
        <p:spPr>
          <a:xfrm>
            <a:off x="457200" y="822960"/>
            <a:ext cx="7772400" cy="10972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Yes — Houston’s </a:t>
            </a:r>
            <a:r>
              <a:rPr lang="en-US" sz="3000" b="1" dirty="0" err="1">
                <a:solidFill>
                  <a:srgbClr val="FFFFFF"/>
                </a:solidFill>
                <a:latin typeface="Calibri" pitchFamily="34" charset="0"/>
                <a:ea typeface="Calibri" pitchFamily="34" charset="-122"/>
                <a:cs typeface="Calibri" pitchFamily="34" charset="-120"/>
              </a:rPr>
              <a:t>HouseHold</a:t>
            </a:r>
            <a:r>
              <a:rPr lang="en-US" sz="3000" b="1" dirty="0">
                <a:solidFill>
                  <a:srgbClr val="FFFFFF"/>
                </a:solidFill>
                <a:latin typeface="Calibri" pitchFamily="34" charset="0"/>
                <a:ea typeface="Calibri" pitchFamily="34" charset="-122"/>
                <a:cs typeface="Calibri" pitchFamily="34" charset="-120"/>
              </a:rPr>
              <a:t> Wastewater Can Cool Its Data Centers</a:t>
            </a:r>
            <a:endParaRPr lang="en-US" sz="3000" dirty="0"/>
          </a:p>
        </p:txBody>
      </p:sp>
      <p:sp>
        <p:nvSpPr>
          <p:cNvPr id="5" name="Shape 3"/>
          <p:cNvSpPr/>
          <p:nvPr/>
        </p:nvSpPr>
        <p:spPr>
          <a:xfrm>
            <a:off x="457200" y="2011680"/>
            <a:ext cx="7772400" cy="36576"/>
          </a:xfrm>
          <a:prstGeom prst="rect">
            <a:avLst/>
          </a:prstGeom>
          <a:solidFill>
            <a:srgbClr val="02C39A"/>
          </a:solidFill>
          <a:ln w="12700">
            <a:solidFill>
              <a:srgbClr val="02C39A"/>
            </a:solidFill>
            <a:prstDash val="solid"/>
          </a:ln>
        </p:spPr>
        <p:txBody>
          <a:bodyPr/>
          <a:lstStyle/>
          <a:p>
            <a:endParaRPr lang="en-IN"/>
          </a:p>
        </p:txBody>
      </p:sp>
      <p:sp>
        <p:nvSpPr>
          <p:cNvPr id="21" name="Shape 19"/>
          <p:cNvSpPr/>
          <p:nvPr/>
        </p:nvSpPr>
        <p:spPr>
          <a:xfrm>
            <a:off x="0" y="4736592"/>
            <a:ext cx="9144000" cy="406908"/>
          </a:xfrm>
          <a:prstGeom prst="rect">
            <a:avLst/>
          </a:prstGeom>
          <a:solidFill>
            <a:srgbClr val="02C39A"/>
          </a:solidFill>
          <a:ln w="12700">
            <a:solidFill>
              <a:srgbClr val="02C39A"/>
            </a:solidFill>
            <a:prstDash val="solid"/>
          </a:ln>
        </p:spPr>
        <p:txBody>
          <a:bodyPr/>
          <a:lstStyle/>
          <a:p>
            <a:endParaRPr lang="en-IN"/>
          </a:p>
        </p:txBody>
      </p:sp>
      <p:sp>
        <p:nvSpPr>
          <p:cNvPr id="22" name="Text 20"/>
          <p:cNvSpPr/>
          <p:nvPr/>
        </p:nvSpPr>
        <p:spPr>
          <a:xfrm>
            <a:off x="457200" y="4736592"/>
            <a:ext cx="8229600" cy="4069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Houston's digital economy and water security can grow together — this research shows how.</a:t>
            </a:r>
            <a:endParaRPr lang="en-US" sz="1300" dirty="0"/>
          </a:p>
        </p:txBody>
      </p:sp>
      <p:sp>
        <p:nvSpPr>
          <p:cNvPr id="36" name="TextBox 35">
            <a:extLst>
              <a:ext uri="{FF2B5EF4-FFF2-40B4-BE49-F238E27FC236}">
                <a16:creationId xmlns:a16="http://schemas.microsoft.com/office/drawing/2014/main" id="{BCC6D057-4BFD-6DB7-C9D5-0AC259480A2E}"/>
              </a:ext>
            </a:extLst>
          </p:cNvPr>
          <p:cNvSpPr txBox="1"/>
          <p:nvPr/>
        </p:nvSpPr>
        <p:spPr>
          <a:xfrm>
            <a:off x="290946" y="2100977"/>
            <a:ext cx="8672946" cy="1754326"/>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UF+RO treatment achieves TDS &lt; 50 ppm — exceeds ASHRAE 1079 cooling specifications</a:t>
            </a:r>
          </a:p>
          <a:p>
            <a:pPr marL="285750" indent="-285750">
              <a:buFont typeface="Arial" panose="020B0604020202020204" pitchFamily="34" charset="0"/>
              <a:buChar char="•"/>
            </a:pPr>
            <a:r>
              <a:rPr lang="en-US" dirty="0">
                <a:solidFill>
                  <a:schemeClr val="bg1"/>
                </a:solidFill>
              </a:rPr>
              <a:t>Scenario 2 saves 40% immediately with zero capital risk — actionable today under existing Texas law</a:t>
            </a:r>
          </a:p>
          <a:p>
            <a:pPr marL="285750" indent="-285750">
              <a:buFont typeface="Arial" panose="020B0604020202020204" pitchFamily="34" charset="0"/>
              <a:buChar char="•"/>
            </a:pPr>
            <a:r>
              <a:rPr lang="en-US" dirty="0">
                <a:solidFill>
                  <a:schemeClr val="bg1"/>
                </a:solidFill>
              </a:rPr>
              <a:t>Scenario 3 pays back in 6–28 months — medium and large facilities should build now</a:t>
            </a:r>
          </a:p>
          <a:p>
            <a:pPr marL="285750" indent="-285750">
              <a:buFont typeface="Arial" panose="020B0604020202020204" pitchFamily="34" charset="0"/>
              <a:buChar char="•"/>
            </a:pPr>
            <a:r>
              <a:rPr lang="en-US" dirty="0">
                <a:solidFill>
                  <a:schemeClr val="bg1"/>
                </a:solidFill>
              </a:rPr>
              <a:t>Texas regulatory and funding framework actively supports this transition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marL="0" indent="0" algn="l">
              <a:buNone/>
            </a:pPr>
            <a:r>
              <a:rPr lang="en-US" sz="3000" b="1" dirty="0">
                <a:solidFill>
                  <a:srgbClr val="065A82"/>
                </a:solidFill>
                <a:latin typeface="Calibri" pitchFamily="34" charset="0"/>
                <a:ea typeface="Calibri" pitchFamily="34" charset="-122"/>
                <a:cs typeface="Calibri" pitchFamily="34" charset="-120"/>
              </a:rPr>
              <a:t>References &amp; Data Sources</a:t>
            </a:r>
            <a:endParaRPr lang="en-US" sz="3000" dirty="0"/>
          </a:p>
        </p:txBody>
      </p:sp>
      <p:sp>
        <p:nvSpPr>
          <p:cNvPr id="3" name="Shape 1"/>
          <p:cNvSpPr/>
          <p:nvPr/>
        </p:nvSpPr>
        <p:spPr>
          <a:xfrm>
            <a:off x="457200" y="1024128"/>
            <a:ext cx="8229600" cy="36576"/>
          </a:xfrm>
          <a:prstGeom prst="rect">
            <a:avLst/>
          </a:prstGeom>
          <a:solidFill>
            <a:srgbClr val="02C39A"/>
          </a:solidFill>
          <a:ln w="12700">
            <a:solidFill>
              <a:srgbClr val="02C39A"/>
            </a:solidFill>
            <a:prstDash val="solid"/>
          </a:ln>
        </p:spPr>
        <p:txBody>
          <a:bodyPr/>
          <a:lstStyle/>
          <a:p>
            <a:endParaRPr lang="en-IN"/>
          </a:p>
        </p:txBody>
      </p:sp>
      <p:sp>
        <p:nvSpPr>
          <p:cNvPr id="4" name="Shape 2"/>
          <p:cNvSpPr/>
          <p:nvPr/>
        </p:nvSpPr>
        <p:spPr>
          <a:xfrm>
            <a:off x="457200" y="1170432"/>
            <a:ext cx="4160520" cy="566928"/>
          </a:xfrm>
          <a:prstGeom prst="rect">
            <a:avLst/>
          </a:prstGeom>
          <a:solidFill>
            <a:srgbClr val="EBF5FB"/>
          </a:solidFill>
          <a:ln w="6350">
            <a:solidFill>
              <a:srgbClr val="D6EAF8"/>
            </a:solidFill>
            <a:prstDash val="solid"/>
          </a:ln>
        </p:spPr>
        <p:txBody>
          <a:bodyPr/>
          <a:lstStyle/>
          <a:p>
            <a:endParaRPr lang="en-IN"/>
          </a:p>
        </p:txBody>
      </p:sp>
      <p:sp>
        <p:nvSpPr>
          <p:cNvPr id="5" name="Text 3"/>
          <p:cNvSpPr/>
          <p:nvPr/>
        </p:nvSpPr>
        <p:spPr>
          <a:xfrm>
            <a:off x="530352" y="1188720"/>
            <a:ext cx="4023360" cy="201168"/>
          </a:xfrm>
          <a:prstGeom prst="rect">
            <a:avLst/>
          </a:prstGeom>
          <a:noFill/>
          <a:ln/>
        </p:spPr>
        <p:txBody>
          <a:bodyPr wrap="square" rtlCol="0" anchor="ctr"/>
          <a:lstStyle/>
          <a:p>
            <a:pPr marL="0" indent="0">
              <a:buNone/>
            </a:pPr>
            <a:r>
              <a:rPr lang="en-US" sz="850" b="1" dirty="0">
                <a:solidFill>
                  <a:srgbClr val="028090"/>
                </a:solidFill>
                <a:latin typeface="Calibri" pitchFamily="34" charset="0"/>
                <a:ea typeface="Calibri" pitchFamily="34" charset="-122"/>
                <a:cs typeface="Calibri" pitchFamily="34" charset="-120"/>
              </a:rPr>
              <a:t>Cost Model</a:t>
            </a:r>
            <a:endParaRPr lang="en-US" sz="850" dirty="0"/>
          </a:p>
        </p:txBody>
      </p:sp>
      <p:sp>
        <p:nvSpPr>
          <p:cNvPr id="6" name="Text 4"/>
          <p:cNvSpPr/>
          <p:nvPr/>
        </p:nvSpPr>
        <p:spPr>
          <a:xfrm>
            <a:off x="530352" y="1371600"/>
            <a:ext cx="4023360" cy="320040"/>
          </a:xfrm>
          <a:prstGeom prst="rect">
            <a:avLst/>
          </a:prstGeom>
          <a:noFill/>
          <a:ln/>
        </p:spPr>
        <p:txBody>
          <a:bodyPr wrap="square" rtlCol="0" anchor="ctr"/>
          <a:lstStyle/>
          <a:p>
            <a:pPr marL="0" indent="0">
              <a:buNone/>
            </a:pPr>
            <a:r>
              <a:rPr lang="en-US" sz="850" dirty="0">
                <a:solidFill>
                  <a:srgbClr val="2C3E50"/>
                </a:solidFill>
                <a:latin typeface="Calibri" pitchFamily="34" charset="0"/>
                <a:ea typeface="Calibri" pitchFamily="34" charset="-122"/>
                <a:cs typeface="Calibri" pitchFamily="34" charset="-120"/>
              </a:rPr>
              <a:t>U.S. EPA. Work Breakdown Structure-Based Cost Model for Reverse Osmosis/Nanofiltration. EPA 815-R-24-027. January 2024. epa.gov/sdwa</a:t>
            </a:r>
            <a:endParaRPr lang="en-US" sz="850" dirty="0"/>
          </a:p>
        </p:txBody>
      </p:sp>
      <p:sp>
        <p:nvSpPr>
          <p:cNvPr id="7" name="Shape 5"/>
          <p:cNvSpPr/>
          <p:nvPr/>
        </p:nvSpPr>
        <p:spPr>
          <a:xfrm>
            <a:off x="457200" y="1783080"/>
            <a:ext cx="4160520" cy="566928"/>
          </a:xfrm>
          <a:prstGeom prst="rect">
            <a:avLst/>
          </a:prstGeom>
          <a:solidFill>
            <a:srgbClr val="FFFFFF"/>
          </a:solidFill>
          <a:ln w="6350">
            <a:solidFill>
              <a:srgbClr val="D6EAF8"/>
            </a:solidFill>
            <a:prstDash val="solid"/>
          </a:ln>
        </p:spPr>
        <p:txBody>
          <a:bodyPr/>
          <a:lstStyle/>
          <a:p>
            <a:endParaRPr lang="en-IN"/>
          </a:p>
        </p:txBody>
      </p:sp>
      <p:sp>
        <p:nvSpPr>
          <p:cNvPr id="8" name="Text 6"/>
          <p:cNvSpPr/>
          <p:nvPr/>
        </p:nvSpPr>
        <p:spPr>
          <a:xfrm>
            <a:off x="530352" y="1801368"/>
            <a:ext cx="4023360" cy="201168"/>
          </a:xfrm>
          <a:prstGeom prst="rect">
            <a:avLst/>
          </a:prstGeom>
          <a:noFill/>
          <a:ln/>
        </p:spPr>
        <p:txBody>
          <a:bodyPr wrap="square" rtlCol="0" anchor="ctr"/>
          <a:lstStyle/>
          <a:p>
            <a:pPr marL="0" indent="0">
              <a:buNone/>
            </a:pPr>
            <a:r>
              <a:rPr lang="en-US" sz="850" b="1" dirty="0">
                <a:solidFill>
                  <a:srgbClr val="028090"/>
                </a:solidFill>
                <a:latin typeface="Calibri" pitchFamily="34" charset="0"/>
                <a:ea typeface="Calibri" pitchFamily="34" charset="-122"/>
                <a:cs typeface="Calibri" pitchFamily="34" charset="-120"/>
              </a:rPr>
              <a:t>Water Reuse</a:t>
            </a:r>
            <a:endParaRPr lang="en-US" sz="850" dirty="0"/>
          </a:p>
        </p:txBody>
      </p:sp>
      <p:sp>
        <p:nvSpPr>
          <p:cNvPr id="9" name="Text 7"/>
          <p:cNvSpPr/>
          <p:nvPr/>
        </p:nvSpPr>
        <p:spPr>
          <a:xfrm>
            <a:off x="530352" y="1984248"/>
            <a:ext cx="4023360" cy="320040"/>
          </a:xfrm>
          <a:prstGeom prst="rect">
            <a:avLst/>
          </a:prstGeom>
          <a:noFill/>
          <a:ln/>
        </p:spPr>
        <p:txBody>
          <a:bodyPr wrap="square" rtlCol="0" anchor="ctr"/>
          <a:lstStyle/>
          <a:p>
            <a:pPr marL="0" indent="0">
              <a:buNone/>
            </a:pPr>
            <a:r>
              <a:rPr lang="en-US" sz="850" dirty="0">
                <a:solidFill>
                  <a:srgbClr val="2C3E50"/>
                </a:solidFill>
                <a:latin typeface="Calibri" pitchFamily="34" charset="0"/>
                <a:ea typeface="Calibri" pitchFamily="34" charset="-122"/>
                <a:cs typeface="Calibri" pitchFamily="34" charset="-120"/>
              </a:rPr>
              <a:t>U.S. EPA. Guidelines for Water Reuse. EPA/600/R-12/618. September 2012. epa.gov/waterreuse</a:t>
            </a:r>
            <a:endParaRPr lang="en-US" sz="850" dirty="0"/>
          </a:p>
        </p:txBody>
      </p:sp>
      <p:sp>
        <p:nvSpPr>
          <p:cNvPr id="10" name="Shape 8"/>
          <p:cNvSpPr/>
          <p:nvPr/>
        </p:nvSpPr>
        <p:spPr>
          <a:xfrm>
            <a:off x="457200" y="2395728"/>
            <a:ext cx="4160520" cy="566928"/>
          </a:xfrm>
          <a:prstGeom prst="rect">
            <a:avLst/>
          </a:prstGeom>
          <a:solidFill>
            <a:srgbClr val="EBF5FB"/>
          </a:solidFill>
          <a:ln w="6350">
            <a:solidFill>
              <a:srgbClr val="D6EAF8"/>
            </a:solidFill>
            <a:prstDash val="solid"/>
          </a:ln>
        </p:spPr>
        <p:txBody>
          <a:bodyPr/>
          <a:lstStyle/>
          <a:p>
            <a:endParaRPr lang="en-IN"/>
          </a:p>
        </p:txBody>
      </p:sp>
      <p:sp>
        <p:nvSpPr>
          <p:cNvPr id="11" name="Text 9"/>
          <p:cNvSpPr/>
          <p:nvPr/>
        </p:nvSpPr>
        <p:spPr>
          <a:xfrm>
            <a:off x="530352" y="2414016"/>
            <a:ext cx="4023360" cy="201168"/>
          </a:xfrm>
          <a:prstGeom prst="rect">
            <a:avLst/>
          </a:prstGeom>
          <a:noFill/>
          <a:ln/>
        </p:spPr>
        <p:txBody>
          <a:bodyPr wrap="square" rtlCol="0" anchor="ctr"/>
          <a:lstStyle/>
          <a:p>
            <a:pPr marL="0" indent="0">
              <a:buNone/>
            </a:pPr>
            <a:r>
              <a:rPr lang="en-US" sz="850" b="1" dirty="0">
                <a:solidFill>
                  <a:srgbClr val="028090"/>
                </a:solidFill>
                <a:latin typeface="Calibri" pitchFamily="34" charset="0"/>
                <a:ea typeface="Calibri" pitchFamily="34" charset="-122"/>
                <a:cs typeface="Calibri" pitchFamily="34" charset="-120"/>
              </a:rPr>
              <a:t>PUE Data</a:t>
            </a:r>
            <a:endParaRPr lang="en-US" sz="850" dirty="0"/>
          </a:p>
        </p:txBody>
      </p:sp>
      <p:sp>
        <p:nvSpPr>
          <p:cNvPr id="12" name="Text 10"/>
          <p:cNvSpPr/>
          <p:nvPr/>
        </p:nvSpPr>
        <p:spPr>
          <a:xfrm>
            <a:off x="530352" y="2596896"/>
            <a:ext cx="4023360" cy="320040"/>
          </a:xfrm>
          <a:prstGeom prst="rect">
            <a:avLst/>
          </a:prstGeom>
          <a:noFill/>
          <a:ln/>
        </p:spPr>
        <p:txBody>
          <a:bodyPr wrap="square" rtlCol="0" anchor="ctr"/>
          <a:lstStyle/>
          <a:p>
            <a:pPr marL="0" indent="0">
              <a:buNone/>
            </a:pPr>
            <a:r>
              <a:rPr lang="en-US" sz="850" dirty="0">
                <a:solidFill>
                  <a:srgbClr val="2C3E50"/>
                </a:solidFill>
                <a:latin typeface="Calibri" pitchFamily="34" charset="0"/>
                <a:ea typeface="Calibri" pitchFamily="34" charset="-122"/>
                <a:cs typeface="Calibri" pitchFamily="34" charset="-120"/>
              </a:rPr>
              <a:t>Uptime Institute. 13th Annual Global Data Center Survey 2023. PUE = 1.58 industry average. uptimeinstitute.com</a:t>
            </a:r>
            <a:endParaRPr lang="en-US" sz="850" dirty="0"/>
          </a:p>
        </p:txBody>
      </p:sp>
      <p:sp>
        <p:nvSpPr>
          <p:cNvPr id="13" name="Shape 11"/>
          <p:cNvSpPr/>
          <p:nvPr/>
        </p:nvSpPr>
        <p:spPr>
          <a:xfrm>
            <a:off x="457200" y="3008376"/>
            <a:ext cx="4160520" cy="566928"/>
          </a:xfrm>
          <a:prstGeom prst="rect">
            <a:avLst/>
          </a:prstGeom>
          <a:solidFill>
            <a:srgbClr val="FFFFFF"/>
          </a:solidFill>
          <a:ln w="6350">
            <a:solidFill>
              <a:srgbClr val="D6EAF8"/>
            </a:solidFill>
            <a:prstDash val="solid"/>
          </a:ln>
        </p:spPr>
        <p:txBody>
          <a:bodyPr/>
          <a:lstStyle/>
          <a:p>
            <a:endParaRPr lang="en-IN"/>
          </a:p>
        </p:txBody>
      </p:sp>
      <p:sp>
        <p:nvSpPr>
          <p:cNvPr id="14" name="Text 12"/>
          <p:cNvSpPr/>
          <p:nvPr/>
        </p:nvSpPr>
        <p:spPr>
          <a:xfrm>
            <a:off x="530352" y="3026664"/>
            <a:ext cx="4023360" cy="201168"/>
          </a:xfrm>
          <a:prstGeom prst="rect">
            <a:avLst/>
          </a:prstGeom>
          <a:noFill/>
          <a:ln/>
        </p:spPr>
        <p:txBody>
          <a:bodyPr wrap="square" rtlCol="0" anchor="ctr"/>
          <a:lstStyle/>
          <a:p>
            <a:pPr marL="0" indent="0">
              <a:buNone/>
            </a:pPr>
            <a:r>
              <a:rPr lang="en-US" sz="850" b="1" dirty="0">
                <a:solidFill>
                  <a:srgbClr val="028090"/>
                </a:solidFill>
                <a:latin typeface="Calibri" pitchFamily="34" charset="0"/>
                <a:ea typeface="Calibri" pitchFamily="34" charset="-122"/>
                <a:cs typeface="Calibri" pitchFamily="34" charset="-120"/>
              </a:rPr>
              <a:t>WUE Data</a:t>
            </a:r>
            <a:endParaRPr lang="en-US" sz="850" dirty="0"/>
          </a:p>
        </p:txBody>
      </p:sp>
      <p:sp>
        <p:nvSpPr>
          <p:cNvPr id="15" name="Text 13"/>
          <p:cNvSpPr/>
          <p:nvPr/>
        </p:nvSpPr>
        <p:spPr>
          <a:xfrm>
            <a:off x="530352" y="3209544"/>
            <a:ext cx="4023360" cy="320040"/>
          </a:xfrm>
          <a:prstGeom prst="rect">
            <a:avLst/>
          </a:prstGeom>
          <a:noFill/>
          <a:ln/>
        </p:spPr>
        <p:txBody>
          <a:bodyPr wrap="square" rtlCol="0" anchor="ctr"/>
          <a:lstStyle/>
          <a:p>
            <a:pPr marL="0" indent="0">
              <a:buNone/>
            </a:pPr>
            <a:r>
              <a:rPr lang="en-US" sz="850" dirty="0">
                <a:solidFill>
                  <a:srgbClr val="2C3E50"/>
                </a:solidFill>
                <a:latin typeface="Calibri" pitchFamily="34" charset="0"/>
                <a:ea typeface="Calibri" pitchFamily="34" charset="-122"/>
                <a:cs typeface="Calibri" pitchFamily="34" charset="-120"/>
              </a:rPr>
              <a:t>The Green Grid. Water Usage Effectiveness (WUE) Metric Definition. 2011. thegreengrid.org</a:t>
            </a:r>
            <a:endParaRPr lang="en-US" sz="850" dirty="0"/>
          </a:p>
        </p:txBody>
      </p:sp>
      <p:sp>
        <p:nvSpPr>
          <p:cNvPr id="16" name="Shape 14"/>
          <p:cNvSpPr/>
          <p:nvPr/>
        </p:nvSpPr>
        <p:spPr>
          <a:xfrm>
            <a:off x="457200" y="3621024"/>
            <a:ext cx="4160520" cy="566928"/>
          </a:xfrm>
          <a:prstGeom prst="rect">
            <a:avLst/>
          </a:prstGeom>
          <a:solidFill>
            <a:srgbClr val="EBF5FB"/>
          </a:solidFill>
          <a:ln w="6350">
            <a:solidFill>
              <a:srgbClr val="D6EAF8"/>
            </a:solidFill>
            <a:prstDash val="solid"/>
          </a:ln>
        </p:spPr>
        <p:txBody>
          <a:bodyPr/>
          <a:lstStyle/>
          <a:p>
            <a:endParaRPr lang="en-IN"/>
          </a:p>
        </p:txBody>
      </p:sp>
      <p:sp>
        <p:nvSpPr>
          <p:cNvPr id="17" name="Text 15"/>
          <p:cNvSpPr/>
          <p:nvPr/>
        </p:nvSpPr>
        <p:spPr>
          <a:xfrm>
            <a:off x="530352" y="3639312"/>
            <a:ext cx="4023360" cy="201168"/>
          </a:xfrm>
          <a:prstGeom prst="rect">
            <a:avLst/>
          </a:prstGeom>
          <a:noFill/>
          <a:ln/>
        </p:spPr>
        <p:txBody>
          <a:bodyPr wrap="square" rtlCol="0" anchor="ctr"/>
          <a:lstStyle/>
          <a:p>
            <a:pPr marL="0" indent="0">
              <a:buNone/>
            </a:pPr>
            <a:r>
              <a:rPr lang="en-US" sz="850" b="1" dirty="0">
                <a:solidFill>
                  <a:srgbClr val="028090"/>
                </a:solidFill>
                <a:latin typeface="Calibri" pitchFamily="34" charset="0"/>
                <a:ea typeface="Calibri" pitchFamily="34" charset="-122"/>
                <a:cs typeface="Calibri" pitchFamily="34" charset="-120"/>
              </a:rPr>
              <a:t>WUE Climate</a:t>
            </a:r>
            <a:endParaRPr lang="en-US" sz="850" dirty="0"/>
          </a:p>
        </p:txBody>
      </p:sp>
      <p:sp>
        <p:nvSpPr>
          <p:cNvPr id="18" name="Text 16"/>
          <p:cNvSpPr/>
          <p:nvPr/>
        </p:nvSpPr>
        <p:spPr>
          <a:xfrm>
            <a:off x="530352" y="3822192"/>
            <a:ext cx="4023360" cy="320040"/>
          </a:xfrm>
          <a:prstGeom prst="rect">
            <a:avLst/>
          </a:prstGeom>
          <a:noFill/>
          <a:ln/>
        </p:spPr>
        <p:txBody>
          <a:bodyPr wrap="square" rtlCol="0" anchor="ctr"/>
          <a:lstStyle/>
          <a:p>
            <a:pPr marL="0" indent="0">
              <a:buNone/>
            </a:pPr>
            <a:r>
              <a:rPr lang="en-US" sz="850" dirty="0">
                <a:solidFill>
                  <a:srgbClr val="2C3E50"/>
                </a:solidFill>
                <a:latin typeface="Calibri" pitchFamily="34" charset="0"/>
                <a:ea typeface="Calibri" pitchFamily="34" charset="-122"/>
                <a:cs typeface="Calibri" pitchFamily="34" charset="-120"/>
              </a:rPr>
              <a:t>Microsoft Corporation. Measuring Energy and Water Efficiency for Microsoft Datacenters. 2024. datacenters.microsoft.com</a:t>
            </a:r>
            <a:endParaRPr lang="en-US" sz="850" dirty="0"/>
          </a:p>
        </p:txBody>
      </p:sp>
      <p:sp>
        <p:nvSpPr>
          <p:cNvPr id="19" name="Shape 17"/>
          <p:cNvSpPr/>
          <p:nvPr/>
        </p:nvSpPr>
        <p:spPr>
          <a:xfrm>
            <a:off x="457200" y="4233672"/>
            <a:ext cx="4160520" cy="566928"/>
          </a:xfrm>
          <a:prstGeom prst="rect">
            <a:avLst/>
          </a:prstGeom>
          <a:solidFill>
            <a:srgbClr val="FFFFFF"/>
          </a:solidFill>
          <a:ln w="6350">
            <a:solidFill>
              <a:srgbClr val="D6EAF8"/>
            </a:solidFill>
            <a:prstDash val="solid"/>
          </a:ln>
        </p:spPr>
        <p:txBody>
          <a:bodyPr/>
          <a:lstStyle/>
          <a:p>
            <a:endParaRPr lang="en-IN"/>
          </a:p>
        </p:txBody>
      </p:sp>
      <p:sp>
        <p:nvSpPr>
          <p:cNvPr id="20" name="Text 18"/>
          <p:cNvSpPr/>
          <p:nvPr/>
        </p:nvSpPr>
        <p:spPr>
          <a:xfrm>
            <a:off x="530352" y="4251960"/>
            <a:ext cx="4023360" cy="201168"/>
          </a:xfrm>
          <a:prstGeom prst="rect">
            <a:avLst/>
          </a:prstGeom>
          <a:noFill/>
          <a:ln/>
        </p:spPr>
        <p:txBody>
          <a:bodyPr wrap="square" rtlCol="0" anchor="ctr"/>
          <a:lstStyle/>
          <a:p>
            <a:pPr marL="0" indent="0">
              <a:buNone/>
            </a:pPr>
            <a:r>
              <a:rPr lang="en-US" sz="850" b="1" dirty="0">
                <a:solidFill>
                  <a:srgbClr val="028090"/>
                </a:solidFill>
                <a:latin typeface="Calibri" pitchFamily="34" charset="0"/>
                <a:ea typeface="Calibri" pitchFamily="34" charset="-122"/>
                <a:cs typeface="Calibri" pitchFamily="34" charset="-120"/>
              </a:rPr>
              <a:t>Houston Rates</a:t>
            </a:r>
            <a:endParaRPr lang="en-US" sz="850" dirty="0"/>
          </a:p>
        </p:txBody>
      </p:sp>
      <p:sp>
        <p:nvSpPr>
          <p:cNvPr id="21" name="Text 19"/>
          <p:cNvSpPr/>
          <p:nvPr/>
        </p:nvSpPr>
        <p:spPr>
          <a:xfrm>
            <a:off x="530352" y="4434840"/>
            <a:ext cx="4023360" cy="320040"/>
          </a:xfrm>
          <a:prstGeom prst="rect">
            <a:avLst/>
          </a:prstGeom>
          <a:noFill/>
          <a:ln/>
        </p:spPr>
        <p:txBody>
          <a:bodyPr wrap="square" rtlCol="0" anchor="ctr"/>
          <a:lstStyle/>
          <a:p>
            <a:pPr marL="0" indent="0">
              <a:buNone/>
            </a:pPr>
            <a:r>
              <a:rPr lang="en-US" sz="850" dirty="0">
                <a:solidFill>
                  <a:srgbClr val="2C3E50"/>
                </a:solidFill>
                <a:latin typeface="Calibri" pitchFamily="34" charset="0"/>
                <a:ea typeface="Calibri" pitchFamily="34" charset="-122"/>
                <a:cs typeface="Calibri" pitchFamily="34" charset="-120"/>
              </a:rPr>
              <a:t>City of Houston Public Works. 2024 Water and Wastewater Rate Schedule. Houston Public Works, March 2024.</a:t>
            </a:r>
            <a:endParaRPr lang="en-US" sz="850" dirty="0"/>
          </a:p>
        </p:txBody>
      </p:sp>
      <p:sp>
        <p:nvSpPr>
          <p:cNvPr id="22" name="Shape 20"/>
          <p:cNvSpPr/>
          <p:nvPr/>
        </p:nvSpPr>
        <p:spPr>
          <a:xfrm>
            <a:off x="4846320" y="1170432"/>
            <a:ext cx="4160520" cy="566928"/>
          </a:xfrm>
          <a:prstGeom prst="rect">
            <a:avLst/>
          </a:prstGeom>
          <a:solidFill>
            <a:srgbClr val="EBF5FB"/>
          </a:solidFill>
          <a:ln w="6350">
            <a:solidFill>
              <a:srgbClr val="D6EAF8"/>
            </a:solidFill>
            <a:prstDash val="solid"/>
          </a:ln>
        </p:spPr>
        <p:txBody>
          <a:bodyPr/>
          <a:lstStyle/>
          <a:p>
            <a:endParaRPr lang="en-IN"/>
          </a:p>
        </p:txBody>
      </p:sp>
      <p:sp>
        <p:nvSpPr>
          <p:cNvPr id="23" name="Text 21"/>
          <p:cNvSpPr/>
          <p:nvPr/>
        </p:nvSpPr>
        <p:spPr>
          <a:xfrm>
            <a:off x="4919472" y="1188720"/>
            <a:ext cx="4023360" cy="201168"/>
          </a:xfrm>
          <a:prstGeom prst="rect">
            <a:avLst/>
          </a:prstGeom>
          <a:noFill/>
          <a:ln/>
        </p:spPr>
        <p:txBody>
          <a:bodyPr wrap="square" rtlCol="0" anchor="ctr"/>
          <a:lstStyle/>
          <a:p>
            <a:pPr marL="0" indent="0">
              <a:buNone/>
            </a:pPr>
            <a:r>
              <a:rPr lang="en-US" sz="850" b="1" dirty="0">
                <a:solidFill>
                  <a:srgbClr val="028090"/>
                </a:solidFill>
                <a:latin typeface="Calibri" pitchFamily="34" charset="0"/>
                <a:ea typeface="Calibri" pitchFamily="34" charset="-122"/>
                <a:cs typeface="Calibri" pitchFamily="34" charset="-120"/>
              </a:rPr>
              <a:t>Reclaimed Rate</a:t>
            </a:r>
            <a:endParaRPr lang="en-US" sz="850" dirty="0"/>
          </a:p>
        </p:txBody>
      </p:sp>
      <p:sp>
        <p:nvSpPr>
          <p:cNvPr id="24" name="Text 22"/>
          <p:cNvSpPr/>
          <p:nvPr/>
        </p:nvSpPr>
        <p:spPr>
          <a:xfrm>
            <a:off x="4919472" y="1371600"/>
            <a:ext cx="4023360" cy="320040"/>
          </a:xfrm>
          <a:prstGeom prst="rect">
            <a:avLst/>
          </a:prstGeom>
          <a:noFill/>
          <a:ln/>
        </p:spPr>
        <p:txBody>
          <a:bodyPr wrap="square" rtlCol="0" anchor="ctr"/>
          <a:lstStyle/>
          <a:p>
            <a:pPr marL="0" indent="0">
              <a:buNone/>
            </a:pPr>
            <a:r>
              <a:rPr lang="en-US" sz="850" dirty="0">
                <a:solidFill>
                  <a:srgbClr val="2C3E50"/>
                </a:solidFill>
                <a:latin typeface="Calibri" pitchFamily="34" charset="0"/>
                <a:ea typeface="Calibri" pitchFamily="34" charset="-122"/>
                <a:cs typeface="Calibri" pitchFamily="34" charset="-120"/>
              </a:rPr>
              <a:t>Texas Water Development Board. Bulk Reclaimed Water Pricing Benchmarks. twdb.texas.gov/innovativewater/reuse</a:t>
            </a:r>
            <a:endParaRPr lang="en-US" sz="850" dirty="0"/>
          </a:p>
        </p:txBody>
      </p:sp>
      <p:sp>
        <p:nvSpPr>
          <p:cNvPr id="25" name="Shape 23"/>
          <p:cNvSpPr/>
          <p:nvPr/>
        </p:nvSpPr>
        <p:spPr>
          <a:xfrm>
            <a:off x="4846320" y="1783080"/>
            <a:ext cx="4160520" cy="566928"/>
          </a:xfrm>
          <a:prstGeom prst="rect">
            <a:avLst/>
          </a:prstGeom>
          <a:solidFill>
            <a:srgbClr val="FFFFFF"/>
          </a:solidFill>
          <a:ln w="6350">
            <a:solidFill>
              <a:srgbClr val="D6EAF8"/>
            </a:solidFill>
            <a:prstDash val="solid"/>
          </a:ln>
        </p:spPr>
        <p:txBody>
          <a:bodyPr/>
          <a:lstStyle/>
          <a:p>
            <a:endParaRPr lang="en-IN"/>
          </a:p>
        </p:txBody>
      </p:sp>
      <p:sp>
        <p:nvSpPr>
          <p:cNvPr id="26" name="Text 24"/>
          <p:cNvSpPr/>
          <p:nvPr/>
        </p:nvSpPr>
        <p:spPr>
          <a:xfrm>
            <a:off x="4919472" y="1801368"/>
            <a:ext cx="4023360" cy="201168"/>
          </a:xfrm>
          <a:prstGeom prst="rect">
            <a:avLst/>
          </a:prstGeom>
          <a:noFill/>
          <a:ln/>
        </p:spPr>
        <p:txBody>
          <a:bodyPr wrap="square" rtlCol="0" anchor="ctr"/>
          <a:lstStyle/>
          <a:p>
            <a:pPr marL="0" indent="0">
              <a:buNone/>
            </a:pPr>
            <a:r>
              <a:rPr lang="en-US" sz="850" b="1" dirty="0">
                <a:solidFill>
                  <a:srgbClr val="028090"/>
                </a:solidFill>
                <a:latin typeface="Calibri" pitchFamily="34" charset="0"/>
                <a:ea typeface="Calibri" pitchFamily="34" charset="-122"/>
                <a:cs typeface="Calibri" pitchFamily="34" charset="-120"/>
              </a:rPr>
              <a:t>TCEQ Permits</a:t>
            </a:r>
            <a:endParaRPr lang="en-US" sz="850" dirty="0"/>
          </a:p>
        </p:txBody>
      </p:sp>
      <p:sp>
        <p:nvSpPr>
          <p:cNvPr id="27" name="Text 25"/>
          <p:cNvSpPr/>
          <p:nvPr/>
        </p:nvSpPr>
        <p:spPr>
          <a:xfrm>
            <a:off x="4919472" y="1984248"/>
            <a:ext cx="4023360" cy="320040"/>
          </a:xfrm>
          <a:prstGeom prst="rect">
            <a:avLst/>
          </a:prstGeom>
          <a:noFill/>
          <a:ln/>
        </p:spPr>
        <p:txBody>
          <a:bodyPr wrap="square" rtlCol="0" anchor="ctr"/>
          <a:lstStyle/>
          <a:p>
            <a:pPr marL="0" indent="0">
              <a:buNone/>
            </a:pPr>
            <a:r>
              <a:rPr lang="en-US" sz="850" dirty="0">
                <a:solidFill>
                  <a:srgbClr val="2C3E50"/>
                </a:solidFill>
                <a:latin typeface="Calibri" pitchFamily="34" charset="0"/>
                <a:ea typeface="Calibri" pitchFamily="34" charset="-122"/>
                <a:cs typeface="Calibri" pitchFamily="34" charset="-120"/>
              </a:rPr>
              <a:t>TCEQ Permit Registry. Permits TX0024546, TX0024589, TX0024449, TX0024341. Houston WWTP Facilities.</a:t>
            </a:r>
            <a:endParaRPr lang="en-US" sz="850" dirty="0"/>
          </a:p>
        </p:txBody>
      </p:sp>
      <p:sp>
        <p:nvSpPr>
          <p:cNvPr id="28" name="Shape 26"/>
          <p:cNvSpPr/>
          <p:nvPr/>
        </p:nvSpPr>
        <p:spPr>
          <a:xfrm>
            <a:off x="4846320" y="2395728"/>
            <a:ext cx="4160520" cy="566928"/>
          </a:xfrm>
          <a:prstGeom prst="rect">
            <a:avLst/>
          </a:prstGeom>
          <a:solidFill>
            <a:srgbClr val="EBF5FB"/>
          </a:solidFill>
          <a:ln w="6350">
            <a:solidFill>
              <a:srgbClr val="D6EAF8"/>
            </a:solidFill>
            <a:prstDash val="solid"/>
          </a:ln>
        </p:spPr>
        <p:txBody>
          <a:bodyPr/>
          <a:lstStyle/>
          <a:p>
            <a:endParaRPr lang="en-IN"/>
          </a:p>
        </p:txBody>
      </p:sp>
      <p:sp>
        <p:nvSpPr>
          <p:cNvPr id="29" name="Text 27"/>
          <p:cNvSpPr/>
          <p:nvPr/>
        </p:nvSpPr>
        <p:spPr>
          <a:xfrm>
            <a:off x="4919472" y="2414016"/>
            <a:ext cx="4023360" cy="201168"/>
          </a:xfrm>
          <a:prstGeom prst="rect">
            <a:avLst/>
          </a:prstGeom>
          <a:noFill/>
          <a:ln/>
        </p:spPr>
        <p:txBody>
          <a:bodyPr wrap="square" rtlCol="0" anchor="ctr"/>
          <a:lstStyle/>
          <a:p>
            <a:pPr marL="0" indent="0">
              <a:buNone/>
            </a:pPr>
            <a:r>
              <a:rPr lang="en-US" sz="850" b="1" dirty="0">
                <a:solidFill>
                  <a:srgbClr val="028090"/>
                </a:solidFill>
                <a:latin typeface="Calibri" pitchFamily="34" charset="0"/>
                <a:ea typeface="Calibri" pitchFamily="34" charset="-122"/>
                <a:cs typeface="Calibri" pitchFamily="34" charset="-120"/>
              </a:rPr>
              <a:t>Inflation</a:t>
            </a:r>
            <a:endParaRPr lang="en-US" sz="850" dirty="0"/>
          </a:p>
        </p:txBody>
      </p:sp>
      <p:sp>
        <p:nvSpPr>
          <p:cNvPr id="30" name="Text 28"/>
          <p:cNvSpPr/>
          <p:nvPr/>
        </p:nvSpPr>
        <p:spPr>
          <a:xfrm>
            <a:off x="4919472" y="2596896"/>
            <a:ext cx="4023360" cy="320040"/>
          </a:xfrm>
          <a:prstGeom prst="rect">
            <a:avLst/>
          </a:prstGeom>
          <a:noFill/>
          <a:ln/>
        </p:spPr>
        <p:txBody>
          <a:bodyPr wrap="square" rtlCol="0" anchor="ctr"/>
          <a:lstStyle/>
          <a:p>
            <a:pPr marL="0" indent="0">
              <a:buNone/>
            </a:pPr>
            <a:r>
              <a:rPr lang="en-US" sz="850" dirty="0">
                <a:solidFill>
                  <a:srgbClr val="2C3E50"/>
                </a:solidFill>
                <a:latin typeface="Calibri" pitchFamily="34" charset="0"/>
                <a:ea typeface="Calibri" pitchFamily="34" charset="-122"/>
                <a:cs typeface="Calibri" pitchFamily="34" charset="-120"/>
              </a:rPr>
              <a:t>Engineering News-Record. Construction Cost Index Historical Data 2021-2024. ×1.18 escalation factor. enr.com/economics</a:t>
            </a:r>
            <a:endParaRPr lang="en-US" sz="850" dirty="0"/>
          </a:p>
        </p:txBody>
      </p:sp>
      <p:sp>
        <p:nvSpPr>
          <p:cNvPr id="31" name="Shape 29"/>
          <p:cNvSpPr/>
          <p:nvPr/>
        </p:nvSpPr>
        <p:spPr>
          <a:xfrm>
            <a:off x="4846320" y="3008376"/>
            <a:ext cx="4160520" cy="566928"/>
          </a:xfrm>
          <a:prstGeom prst="rect">
            <a:avLst/>
          </a:prstGeom>
          <a:solidFill>
            <a:srgbClr val="FFFFFF"/>
          </a:solidFill>
          <a:ln w="6350">
            <a:solidFill>
              <a:srgbClr val="D6EAF8"/>
            </a:solidFill>
            <a:prstDash val="solid"/>
          </a:ln>
        </p:spPr>
        <p:txBody>
          <a:bodyPr/>
          <a:lstStyle/>
          <a:p>
            <a:endParaRPr lang="en-IN"/>
          </a:p>
        </p:txBody>
      </p:sp>
      <p:sp>
        <p:nvSpPr>
          <p:cNvPr id="32" name="Text 30"/>
          <p:cNvSpPr/>
          <p:nvPr/>
        </p:nvSpPr>
        <p:spPr>
          <a:xfrm>
            <a:off x="4919472" y="3026664"/>
            <a:ext cx="4023360" cy="201168"/>
          </a:xfrm>
          <a:prstGeom prst="rect">
            <a:avLst/>
          </a:prstGeom>
          <a:noFill/>
          <a:ln/>
        </p:spPr>
        <p:txBody>
          <a:bodyPr wrap="square" rtlCol="0" anchor="ctr"/>
          <a:lstStyle/>
          <a:p>
            <a:pPr marL="0" indent="0">
              <a:buNone/>
            </a:pPr>
            <a:r>
              <a:rPr lang="en-US" sz="850" b="1" dirty="0">
                <a:solidFill>
                  <a:srgbClr val="028090"/>
                </a:solidFill>
                <a:latin typeface="Calibri" pitchFamily="34" charset="0"/>
                <a:ea typeface="Calibri" pitchFamily="34" charset="-122"/>
                <a:cs typeface="Calibri" pitchFamily="34" charset="-120"/>
              </a:rPr>
              <a:t>Regulation</a:t>
            </a:r>
            <a:endParaRPr lang="en-US" sz="850" dirty="0"/>
          </a:p>
        </p:txBody>
      </p:sp>
      <p:sp>
        <p:nvSpPr>
          <p:cNvPr id="33" name="Text 31"/>
          <p:cNvSpPr/>
          <p:nvPr/>
        </p:nvSpPr>
        <p:spPr>
          <a:xfrm>
            <a:off x="4919472" y="3209544"/>
            <a:ext cx="4023360" cy="320040"/>
          </a:xfrm>
          <a:prstGeom prst="rect">
            <a:avLst/>
          </a:prstGeom>
          <a:noFill/>
          <a:ln/>
        </p:spPr>
        <p:txBody>
          <a:bodyPr wrap="square" rtlCol="0" anchor="ctr"/>
          <a:lstStyle/>
          <a:p>
            <a:pPr marL="0" indent="0">
              <a:buNone/>
            </a:pPr>
            <a:r>
              <a:rPr lang="en-US" sz="850" dirty="0">
                <a:solidFill>
                  <a:srgbClr val="2C3E50"/>
                </a:solidFill>
                <a:latin typeface="Calibri" pitchFamily="34" charset="0"/>
                <a:ea typeface="Calibri" pitchFamily="34" charset="-122"/>
                <a:cs typeface="Calibri" pitchFamily="34" charset="-120"/>
              </a:rPr>
              <a:t>Texas Administrative Code. 30 TAC §210.51-60 — Industrial Reclaimed Water Use Authorization. tceq.texas.gov</a:t>
            </a:r>
            <a:endParaRPr lang="en-US" sz="850" dirty="0"/>
          </a:p>
        </p:txBody>
      </p:sp>
      <p:sp>
        <p:nvSpPr>
          <p:cNvPr id="34" name="Shape 32"/>
          <p:cNvSpPr/>
          <p:nvPr/>
        </p:nvSpPr>
        <p:spPr>
          <a:xfrm>
            <a:off x="4846320" y="3621024"/>
            <a:ext cx="4160520" cy="566928"/>
          </a:xfrm>
          <a:prstGeom prst="rect">
            <a:avLst/>
          </a:prstGeom>
          <a:solidFill>
            <a:srgbClr val="EBF5FB"/>
          </a:solidFill>
          <a:ln w="6350">
            <a:solidFill>
              <a:srgbClr val="D6EAF8"/>
            </a:solidFill>
            <a:prstDash val="solid"/>
          </a:ln>
        </p:spPr>
        <p:txBody>
          <a:bodyPr/>
          <a:lstStyle/>
          <a:p>
            <a:endParaRPr lang="en-IN"/>
          </a:p>
        </p:txBody>
      </p:sp>
      <p:sp>
        <p:nvSpPr>
          <p:cNvPr id="35" name="Text 33"/>
          <p:cNvSpPr/>
          <p:nvPr/>
        </p:nvSpPr>
        <p:spPr>
          <a:xfrm>
            <a:off x="4919472" y="3639312"/>
            <a:ext cx="4023360" cy="201168"/>
          </a:xfrm>
          <a:prstGeom prst="rect">
            <a:avLst/>
          </a:prstGeom>
          <a:noFill/>
          <a:ln/>
        </p:spPr>
        <p:txBody>
          <a:bodyPr wrap="square" rtlCol="0" anchor="ctr"/>
          <a:lstStyle/>
          <a:p>
            <a:pPr marL="0" indent="0">
              <a:buNone/>
            </a:pPr>
            <a:r>
              <a:rPr lang="en-US" sz="850" b="1" dirty="0">
                <a:solidFill>
                  <a:srgbClr val="028090"/>
                </a:solidFill>
                <a:latin typeface="Calibri" pitchFamily="34" charset="0"/>
                <a:ea typeface="Calibri" pitchFamily="34" charset="-122"/>
                <a:cs typeface="Calibri" pitchFamily="34" charset="-120"/>
              </a:rPr>
              <a:t>Standards</a:t>
            </a:r>
            <a:endParaRPr lang="en-US" sz="850" dirty="0"/>
          </a:p>
        </p:txBody>
      </p:sp>
      <p:sp>
        <p:nvSpPr>
          <p:cNvPr id="36" name="Text 34"/>
          <p:cNvSpPr/>
          <p:nvPr/>
        </p:nvSpPr>
        <p:spPr>
          <a:xfrm>
            <a:off x="4919472" y="3822192"/>
            <a:ext cx="4023360" cy="320040"/>
          </a:xfrm>
          <a:prstGeom prst="rect">
            <a:avLst/>
          </a:prstGeom>
          <a:noFill/>
          <a:ln/>
        </p:spPr>
        <p:txBody>
          <a:bodyPr wrap="square" rtlCol="0" anchor="ctr"/>
          <a:lstStyle/>
          <a:p>
            <a:pPr marL="0" indent="0">
              <a:buNone/>
            </a:pPr>
            <a:r>
              <a:rPr lang="en-US" sz="850" dirty="0">
                <a:solidFill>
                  <a:srgbClr val="2C3E50"/>
                </a:solidFill>
                <a:latin typeface="Calibri" pitchFamily="34" charset="0"/>
                <a:ea typeface="Calibri" pitchFamily="34" charset="-122"/>
                <a:cs typeface="Calibri" pitchFamily="34" charset="-120"/>
              </a:rPr>
              <a:t>ASHRAE Standard 1079. Data Center Cooling Water Quality Specifications. ashrae.org</a:t>
            </a:r>
            <a:endParaRPr lang="en-US" sz="850" dirty="0"/>
          </a:p>
        </p:txBody>
      </p:sp>
      <p:sp>
        <p:nvSpPr>
          <p:cNvPr id="37" name="Shape 35"/>
          <p:cNvSpPr/>
          <p:nvPr/>
        </p:nvSpPr>
        <p:spPr>
          <a:xfrm>
            <a:off x="4846320" y="4233672"/>
            <a:ext cx="4160520" cy="566928"/>
          </a:xfrm>
          <a:prstGeom prst="rect">
            <a:avLst/>
          </a:prstGeom>
          <a:solidFill>
            <a:srgbClr val="FFFFFF"/>
          </a:solidFill>
          <a:ln w="6350">
            <a:solidFill>
              <a:srgbClr val="D6EAF8"/>
            </a:solidFill>
            <a:prstDash val="solid"/>
          </a:ln>
        </p:spPr>
        <p:txBody>
          <a:bodyPr/>
          <a:lstStyle/>
          <a:p>
            <a:endParaRPr lang="en-IN"/>
          </a:p>
        </p:txBody>
      </p:sp>
      <p:sp>
        <p:nvSpPr>
          <p:cNvPr id="38" name="Text 36"/>
          <p:cNvSpPr/>
          <p:nvPr/>
        </p:nvSpPr>
        <p:spPr>
          <a:xfrm>
            <a:off x="4919472" y="4251960"/>
            <a:ext cx="4023360" cy="201168"/>
          </a:xfrm>
          <a:prstGeom prst="rect">
            <a:avLst/>
          </a:prstGeom>
          <a:noFill/>
          <a:ln/>
        </p:spPr>
        <p:txBody>
          <a:bodyPr wrap="square" rtlCol="0" anchor="ctr"/>
          <a:lstStyle/>
          <a:p>
            <a:pPr marL="0" indent="0">
              <a:buNone/>
            </a:pPr>
            <a:r>
              <a:rPr lang="en-US" sz="850" b="1" dirty="0">
                <a:solidFill>
                  <a:srgbClr val="028090"/>
                </a:solidFill>
                <a:latin typeface="Calibri" pitchFamily="34" charset="0"/>
                <a:ea typeface="Calibri" pitchFamily="34" charset="-122"/>
                <a:cs typeface="Calibri" pitchFamily="34" charset="-120"/>
              </a:rPr>
              <a:t>DC Data</a:t>
            </a:r>
            <a:endParaRPr lang="en-US" sz="850" dirty="0"/>
          </a:p>
        </p:txBody>
      </p:sp>
      <p:sp>
        <p:nvSpPr>
          <p:cNvPr id="39" name="Text 37"/>
          <p:cNvSpPr/>
          <p:nvPr/>
        </p:nvSpPr>
        <p:spPr>
          <a:xfrm>
            <a:off x="4919472" y="4434840"/>
            <a:ext cx="4023360" cy="320040"/>
          </a:xfrm>
          <a:prstGeom prst="rect">
            <a:avLst/>
          </a:prstGeom>
          <a:noFill/>
          <a:ln/>
        </p:spPr>
        <p:txBody>
          <a:bodyPr wrap="square" rtlCol="0" anchor="ctr"/>
          <a:lstStyle/>
          <a:p>
            <a:pPr marL="0" indent="0">
              <a:buNone/>
            </a:pPr>
            <a:r>
              <a:rPr lang="en-US" sz="850" dirty="0">
                <a:solidFill>
                  <a:srgbClr val="2C3E50"/>
                </a:solidFill>
                <a:latin typeface="Calibri" pitchFamily="34" charset="0"/>
                <a:ea typeface="Calibri" pitchFamily="34" charset="-122"/>
                <a:cs typeface="Calibri" pitchFamily="34" charset="-120"/>
              </a:rPr>
              <a:t>datacentermap.com. Houston Data Center Inventory. Fully Built-Out Power and Whitespace data.</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065A82"/>
        </a:solidFill>
        <a:effectLst/>
      </p:bgPr>
    </p:bg>
    <p:spTree>
      <p:nvGrpSpPr>
        <p:cNvPr id="1" name=""/>
        <p:cNvGrpSpPr/>
        <p:nvPr/>
      </p:nvGrpSpPr>
      <p:grpSpPr>
        <a:xfrm>
          <a:off x="0" y="0"/>
          <a:ext cx="0" cy="0"/>
          <a:chOff x="0" y="0"/>
          <a:chExt cx="0" cy="0"/>
        </a:xfrm>
      </p:grpSpPr>
      <p:sp>
        <p:nvSpPr>
          <p:cNvPr id="3" name="Text 1"/>
          <p:cNvSpPr/>
          <p:nvPr/>
        </p:nvSpPr>
        <p:spPr>
          <a:xfrm>
            <a:off x="457200" y="457200"/>
            <a:ext cx="8229600" cy="50292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Research Team</a:t>
            </a:r>
            <a:endParaRPr lang="en-US" sz="3000" dirty="0"/>
          </a:p>
        </p:txBody>
      </p:sp>
      <p:sp>
        <p:nvSpPr>
          <p:cNvPr id="4" name="Shape 2"/>
          <p:cNvSpPr/>
          <p:nvPr/>
        </p:nvSpPr>
        <p:spPr>
          <a:xfrm>
            <a:off x="3200400" y="1024128"/>
            <a:ext cx="2743200" cy="36576"/>
          </a:xfrm>
          <a:prstGeom prst="rect">
            <a:avLst/>
          </a:prstGeom>
          <a:solidFill>
            <a:srgbClr val="02C39A"/>
          </a:solidFill>
          <a:ln w="12700">
            <a:solidFill>
              <a:srgbClr val="02C39A"/>
            </a:solidFill>
            <a:prstDash val="solid"/>
          </a:ln>
        </p:spPr>
        <p:txBody>
          <a:bodyPr/>
          <a:lstStyle/>
          <a:p>
            <a:endParaRPr lang="en-IN"/>
          </a:p>
        </p:txBody>
      </p:sp>
      <p:sp>
        <p:nvSpPr>
          <p:cNvPr id="6" name="Text 4"/>
          <p:cNvSpPr/>
          <p:nvPr/>
        </p:nvSpPr>
        <p:spPr>
          <a:xfrm>
            <a:off x="1234440" y="1234440"/>
            <a:ext cx="1097280" cy="1097280"/>
          </a:xfrm>
          <a:prstGeom prst="rect">
            <a:avLst/>
          </a:prstGeom>
          <a:noFill/>
          <a:ln/>
        </p:spPr>
        <p:txBody>
          <a:bodyPr wrap="square" rtlCol="0" anchor="ctr"/>
          <a:lstStyle/>
          <a:p>
            <a:pPr marL="0" indent="0" algn="ctr">
              <a:buNone/>
            </a:pPr>
            <a:endParaRPr lang="en-US" sz="2800" dirty="0"/>
          </a:p>
        </p:txBody>
      </p:sp>
      <p:sp>
        <p:nvSpPr>
          <p:cNvPr id="7" name="Text 5"/>
          <p:cNvSpPr/>
          <p:nvPr/>
        </p:nvSpPr>
        <p:spPr>
          <a:xfrm>
            <a:off x="457200" y="2404872"/>
            <a:ext cx="2651760" cy="292608"/>
          </a:xfrm>
          <a:prstGeom prst="rect">
            <a:avLst/>
          </a:prstGeom>
          <a:noFill/>
          <a:ln/>
        </p:spPr>
        <p:txBody>
          <a:bodyPr wrap="square" rtlCol="0" anchor="ctr"/>
          <a:lstStyle/>
          <a:p>
            <a:pPr marL="0" indent="0" algn="ctr">
              <a:buNone/>
            </a:pPr>
            <a:endParaRPr lang="en-US" sz="1300" dirty="0"/>
          </a:p>
        </p:txBody>
      </p:sp>
      <p:sp>
        <p:nvSpPr>
          <p:cNvPr id="8" name="Text 6"/>
          <p:cNvSpPr/>
          <p:nvPr/>
        </p:nvSpPr>
        <p:spPr>
          <a:xfrm>
            <a:off x="457200" y="2697480"/>
            <a:ext cx="2651760" cy="256032"/>
          </a:xfrm>
          <a:prstGeom prst="rect">
            <a:avLst/>
          </a:prstGeom>
          <a:noFill/>
          <a:ln/>
        </p:spPr>
        <p:txBody>
          <a:bodyPr wrap="square" rtlCol="0" anchor="ctr"/>
          <a:lstStyle/>
          <a:p>
            <a:pPr marL="0" indent="0" algn="ctr">
              <a:buNone/>
            </a:pPr>
            <a:endParaRPr lang="en-US" sz="1000" dirty="0"/>
          </a:p>
        </p:txBody>
      </p:sp>
      <p:sp>
        <p:nvSpPr>
          <p:cNvPr id="10" name="Text 8"/>
          <p:cNvSpPr/>
          <p:nvPr/>
        </p:nvSpPr>
        <p:spPr>
          <a:xfrm>
            <a:off x="4041648" y="1234440"/>
            <a:ext cx="1097280" cy="1097280"/>
          </a:xfrm>
          <a:prstGeom prst="rect">
            <a:avLst/>
          </a:prstGeom>
          <a:noFill/>
          <a:ln/>
        </p:spPr>
        <p:txBody>
          <a:bodyPr wrap="square" rtlCol="0" anchor="ctr"/>
          <a:lstStyle/>
          <a:p>
            <a:pPr marL="0" indent="0" algn="ctr">
              <a:buNone/>
            </a:pPr>
            <a:endParaRPr lang="en-US" sz="2800" dirty="0"/>
          </a:p>
        </p:txBody>
      </p:sp>
      <p:sp>
        <p:nvSpPr>
          <p:cNvPr id="14" name="Text 12"/>
          <p:cNvSpPr/>
          <p:nvPr/>
        </p:nvSpPr>
        <p:spPr>
          <a:xfrm>
            <a:off x="6848856" y="1234440"/>
            <a:ext cx="1097280" cy="1097280"/>
          </a:xfrm>
          <a:prstGeom prst="rect">
            <a:avLst/>
          </a:prstGeom>
          <a:noFill/>
          <a:ln/>
        </p:spPr>
        <p:txBody>
          <a:bodyPr wrap="square" rtlCol="0" anchor="ctr"/>
          <a:lstStyle/>
          <a:p>
            <a:pPr marL="0" indent="0" algn="ctr">
              <a:buNone/>
            </a:pPr>
            <a:endParaRPr lang="en-US" sz="2800" dirty="0"/>
          </a:p>
        </p:txBody>
      </p:sp>
      <p:sp>
        <p:nvSpPr>
          <p:cNvPr id="15" name="Text 13"/>
          <p:cNvSpPr/>
          <p:nvPr/>
        </p:nvSpPr>
        <p:spPr>
          <a:xfrm>
            <a:off x="6071616" y="2404872"/>
            <a:ext cx="2651760" cy="292608"/>
          </a:xfrm>
          <a:prstGeom prst="rect">
            <a:avLst/>
          </a:prstGeom>
          <a:noFill/>
          <a:ln/>
        </p:spPr>
        <p:txBody>
          <a:bodyPr wrap="square" rtlCol="0" anchor="ctr"/>
          <a:lstStyle/>
          <a:p>
            <a:pPr marL="0" indent="0" algn="ctr">
              <a:buNone/>
            </a:pPr>
            <a:endParaRPr lang="en-US" sz="1300" dirty="0"/>
          </a:p>
        </p:txBody>
      </p:sp>
      <p:sp>
        <p:nvSpPr>
          <p:cNvPr id="16" name="Text 14"/>
          <p:cNvSpPr/>
          <p:nvPr/>
        </p:nvSpPr>
        <p:spPr>
          <a:xfrm>
            <a:off x="6071616" y="2697480"/>
            <a:ext cx="2651760" cy="256032"/>
          </a:xfrm>
          <a:prstGeom prst="rect">
            <a:avLst/>
          </a:prstGeom>
          <a:noFill/>
          <a:ln/>
        </p:spPr>
        <p:txBody>
          <a:bodyPr wrap="square" rtlCol="0" anchor="ctr"/>
          <a:lstStyle/>
          <a:p>
            <a:pPr marL="0" indent="0" algn="ctr">
              <a:buNone/>
            </a:pPr>
            <a:endParaRPr lang="en-US" sz="1000" dirty="0"/>
          </a:p>
        </p:txBody>
      </p:sp>
      <p:sp>
        <p:nvSpPr>
          <p:cNvPr id="19" name="Text 17"/>
          <p:cNvSpPr/>
          <p:nvPr/>
        </p:nvSpPr>
        <p:spPr>
          <a:xfrm>
            <a:off x="1554480" y="4096512"/>
            <a:ext cx="2651760" cy="292608"/>
          </a:xfrm>
          <a:prstGeom prst="rect">
            <a:avLst/>
          </a:prstGeom>
          <a:noFill/>
          <a:ln/>
        </p:spPr>
        <p:txBody>
          <a:bodyPr wrap="square" rtlCol="0" anchor="ctr"/>
          <a:lstStyle/>
          <a:p>
            <a:pPr marL="0" indent="0" algn="ctr">
              <a:buNone/>
            </a:pPr>
            <a:endParaRPr lang="en-US" sz="1300" dirty="0"/>
          </a:p>
        </p:txBody>
      </p:sp>
      <p:sp>
        <p:nvSpPr>
          <p:cNvPr id="23" name="Text 21"/>
          <p:cNvSpPr/>
          <p:nvPr/>
        </p:nvSpPr>
        <p:spPr>
          <a:xfrm>
            <a:off x="4361688" y="4096512"/>
            <a:ext cx="2651760" cy="292608"/>
          </a:xfrm>
          <a:prstGeom prst="rect">
            <a:avLst/>
          </a:prstGeom>
          <a:noFill/>
          <a:ln/>
        </p:spPr>
        <p:txBody>
          <a:bodyPr wrap="square" rtlCol="0" anchor="ctr"/>
          <a:lstStyle/>
          <a:p>
            <a:pPr marL="0" indent="0" algn="ctr">
              <a:buNone/>
            </a:pPr>
            <a:endParaRPr lang="en-US" sz="1300" dirty="0"/>
          </a:p>
        </p:txBody>
      </p:sp>
      <p:sp>
        <p:nvSpPr>
          <p:cNvPr id="24" name="Text 22"/>
          <p:cNvSpPr/>
          <p:nvPr/>
        </p:nvSpPr>
        <p:spPr>
          <a:xfrm>
            <a:off x="2988979" y="4096512"/>
            <a:ext cx="3202617" cy="702437"/>
          </a:xfrm>
          <a:prstGeom prst="rect">
            <a:avLst/>
          </a:prstGeom>
          <a:noFill/>
          <a:ln/>
        </p:spPr>
        <p:txBody>
          <a:bodyPr wrap="square" rtlCol="0" anchor="ctr"/>
          <a:lstStyle/>
          <a:p>
            <a:pPr marL="0" indent="0" algn="ctr">
              <a:buNone/>
            </a:pPr>
            <a:r>
              <a:rPr lang="en-US" dirty="0">
                <a:solidFill>
                  <a:schemeClr val="bg1"/>
                </a:solidFill>
              </a:rPr>
              <a:t>Mentor</a:t>
            </a:r>
          </a:p>
          <a:p>
            <a:pPr marL="0" indent="0" algn="ctr">
              <a:buNone/>
            </a:pPr>
            <a:r>
              <a:rPr lang="en-US" dirty="0">
                <a:solidFill>
                  <a:schemeClr val="bg1"/>
                </a:solidFill>
              </a:rPr>
              <a:t>DR. </a:t>
            </a:r>
            <a:r>
              <a:rPr lang="en-US" dirty="0" err="1">
                <a:solidFill>
                  <a:schemeClr val="bg1"/>
                </a:solidFill>
              </a:rPr>
              <a:t>Mehrubeoglu</a:t>
            </a:r>
            <a:r>
              <a:rPr lang="en-US" dirty="0">
                <a:solidFill>
                  <a:schemeClr val="bg1"/>
                </a:solidFill>
              </a:rPr>
              <a:t>, Ruby</a:t>
            </a:r>
          </a:p>
        </p:txBody>
      </p:sp>
      <p:sp>
        <p:nvSpPr>
          <p:cNvPr id="25" name="Text 23"/>
          <p:cNvSpPr/>
          <p:nvPr/>
        </p:nvSpPr>
        <p:spPr>
          <a:xfrm>
            <a:off x="457200" y="4754880"/>
            <a:ext cx="8229600" cy="256032"/>
          </a:xfrm>
          <a:prstGeom prst="rect">
            <a:avLst/>
          </a:prstGeom>
          <a:noFill/>
          <a:ln/>
        </p:spPr>
        <p:txBody>
          <a:bodyPr wrap="square" rtlCol="0" anchor="ctr"/>
          <a:lstStyle/>
          <a:p>
            <a:pPr marL="0" indent="0" algn="ctr">
              <a:buNone/>
            </a:pPr>
            <a:endParaRPr lang="en-US" sz="1000" dirty="0"/>
          </a:p>
        </p:txBody>
      </p:sp>
      <p:pic>
        <p:nvPicPr>
          <p:cNvPr id="32" name="Picture 31">
            <a:extLst>
              <a:ext uri="{FF2B5EF4-FFF2-40B4-BE49-F238E27FC236}">
                <a16:creationId xmlns:a16="http://schemas.microsoft.com/office/drawing/2014/main" id="{8310D073-2A8D-1398-6240-A4CD6D9A9AF9}"/>
              </a:ext>
            </a:extLst>
          </p:cNvPr>
          <p:cNvPicPr>
            <a:picLocks noChangeAspect="1"/>
          </p:cNvPicPr>
          <p:nvPr/>
        </p:nvPicPr>
        <p:blipFill>
          <a:blip r:embed="rId3"/>
          <a:stretch>
            <a:fillRect/>
          </a:stretch>
        </p:blipFill>
        <p:spPr>
          <a:xfrm>
            <a:off x="1596193" y="1290100"/>
            <a:ext cx="1647007" cy="1827207"/>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37" name="Picture 36">
            <a:extLst>
              <a:ext uri="{FF2B5EF4-FFF2-40B4-BE49-F238E27FC236}">
                <a16:creationId xmlns:a16="http://schemas.microsoft.com/office/drawing/2014/main" id="{1F107297-C4F2-40B0-9F1B-59A12383059D}"/>
              </a:ext>
            </a:extLst>
          </p:cNvPr>
          <p:cNvPicPr>
            <a:picLocks noChangeAspect="1"/>
          </p:cNvPicPr>
          <p:nvPr/>
        </p:nvPicPr>
        <p:blipFill>
          <a:blip r:embed="rId4"/>
          <a:stretch>
            <a:fillRect/>
          </a:stretch>
        </p:blipFill>
        <p:spPr>
          <a:xfrm>
            <a:off x="5845863" y="1234717"/>
            <a:ext cx="1778144" cy="182500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38" name="TextBox 37">
            <a:extLst>
              <a:ext uri="{FF2B5EF4-FFF2-40B4-BE49-F238E27FC236}">
                <a16:creationId xmlns:a16="http://schemas.microsoft.com/office/drawing/2014/main" id="{EA00C0F1-0A35-101F-15B6-71BE2BABAE74}"/>
              </a:ext>
            </a:extLst>
          </p:cNvPr>
          <p:cNvSpPr txBox="1"/>
          <p:nvPr/>
        </p:nvSpPr>
        <p:spPr>
          <a:xfrm>
            <a:off x="1245311" y="3227035"/>
            <a:ext cx="2471254" cy="646331"/>
          </a:xfrm>
          <a:prstGeom prst="rect">
            <a:avLst/>
          </a:prstGeom>
          <a:noFill/>
        </p:spPr>
        <p:txBody>
          <a:bodyPr wrap="none" rtlCol="0">
            <a:spAutoFit/>
          </a:bodyPr>
          <a:lstStyle/>
          <a:p>
            <a:pPr algn="ctr"/>
            <a:r>
              <a:rPr lang="en-US" dirty="0">
                <a:solidFill>
                  <a:schemeClr val="bg1"/>
                </a:solidFill>
              </a:rPr>
              <a:t>Rohan Mulukuntla</a:t>
            </a:r>
          </a:p>
          <a:p>
            <a:pPr algn="ctr"/>
            <a:r>
              <a:rPr lang="en-IN" dirty="0">
                <a:solidFill>
                  <a:schemeClr val="bg1"/>
                </a:solidFill>
              </a:rPr>
              <a:t>MS in Computer Science</a:t>
            </a:r>
            <a:endParaRPr lang="en-US" dirty="0">
              <a:solidFill>
                <a:schemeClr val="bg1"/>
              </a:solidFill>
            </a:endParaRPr>
          </a:p>
        </p:txBody>
      </p:sp>
      <p:sp>
        <p:nvSpPr>
          <p:cNvPr id="39" name="TextBox 38">
            <a:extLst>
              <a:ext uri="{FF2B5EF4-FFF2-40B4-BE49-F238E27FC236}">
                <a16:creationId xmlns:a16="http://schemas.microsoft.com/office/drawing/2014/main" id="{84E02446-AB83-1971-EA01-21D26F251662}"/>
              </a:ext>
            </a:extLst>
          </p:cNvPr>
          <p:cNvSpPr txBox="1"/>
          <p:nvPr/>
        </p:nvSpPr>
        <p:spPr>
          <a:xfrm>
            <a:off x="5542695" y="3103547"/>
            <a:ext cx="2723438" cy="923330"/>
          </a:xfrm>
          <a:prstGeom prst="rect">
            <a:avLst/>
          </a:prstGeom>
          <a:noFill/>
        </p:spPr>
        <p:txBody>
          <a:bodyPr wrap="none" rtlCol="0">
            <a:spAutoFit/>
          </a:bodyPr>
          <a:lstStyle/>
          <a:p>
            <a:pPr algn="ctr"/>
            <a:r>
              <a:rPr lang="en-US" dirty="0">
                <a:solidFill>
                  <a:schemeClr val="bg1"/>
                </a:solidFill>
              </a:rPr>
              <a:t>Ankith </a:t>
            </a:r>
            <a:r>
              <a:rPr lang="en-US" dirty="0" err="1">
                <a:solidFill>
                  <a:schemeClr val="bg1"/>
                </a:solidFill>
              </a:rPr>
              <a:t>Hanumagowda</a:t>
            </a:r>
            <a:r>
              <a:rPr lang="en-US" dirty="0">
                <a:solidFill>
                  <a:schemeClr val="bg1"/>
                </a:solidFill>
              </a:rPr>
              <a:t> Patil</a:t>
            </a:r>
          </a:p>
          <a:p>
            <a:pPr algn="ctr"/>
            <a:r>
              <a:rPr lang="en-IN" dirty="0">
                <a:solidFill>
                  <a:schemeClr val="bg1"/>
                </a:solidFill>
              </a:rPr>
              <a:t>MS in Computer Science</a:t>
            </a:r>
            <a:endParaRPr lang="en-US" dirty="0">
              <a:solidFill>
                <a:schemeClr val="bg1"/>
              </a:solidFill>
            </a:endParaRPr>
          </a:p>
          <a:p>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065A82"/>
        </a:solidFill>
        <a:effectLst/>
      </p:bgPr>
    </p:bg>
    <p:spTree>
      <p:nvGrpSpPr>
        <p:cNvPr id="1" name=""/>
        <p:cNvGrpSpPr/>
        <p:nvPr/>
      </p:nvGrpSpPr>
      <p:grpSpPr>
        <a:xfrm>
          <a:off x="0" y="0"/>
          <a:ext cx="0" cy="0"/>
          <a:chOff x="0" y="0"/>
          <a:chExt cx="0" cy="0"/>
        </a:xfrm>
      </p:grpSpPr>
      <p:sp>
        <p:nvSpPr>
          <p:cNvPr id="2" name="Shape 0"/>
          <p:cNvSpPr/>
          <p:nvPr/>
        </p:nvSpPr>
        <p:spPr>
          <a:xfrm>
            <a:off x="5943600" y="1371600"/>
            <a:ext cx="4572000" cy="4572000"/>
          </a:xfrm>
          <a:prstGeom prst="ellipse">
            <a:avLst/>
          </a:prstGeom>
          <a:solidFill>
            <a:srgbClr val="028090">
              <a:alpha val="25000"/>
            </a:srgbClr>
          </a:solidFill>
          <a:ln w="12700">
            <a:solidFill>
              <a:srgbClr val="028090">
                <a:alpha val="25000"/>
              </a:srgbClr>
            </a:solidFill>
            <a:prstDash val="solid"/>
          </a:ln>
        </p:spPr>
        <p:txBody>
          <a:bodyPr/>
          <a:lstStyle/>
          <a:p>
            <a:endParaRPr lang="en-IN"/>
          </a:p>
        </p:txBody>
      </p:sp>
      <p:sp>
        <p:nvSpPr>
          <p:cNvPr id="3" name="Shape 1"/>
          <p:cNvSpPr/>
          <p:nvPr/>
        </p:nvSpPr>
        <p:spPr>
          <a:xfrm>
            <a:off x="-914400" y="-457200"/>
            <a:ext cx="3657600" cy="3657600"/>
          </a:xfrm>
          <a:prstGeom prst="ellipse">
            <a:avLst/>
          </a:prstGeom>
          <a:solidFill>
            <a:srgbClr val="1C7293">
              <a:alpha val="20000"/>
            </a:srgbClr>
          </a:solidFill>
          <a:ln w="12700">
            <a:solidFill>
              <a:srgbClr val="1C7293">
                <a:alpha val="20000"/>
              </a:srgbClr>
            </a:solidFill>
            <a:prstDash val="solid"/>
          </a:ln>
        </p:spPr>
        <p:txBody>
          <a:bodyPr/>
          <a:lstStyle/>
          <a:p>
            <a:endParaRPr lang="en-IN"/>
          </a:p>
        </p:txBody>
      </p:sp>
      <p:sp>
        <p:nvSpPr>
          <p:cNvPr id="4" name="Text 2"/>
          <p:cNvSpPr/>
          <p:nvPr/>
        </p:nvSpPr>
        <p:spPr>
          <a:xfrm>
            <a:off x="457200" y="731520"/>
            <a:ext cx="6400800" cy="914400"/>
          </a:xfrm>
          <a:prstGeom prst="rect">
            <a:avLst/>
          </a:prstGeom>
          <a:noFill/>
          <a:ln/>
        </p:spPr>
        <p:txBody>
          <a:bodyPr wrap="square"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5" name="Shape 3"/>
          <p:cNvSpPr/>
          <p:nvPr/>
        </p:nvSpPr>
        <p:spPr>
          <a:xfrm>
            <a:off x="457200" y="1737360"/>
            <a:ext cx="3200400" cy="36576"/>
          </a:xfrm>
          <a:prstGeom prst="rect">
            <a:avLst/>
          </a:prstGeom>
          <a:solidFill>
            <a:srgbClr val="02C39A"/>
          </a:solidFill>
          <a:ln w="12700">
            <a:solidFill>
              <a:srgbClr val="02C39A"/>
            </a:solidFill>
            <a:prstDash val="solid"/>
          </a:ln>
        </p:spPr>
        <p:txBody>
          <a:bodyPr/>
          <a:lstStyle/>
          <a:p>
            <a:endParaRPr lang="en-IN"/>
          </a:p>
        </p:txBody>
      </p:sp>
      <p:sp>
        <p:nvSpPr>
          <p:cNvPr id="6" name="Text 4"/>
          <p:cNvSpPr/>
          <p:nvPr/>
        </p:nvSpPr>
        <p:spPr>
          <a:xfrm>
            <a:off x="457200" y="1874520"/>
            <a:ext cx="6400800" cy="502920"/>
          </a:xfrm>
          <a:prstGeom prst="rect">
            <a:avLst/>
          </a:prstGeom>
          <a:noFill/>
          <a:ln/>
        </p:spPr>
        <p:txBody>
          <a:bodyPr wrap="square" rtlCol="0" anchor="ctr"/>
          <a:lstStyle/>
          <a:p>
            <a:pPr marL="0" indent="0">
              <a:buNone/>
            </a:pPr>
            <a:r>
              <a:rPr lang="en-US" sz="2200" dirty="0">
                <a:solidFill>
                  <a:srgbClr val="A8D8EA"/>
                </a:solidFill>
                <a:latin typeface="Calibri" pitchFamily="34" charset="0"/>
                <a:ea typeface="Calibri" pitchFamily="34" charset="-122"/>
                <a:cs typeface="Calibri" pitchFamily="34" charset="-120"/>
              </a:rPr>
              <a:t>Questions &amp; Discussion</a:t>
            </a:r>
            <a:endParaRPr lang="en-US" sz="2200" dirty="0"/>
          </a:p>
        </p:txBody>
      </p:sp>
      <p:sp>
        <p:nvSpPr>
          <p:cNvPr id="7" name="Text 5"/>
          <p:cNvSpPr/>
          <p:nvPr/>
        </p:nvSpPr>
        <p:spPr>
          <a:xfrm>
            <a:off x="457200" y="2542032"/>
            <a:ext cx="5303520" cy="1645920"/>
          </a:xfrm>
          <a:prstGeom prst="rect">
            <a:avLst/>
          </a:prstGeom>
          <a:noFill/>
          <a:ln/>
        </p:spPr>
        <p:txBody>
          <a:bodyPr wrap="square" rtlCol="0" anchor="ctr"/>
          <a:lstStyle/>
          <a:p>
            <a:pPr marL="0" indent="0">
              <a:buNone/>
            </a:pPr>
            <a:endParaRPr lang="en-US" sz="1300" dirty="0"/>
          </a:p>
        </p:txBody>
      </p:sp>
      <p:sp>
        <p:nvSpPr>
          <p:cNvPr id="9" name="Text 7"/>
          <p:cNvSpPr/>
          <p:nvPr/>
        </p:nvSpPr>
        <p:spPr>
          <a:xfrm>
            <a:off x="548640" y="4334256"/>
            <a:ext cx="5120640" cy="594360"/>
          </a:xfrm>
          <a:prstGeom prst="rect">
            <a:avLst/>
          </a:prstGeom>
          <a:noFill/>
          <a:ln/>
        </p:spPr>
        <p:txBody>
          <a:bodyPr wrap="square" rtlCol="0" anchor="ctr"/>
          <a:lstStyle/>
          <a:p>
            <a:pPr marL="0" indent="0" algn="l">
              <a:buNone/>
            </a:pPr>
            <a:endParaRPr lang="en-US" sz="1100" dirty="0"/>
          </a:p>
        </p:txBody>
      </p:sp>
      <p:sp>
        <p:nvSpPr>
          <p:cNvPr id="11" name="Text 9"/>
          <p:cNvSpPr/>
          <p:nvPr/>
        </p:nvSpPr>
        <p:spPr>
          <a:xfrm>
            <a:off x="457200" y="4736592"/>
            <a:ext cx="8229600" cy="406908"/>
          </a:xfrm>
          <a:prstGeom prst="rect">
            <a:avLst/>
          </a:prstGeom>
          <a:noFill/>
          <a:ln/>
        </p:spPr>
        <p:txBody>
          <a:bodyPr wrap="square" rtlCol="0" anchor="ctr"/>
          <a:lstStyle/>
          <a:p>
            <a:pPr marL="0" indent="0" algn="ctr">
              <a:buNone/>
            </a:pP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C877D24F6D7945AB005515201155AE" ma:contentTypeVersion="11" ma:contentTypeDescription="Create a new document." ma:contentTypeScope="" ma:versionID="2792213d17f559520cf2aabe4bf07956">
  <xsd:schema xmlns:xsd="http://www.w3.org/2001/XMLSchema" xmlns:xs="http://www.w3.org/2001/XMLSchema" xmlns:p="http://schemas.microsoft.com/office/2006/metadata/properties" xmlns:ns3="777f777d-6bc4-4ae0-a8e0-890991bec5a8" targetNamespace="http://schemas.microsoft.com/office/2006/metadata/properties" ma:root="true" ma:fieldsID="d30abc1953bab0db2c54b2b7e0f5203c" ns3:_="">
    <xsd:import namespace="777f777d-6bc4-4ae0-a8e0-890991bec5a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7f777d-6bc4-4ae0-a8e0-890991bec5a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777f777d-6bc4-4ae0-a8e0-890991bec5a8" xsi:nil="true"/>
  </documentManagement>
</p:properties>
</file>

<file path=customXml/itemProps1.xml><?xml version="1.0" encoding="utf-8"?>
<ds:datastoreItem xmlns:ds="http://schemas.openxmlformats.org/officeDocument/2006/customXml" ds:itemID="{DFDE6CC2-C7C2-4C66-B0FE-3C85A57975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7f777d-6bc4-4ae0-a8e0-890991bec5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40CB7AE-37EE-42CE-B00C-FABC9E512E63}">
  <ds:schemaRefs>
    <ds:schemaRef ds:uri="http://schemas.microsoft.com/sharepoint/v3/contenttype/forms"/>
  </ds:schemaRefs>
</ds:datastoreItem>
</file>

<file path=customXml/itemProps3.xml><?xml version="1.0" encoding="utf-8"?>
<ds:datastoreItem xmlns:ds="http://schemas.openxmlformats.org/officeDocument/2006/customXml" ds:itemID="{943ADBE0-4759-42C9-8643-BC2CFCD97F8F}">
  <ds:schemaRefs>
    <ds:schemaRef ds:uri="777f777d-6bc4-4ae0-a8e0-890991bec5a8"/>
    <ds:schemaRef ds:uri="http://purl.org/dc/terms/"/>
    <ds:schemaRef ds:uri="http://schemas.microsoft.com/office/2006/documentManagement/types"/>
    <ds:schemaRef ds:uri="http://purl.org/dc/elements/1.1/"/>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139</TotalTime>
  <Words>3775</Words>
  <Application>Microsoft Office PowerPoint</Application>
  <PresentationFormat>On-screen Show (16:9)</PresentationFormat>
  <Paragraphs>383</Paragraphs>
  <Slides>25</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Houston Data Center Circular Water Economy</dc:title>
  <dc:subject>PptxGenJS Presentation</dc:subject>
  <dc:creator>PptxGenJS</dc:creator>
  <cp:lastModifiedBy>Mulukuntla, Rohan</cp:lastModifiedBy>
  <cp:revision>4</cp:revision>
  <dcterms:created xsi:type="dcterms:W3CDTF">2026-04-20T01:37:47Z</dcterms:created>
  <dcterms:modified xsi:type="dcterms:W3CDTF">2026-04-20T04:01:53Z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0x01010009C877D24F6D7945AB005515201155AE</vt:lpwstr>
  </property>
</Properties>
</file>